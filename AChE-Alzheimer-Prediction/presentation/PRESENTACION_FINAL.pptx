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6858000" cx="12192000"/>
  <p:notesSz cx="6858000" cy="12192000"/>
  <p:embeddedFontLst>
    <p:embeddedFont>
      <p:font typeface="Noto Sans SC"/>
      <p:regular r:id="rId33"/>
      <p:bold r:id="rId34"/>
    </p:embeddedFont>
    <p:embeddedFont>
      <p:font typeface="Noto Sans JP"/>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ju4mX3lNcxvwRvqPVY9bNy8aZq8Q=="/>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Marwa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DD9D347-5531-4D46-939A-9E5DDEB418C4}">
  <a:tblStyle styleId="{FDD9D347-5531-4D46-939A-9E5DDEB418C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NotoSansSC-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NotoSansJP-regular.fntdata"/><Relationship Id="rId12" Type="http://schemas.openxmlformats.org/officeDocument/2006/relationships/slide" Target="slides/slide6.xml"/><Relationship Id="rId34" Type="http://schemas.openxmlformats.org/officeDocument/2006/relationships/font" Target="fonts/NotoSansSC-bold.fntdata"/><Relationship Id="rId15" Type="http://schemas.openxmlformats.org/officeDocument/2006/relationships/slide" Target="slides/slide9.xml"/><Relationship Id="rId37" Type="http://customschemas.google.com/relationships/presentationmetadata" Target="metadata"/><Relationship Id="rId14" Type="http://schemas.openxmlformats.org/officeDocument/2006/relationships/slide" Target="slides/slide8.xml"/><Relationship Id="rId36" Type="http://schemas.openxmlformats.org/officeDocument/2006/relationships/font" Target="fonts/NotoSansJP-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2-13T10:56:20.120">
    <p:pos x="6000" y="0"/>
    <p:text>Aquí hay que explicar que gran parte de lo eliminado eran filas sin datos, y que solo eliminamos unos pocos datos que estaban en otras unidades</p:text>
    <p:extLst>
      <p:ext uri="{C676402C-5697-4E1C-873F-D02D1690AC5C}">
        <p15:threadingInfo timeZoneBias="0"/>
      </p:ext>
      <p:ext uri="http://customooxmlschemas.google.com/">
        <go:slidesCustomData xmlns:go="http://customooxmlschemas.google.com/" commentPostId="AAABxga4xlA"/>
      </p:ext>
    </p:extLst>
  </p:cm>
  <p:cm authorId="0" idx="2" dt="2025-12-13T10:56:09.519">
    <p:pos x="6000" y="0"/>
    <p:text>To ensure maximum model reliability, we strictly retained only data in nanomolar (nM) units. Our analysis of the excluded data revealed that over 1,200 entries lacked unit specifications (technical noise), and only 71 had convertible units.
Since these convertible entries represented less than 1% of the total, we decided to remove them. This ensured a fully homogeneous dataset and avoided potential errors from manual conversion</p:text>
    <p:extLst>
      <p:ext uri="{C676402C-5697-4E1C-873F-D02D1690AC5C}">
        <p15:threadingInfo timeZoneBias="0">
          <p15:parentCm authorId="0" idx="1"/>
        </p15:threadingInfo>
      </p:ext>
      <p:ext uri="http://customooxmlschemas.google.com/">
        <go:slidesCustomData xmlns:go="http://customooxmlschemas.google.com/" commentPostId="AAABxga4xlE"/>
      </p:ext>
    </p:extLst>
  </p:cm>
  <p:cm authorId="0" idx="3" dt="2025-12-13T10:56:20.120">
    <p:pos x="6000" y="0"/>
    <p:text>en ese texto estan los numeros</p:text>
    <p:extLst>
      <p:ext uri="{C676402C-5697-4E1C-873F-D02D1690AC5C}">
        <p15:threadingInfo timeZoneBias="0">
          <p15:parentCm authorId="0" idx="1"/>
        </p15:threadingInfo>
      </p:ext>
      <p:ext uri="http://customooxmlschemas.google.com/">
        <go:slidesCustomData xmlns:go="http://customooxmlschemas.google.com/" commentPostId="AAABxga4xlI"/>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 name="Google Shape;1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b062dcf409_1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g3b062dcf409_1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g3b062dcf409_1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b073b97ef7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g3b073b97ef7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g3b073b97ef7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b017e6a17f_1_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g3b017e6a17f_1_1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g3b017e6a17f_1_1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b017e6a17f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3b017e6a17f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3b017e6a17f_0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b073b97ef7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g3b073b97ef7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g3b073b97ef7_0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b017e6a17f_1_10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 name="Google Shape;256;g3b017e6a17f_1_10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57" name="Google Shape;257;g3b017e6a17f_1_10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b017e6a17f_1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g3b017e6a17f_1_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g3b017e6a17f_1_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b017e6a17f_1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g3b017e6a17f_1_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g3b017e6a17f_1_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b07f1a5d3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g3b07f1a5d3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g3b07f1a5d3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b07f1a5d36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g3b07f1a5d36_0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g3b07f1a5d36_0_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4" name="Google Shape;47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7" name="Google Shape;587;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p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5" name="Google Shape;60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b04a6e45c8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g3b04a6e45c8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0" name="Google Shape;640;g3b04a6e45c8_0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3" name="Google Shape;66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4" name="Google Shape;66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PTIST_MASTER">
  <p:cSld name="PPTIST_MASTER">
    <p:bg>
      <p:bgPr>
        <a:solidFill>
          <a:srgbClr val="FFFFFF"/>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omments" Target="../comments/comment1.xml"/><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jpg"/><Relationship Id="rId4"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jpg"/><Relationship Id="rId4" Type="http://schemas.openxmlformats.org/officeDocument/2006/relationships/image" Target="../media/image11.png"/><Relationship Id="rId5"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jp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 name="Shape 16"/>
        <p:cNvGrpSpPr/>
        <p:nvPr/>
      </p:nvGrpSpPr>
      <p:grpSpPr>
        <a:xfrm>
          <a:off x="0" y="0"/>
          <a:ext cx="0" cy="0"/>
          <a:chOff x="0" y="0"/>
          <a:chExt cx="0" cy="0"/>
        </a:xfrm>
      </p:grpSpPr>
      <p:sp>
        <p:nvSpPr>
          <p:cNvPr id="17" name="Google Shape;17;p1"/>
          <p:cNvSpPr/>
          <p:nvPr/>
        </p:nvSpPr>
        <p:spPr>
          <a:xfrm rot="5940000">
            <a:off x="367665" y="335915"/>
            <a:ext cx="558800" cy="594995"/>
          </a:xfrm>
          <a:prstGeom prst="donut">
            <a:avLst>
              <a:gd fmla="val 25000" name="adj"/>
            </a:avLst>
          </a:prstGeom>
          <a:gradFill>
            <a:gsLst>
              <a:gs pos="0">
                <a:srgbClr val="402E7F"/>
              </a:gs>
              <a:gs pos="54000">
                <a:srgbClr val="BC7DB7">
                  <a:alpha val="2745"/>
                </a:srgbClr>
              </a:gs>
              <a:gs pos="100000">
                <a:srgbClr val="BC7DB7">
                  <a:alpha val="2745"/>
                </a:srgbClr>
              </a:gs>
            </a:gsLst>
            <a:lin ang="189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rot="5940000">
            <a:off x="367665" y="335915"/>
            <a:ext cx="558800" cy="594995"/>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19" name="Google Shape;19;p1"/>
          <p:cNvSpPr/>
          <p:nvPr/>
        </p:nvSpPr>
        <p:spPr>
          <a:xfrm>
            <a:off x="4445" y="0"/>
            <a:ext cx="12187555" cy="6875780"/>
          </a:xfrm>
          <a:prstGeom prst="rect">
            <a:avLst/>
          </a:prstGeom>
          <a:gradFill>
            <a:gsLst>
              <a:gs pos="0">
                <a:srgbClr val="D7B1D4"/>
              </a:gs>
              <a:gs pos="34000">
                <a:srgbClr val="BC7DB7"/>
              </a:gs>
              <a:gs pos="100000">
                <a:srgbClr val="30225F"/>
              </a:gs>
            </a:gsLst>
            <a:lin ang="135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4445" y="0"/>
            <a:ext cx="12187555" cy="68757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21" name="Google Shape;21;p1"/>
          <p:cNvSpPr/>
          <p:nvPr/>
        </p:nvSpPr>
        <p:spPr>
          <a:xfrm>
            <a:off x="859803" y="1950075"/>
            <a:ext cx="8948100" cy="21159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4000">
                <a:solidFill>
                  <a:schemeClr val="lt1"/>
                </a:solidFill>
                <a:latin typeface="Noto Sans JP"/>
                <a:ea typeface="Noto Sans JP"/>
                <a:cs typeface="Noto Sans JP"/>
                <a:sym typeface="Noto Sans JP"/>
              </a:rPr>
              <a:t>Predicting Acetylcholinesterase Inhibitors for Alzheimer's Disease from Chemical Structure</a:t>
            </a:r>
            <a:endParaRPr b="1" i="0" sz="4000" u="none" cap="none" strike="noStrike">
              <a:solidFill>
                <a:schemeClr val="lt1"/>
              </a:solidFill>
              <a:latin typeface="Noto Sans JP"/>
              <a:ea typeface="Noto Sans JP"/>
              <a:cs typeface="Noto Sans JP"/>
              <a:sym typeface="Noto Sans JP"/>
            </a:endParaRPr>
          </a:p>
        </p:txBody>
      </p:sp>
      <p:sp>
        <p:nvSpPr>
          <p:cNvPr id="22" name="Google Shape;22;p1"/>
          <p:cNvSpPr/>
          <p:nvPr/>
        </p:nvSpPr>
        <p:spPr>
          <a:xfrm>
            <a:off x="941100" y="4754250"/>
            <a:ext cx="8373000" cy="5181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959474" y="4754250"/>
            <a:ext cx="8295300" cy="518100"/>
          </a:xfrm>
          <a:prstGeom prst="rect">
            <a:avLst/>
          </a:prstGeom>
          <a:noFill/>
          <a:ln>
            <a:noFill/>
          </a:ln>
        </p:spPr>
        <p:txBody>
          <a:bodyPr anchorCtr="0" anchor="ctr" bIns="45700" lIns="45700" spcFirstLastPara="1" rIns="91425" wrap="square" tIns="91425">
            <a:noAutofit/>
          </a:bodyPr>
          <a:lstStyle/>
          <a:p>
            <a:pPr indent="0" lvl="0" marL="0" marR="0" rtl="0" algn="ctr">
              <a:lnSpc>
                <a:spcPct val="100000"/>
              </a:lnSpc>
              <a:spcBef>
                <a:spcPts val="0"/>
              </a:spcBef>
              <a:spcAft>
                <a:spcPts val="0"/>
              </a:spcAft>
              <a:buNone/>
            </a:pPr>
            <a:r>
              <a:rPr lang="en-US" sz="1900"/>
              <a:t>Dora Díaz, Marwan El Saabi, Juan Jiménez, Nerea Portabales</a:t>
            </a:r>
            <a:endParaRPr b="0" i="0" sz="1900" u="none" cap="none" strike="noStrike"/>
          </a:p>
        </p:txBody>
      </p:sp>
      <p:sp>
        <p:nvSpPr>
          <p:cNvPr id="24" name="Google Shape;24;p1"/>
          <p:cNvSpPr/>
          <p:nvPr/>
        </p:nvSpPr>
        <p:spPr>
          <a:xfrm>
            <a:off x="85280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85280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26" name="Google Shape;26;p1"/>
          <p:cNvSpPr/>
          <p:nvPr/>
        </p:nvSpPr>
        <p:spPr>
          <a:xfrm>
            <a:off x="113665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p:nvPr/>
        </p:nvSpPr>
        <p:spPr>
          <a:xfrm>
            <a:off x="113665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28" name="Google Shape;28;p1"/>
          <p:cNvSpPr/>
          <p:nvPr/>
        </p:nvSpPr>
        <p:spPr>
          <a:xfrm>
            <a:off x="142049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p:nvPr/>
        </p:nvSpPr>
        <p:spPr>
          <a:xfrm>
            <a:off x="142049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30" name="Google Shape;30;p1"/>
          <p:cNvSpPr/>
          <p:nvPr/>
        </p:nvSpPr>
        <p:spPr>
          <a:xfrm>
            <a:off x="170434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p:nvPr/>
        </p:nvSpPr>
        <p:spPr>
          <a:xfrm>
            <a:off x="170434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32" name="Google Shape;32;p1"/>
          <p:cNvSpPr/>
          <p:nvPr/>
        </p:nvSpPr>
        <p:spPr>
          <a:xfrm>
            <a:off x="198818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p:nvPr/>
        </p:nvSpPr>
        <p:spPr>
          <a:xfrm>
            <a:off x="198818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34" name="Google Shape;34;p1"/>
          <p:cNvSpPr/>
          <p:nvPr/>
        </p:nvSpPr>
        <p:spPr>
          <a:xfrm>
            <a:off x="227203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1"/>
          <p:cNvSpPr/>
          <p:nvPr/>
        </p:nvSpPr>
        <p:spPr>
          <a:xfrm>
            <a:off x="227203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36" name="Google Shape;36;p1"/>
          <p:cNvSpPr/>
          <p:nvPr/>
        </p:nvSpPr>
        <p:spPr>
          <a:xfrm>
            <a:off x="11456035" y="381635"/>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1"/>
          <p:cNvSpPr/>
          <p:nvPr/>
        </p:nvSpPr>
        <p:spPr>
          <a:xfrm>
            <a:off x="11456035" y="381635"/>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38" name="Google Shape;38;p1"/>
          <p:cNvSpPr/>
          <p:nvPr/>
        </p:nvSpPr>
        <p:spPr>
          <a:xfrm>
            <a:off x="11456035" y="501650"/>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
          <p:cNvSpPr/>
          <p:nvPr/>
        </p:nvSpPr>
        <p:spPr>
          <a:xfrm>
            <a:off x="11456035" y="501650"/>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40" name="Google Shape;40;p1"/>
          <p:cNvSpPr/>
          <p:nvPr/>
        </p:nvSpPr>
        <p:spPr>
          <a:xfrm>
            <a:off x="11456035" y="621665"/>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
          <p:cNvSpPr/>
          <p:nvPr/>
        </p:nvSpPr>
        <p:spPr>
          <a:xfrm>
            <a:off x="11456035" y="621665"/>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cxnSp>
        <p:nvCxnSpPr>
          <p:cNvPr id="42" name="Google Shape;42;p1"/>
          <p:cNvCxnSpPr/>
          <p:nvPr/>
        </p:nvCxnSpPr>
        <p:spPr>
          <a:xfrm>
            <a:off x="1727190" y="6306820"/>
            <a:ext cx="10080000" cy="0"/>
          </a:xfrm>
          <a:prstGeom prst="straightConnector1">
            <a:avLst/>
          </a:prstGeom>
          <a:noFill/>
          <a:ln cap="flat" cmpd="sng" w="19050">
            <a:solidFill>
              <a:srgbClr val="FFFFFF"/>
            </a:solidFill>
            <a:prstDash val="solid"/>
            <a:round/>
            <a:headEnd len="sm" w="sm" type="none"/>
            <a:tailEnd len="sm" w="sm" type="none"/>
          </a:ln>
        </p:spPr>
      </p:cxnSp>
      <p:sp>
        <p:nvSpPr>
          <p:cNvPr id="43" name="Google Shape;43;p1"/>
          <p:cNvSpPr/>
          <p:nvPr/>
        </p:nvSpPr>
        <p:spPr>
          <a:xfrm>
            <a:off x="852805" y="6177280"/>
            <a:ext cx="259080" cy="2590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
          <p:cNvSpPr/>
          <p:nvPr/>
        </p:nvSpPr>
        <p:spPr>
          <a:xfrm>
            <a:off x="852805" y="6177280"/>
            <a:ext cx="259080" cy="2590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45" name="Google Shape;45;p1"/>
          <p:cNvSpPr/>
          <p:nvPr/>
        </p:nvSpPr>
        <p:spPr>
          <a:xfrm>
            <a:off x="979805" y="6177280"/>
            <a:ext cx="259080" cy="2590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
          <p:cNvSpPr/>
          <p:nvPr/>
        </p:nvSpPr>
        <p:spPr>
          <a:xfrm>
            <a:off x="979805" y="6177280"/>
            <a:ext cx="259080" cy="2590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 name="Shape 51"/>
        <p:cNvGrpSpPr/>
        <p:nvPr/>
      </p:nvGrpSpPr>
      <p:grpSpPr>
        <a:xfrm>
          <a:off x="0" y="0"/>
          <a:ext cx="0" cy="0"/>
          <a:chOff x="0" y="0"/>
          <a:chExt cx="0" cy="0"/>
        </a:xfrm>
      </p:grpSpPr>
      <p:sp>
        <p:nvSpPr>
          <p:cNvPr id="52" name="Google Shape;52;p3"/>
          <p:cNvSpPr/>
          <p:nvPr/>
        </p:nvSpPr>
        <p:spPr>
          <a:xfrm rot="5940000">
            <a:off x="367665" y="335915"/>
            <a:ext cx="558800" cy="594995"/>
          </a:xfrm>
          <a:prstGeom prst="donut">
            <a:avLst>
              <a:gd fmla="val 25000" name="adj"/>
            </a:avLst>
          </a:prstGeom>
          <a:gradFill>
            <a:gsLst>
              <a:gs pos="0">
                <a:srgbClr val="402E7F"/>
              </a:gs>
              <a:gs pos="54000">
                <a:srgbClr val="BC7DB7">
                  <a:alpha val="2745"/>
                </a:srgbClr>
              </a:gs>
              <a:gs pos="100000">
                <a:srgbClr val="BC7DB7">
                  <a:alpha val="2745"/>
                </a:srgbClr>
              </a:gs>
            </a:gsLst>
            <a:lin ang="189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5940000">
            <a:off x="367665" y="335915"/>
            <a:ext cx="558800" cy="594995"/>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54" name="Google Shape;54;p3"/>
          <p:cNvSpPr/>
          <p:nvPr/>
        </p:nvSpPr>
        <p:spPr>
          <a:xfrm>
            <a:off x="4445" y="0"/>
            <a:ext cx="12187555" cy="6875780"/>
          </a:xfrm>
          <a:prstGeom prst="rect">
            <a:avLst/>
          </a:prstGeom>
          <a:gradFill>
            <a:gsLst>
              <a:gs pos="0">
                <a:srgbClr val="D7B1D4"/>
              </a:gs>
              <a:gs pos="34000">
                <a:srgbClr val="BC7DB7"/>
              </a:gs>
              <a:gs pos="100000">
                <a:srgbClr val="30225F"/>
              </a:gs>
            </a:gsLst>
            <a:lin ang="135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4445" y="0"/>
            <a:ext cx="12187555" cy="68757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56" name="Google Shape;56;p3"/>
          <p:cNvSpPr/>
          <p:nvPr/>
        </p:nvSpPr>
        <p:spPr>
          <a:xfrm>
            <a:off x="85280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85280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58" name="Google Shape;58;p3"/>
          <p:cNvSpPr/>
          <p:nvPr/>
        </p:nvSpPr>
        <p:spPr>
          <a:xfrm>
            <a:off x="113665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113665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0" name="Google Shape;60;p3"/>
          <p:cNvSpPr/>
          <p:nvPr/>
        </p:nvSpPr>
        <p:spPr>
          <a:xfrm>
            <a:off x="142049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142049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2" name="Google Shape;62;p3"/>
          <p:cNvSpPr/>
          <p:nvPr/>
        </p:nvSpPr>
        <p:spPr>
          <a:xfrm>
            <a:off x="170434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170434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4" name="Google Shape;64;p3"/>
          <p:cNvSpPr/>
          <p:nvPr/>
        </p:nvSpPr>
        <p:spPr>
          <a:xfrm>
            <a:off x="198818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198818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6" name="Google Shape;66;p3"/>
          <p:cNvSpPr/>
          <p:nvPr/>
        </p:nvSpPr>
        <p:spPr>
          <a:xfrm>
            <a:off x="227203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227203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8" name="Google Shape;68;p3"/>
          <p:cNvSpPr/>
          <p:nvPr/>
        </p:nvSpPr>
        <p:spPr>
          <a:xfrm>
            <a:off x="11456035" y="381635"/>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11456035" y="381635"/>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70" name="Google Shape;70;p3"/>
          <p:cNvSpPr/>
          <p:nvPr/>
        </p:nvSpPr>
        <p:spPr>
          <a:xfrm>
            <a:off x="11456035" y="501650"/>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11456035" y="501650"/>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72" name="Google Shape;72;p3"/>
          <p:cNvSpPr/>
          <p:nvPr/>
        </p:nvSpPr>
        <p:spPr>
          <a:xfrm>
            <a:off x="11456035" y="621665"/>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11456035" y="621665"/>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cxnSp>
        <p:nvCxnSpPr>
          <p:cNvPr id="74" name="Google Shape;74;p3"/>
          <p:cNvCxnSpPr/>
          <p:nvPr/>
        </p:nvCxnSpPr>
        <p:spPr>
          <a:xfrm>
            <a:off x="1727190" y="6306820"/>
            <a:ext cx="10080000" cy="0"/>
          </a:xfrm>
          <a:prstGeom prst="straightConnector1">
            <a:avLst/>
          </a:prstGeom>
          <a:noFill/>
          <a:ln cap="flat" cmpd="sng" w="19050">
            <a:solidFill>
              <a:srgbClr val="FFFFFF"/>
            </a:solidFill>
            <a:prstDash val="solid"/>
            <a:round/>
            <a:headEnd len="sm" w="sm" type="none"/>
            <a:tailEnd len="sm" w="sm" type="none"/>
          </a:ln>
        </p:spPr>
      </p:cxnSp>
      <p:sp>
        <p:nvSpPr>
          <p:cNvPr id="75" name="Google Shape;75;p3"/>
          <p:cNvSpPr/>
          <p:nvPr/>
        </p:nvSpPr>
        <p:spPr>
          <a:xfrm>
            <a:off x="852805" y="6177280"/>
            <a:ext cx="259080" cy="2590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852805" y="6177280"/>
            <a:ext cx="259080" cy="2590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77" name="Google Shape;77;p3"/>
          <p:cNvSpPr/>
          <p:nvPr/>
        </p:nvSpPr>
        <p:spPr>
          <a:xfrm>
            <a:off x="979805" y="6177280"/>
            <a:ext cx="259080" cy="2590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979805" y="6177280"/>
            <a:ext cx="259080" cy="2590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79" name="Google Shape;79;p3"/>
          <p:cNvSpPr/>
          <p:nvPr/>
        </p:nvSpPr>
        <p:spPr>
          <a:xfrm>
            <a:off x="541655" y="2687320"/>
            <a:ext cx="11172825" cy="2306955"/>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541655" y="2687320"/>
            <a:ext cx="11172825" cy="2306955"/>
          </a:xfrm>
          <a:prstGeom prst="rect">
            <a:avLst/>
          </a:prstGeom>
          <a:noFill/>
          <a:ln>
            <a:noFill/>
          </a:ln>
        </p:spPr>
        <p:txBody>
          <a:bodyPr anchorCtr="0" anchor="t" bIns="45700" lIns="45700" spcFirstLastPara="1" rIns="91425" wrap="square" tIns="91425">
            <a:noAutofit/>
          </a:bodyPr>
          <a:lstStyle/>
          <a:p>
            <a:pPr indent="0" lvl="0" marL="0" marR="0" rtl="0" algn="ctr">
              <a:lnSpc>
                <a:spcPct val="100000"/>
              </a:lnSpc>
              <a:spcBef>
                <a:spcPts val="0"/>
              </a:spcBef>
              <a:spcAft>
                <a:spcPts val="0"/>
              </a:spcAft>
              <a:buNone/>
            </a:pPr>
            <a:r>
              <a:rPr b="1" lang="en-US" sz="7200">
                <a:solidFill>
                  <a:srgbClr val="FFFFFF"/>
                </a:solidFill>
              </a:rPr>
              <a:t>Introduction</a:t>
            </a:r>
            <a:endParaRPr b="0" i="0" sz="1600" u="none" cap="none" strike="noStrike"/>
          </a:p>
        </p:txBody>
      </p:sp>
      <p:sp>
        <p:nvSpPr>
          <p:cNvPr id="81" name="Google Shape;81;p3"/>
          <p:cNvSpPr/>
          <p:nvPr/>
        </p:nvSpPr>
        <p:spPr>
          <a:xfrm>
            <a:off x="2515235" y="1350010"/>
            <a:ext cx="7161530" cy="1098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200" u="none" cap="none" strike="noStrike">
                <a:solidFill>
                  <a:srgbClr val="FFFFFF"/>
                </a:solidFill>
                <a:latin typeface="Arial"/>
                <a:ea typeface="Arial"/>
                <a:cs typeface="Arial"/>
                <a:sym typeface="Arial"/>
              </a:rPr>
              <a:t>01</a:t>
            </a:r>
            <a:endParaRPr b="0" i="0" sz="1600" u="none" cap="none" strike="noStrike"/>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86" name="Shape 86"/>
        <p:cNvGrpSpPr/>
        <p:nvPr/>
      </p:nvGrpSpPr>
      <p:grpSpPr>
        <a:xfrm>
          <a:off x="0" y="0"/>
          <a:ext cx="0" cy="0"/>
          <a:chOff x="0" y="0"/>
          <a:chExt cx="0" cy="0"/>
        </a:xfrm>
      </p:grpSpPr>
      <p:sp>
        <p:nvSpPr>
          <p:cNvPr id="87" name="Google Shape;87;p4"/>
          <p:cNvSpPr/>
          <p:nvPr/>
        </p:nvSpPr>
        <p:spPr>
          <a:xfrm rot="5940000">
            <a:off x="367665" y="335915"/>
            <a:ext cx="558800" cy="594995"/>
          </a:xfrm>
          <a:prstGeom prst="donut">
            <a:avLst>
              <a:gd fmla="val 25000" name="adj"/>
            </a:avLst>
          </a:prstGeom>
          <a:gradFill>
            <a:gsLst>
              <a:gs pos="0">
                <a:srgbClr val="402E7F"/>
              </a:gs>
              <a:gs pos="54000">
                <a:srgbClr val="BC7DB7">
                  <a:alpha val="2745"/>
                </a:srgbClr>
              </a:gs>
              <a:gs pos="100000">
                <a:srgbClr val="BC7DB7">
                  <a:alpha val="2745"/>
                </a:srgbClr>
              </a:gs>
            </a:gsLst>
            <a:lin ang="189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p:nvPr/>
        </p:nvSpPr>
        <p:spPr>
          <a:xfrm rot="5940000">
            <a:off x="367665" y="335915"/>
            <a:ext cx="558800" cy="594995"/>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pic>
        <p:nvPicPr>
          <p:cNvPr descr="https://kimi-img.moonshot.cn/pub/slides/slides_tmpl/image/25-09-08-15:08:29-d2v81rdnfo2stf9dkdb0.jpg" id="89" name="Google Shape;89;p4"/>
          <p:cNvPicPr preferRelativeResize="0"/>
          <p:nvPr/>
        </p:nvPicPr>
        <p:blipFill>
          <a:blip r:embed="rId3">
            <a:alphaModFix/>
          </a:blip>
          <a:stretch>
            <a:fillRect/>
          </a:stretch>
        </p:blipFill>
        <p:spPr>
          <a:xfrm>
            <a:off x="0" y="-50782"/>
            <a:ext cx="12350749" cy="6959549"/>
          </a:xfrm>
          <a:prstGeom prst="rect">
            <a:avLst/>
          </a:prstGeom>
          <a:noFill/>
          <a:ln>
            <a:noFill/>
          </a:ln>
        </p:spPr>
      </p:pic>
      <p:sp>
        <p:nvSpPr>
          <p:cNvPr id="90" name="Google Shape;90;p4"/>
          <p:cNvSpPr/>
          <p:nvPr/>
        </p:nvSpPr>
        <p:spPr>
          <a:xfrm>
            <a:off x="101550" y="1117600"/>
            <a:ext cx="11988900" cy="6096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b="1" lang="en-US" sz="4100">
                <a:solidFill>
                  <a:srgbClr val="8F5C9A"/>
                </a:solidFill>
                <a:latin typeface="Noto Sans SC"/>
                <a:ea typeface="Noto Sans SC"/>
                <a:cs typeface="Noto Sans SC"/>
                <a:sym typeface="Noto Sans SC"/>
              </a:rPr>
              <a:t>Project Overview: Modern Discovery</a:t>
            </a:r>
            <a:endParaRPr b="0" i="0" sz="900" u="none" cap="none" strike="noStrike"/>
          </a:p>
        </p:txBody>
      </p:sp>
      <p:sp>
        <p:nvSpPr>
          <p:cNvPr id="91" name="Google Shape;91;p4"/>
          <p:cNvSpPr/>
          <p:nvPr/>
        </p:nvSpPr>
        <p:spPr>
          <a:xfrm>
            <a:off x="1931400" y="1922550"/>
            <a:ext cx="8329200" cy="7113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2400">
                <a:solidFill>
                  <a:srgbClr val="8F5C9A"/>
                </a:solidFill>
                <a:latin typeface="Noto Sans SC"/>
                <a:ea typeface="Noto Sans SC"/>
                <a:cs typeface="Noto Sans SC"/>
                <a:sym typeface="Noto Sans SC"/>
              </a:rPr>
              <a:t>Our Goal → </a:t>
            </a:r>
            <a:r>
              <a:rPr lang="en-US" sz="2000">
                <a:solidFill>
                  <a:srgbClr val="3C3542"/>
                </a:solidFill>
              </a:rPr>
              <a:t>Inhibit </a:t>
            </a:r>
            <a:r>
              <a:rPr b="1" lang="en-US" sz="2000">
                <a:solidFill>
                  <a:srgbClr val="A95EAF"/>
                </a:solidFill>
              </a:rPr>
              <a:t>Acetylcholinesterase (AChE)</a:t>
            </a:r>
            <a:r>
              <a:rPr lang="en-US" sz="2000">
                <a:solidFill>
                  <a:srgbClr val="3C3542"/>
                </a:solidFill>
              </a:rPr>
              <a:t> to treat Alzheimer’s</a:t>
            </a:r>
            <a:endParaRPr b="0" i="0" sz="1800" u="none" cap="none" strike="noStrike"/>
          </a:p>
        </p:txBody>
      </p:sp>
      <p:sp>
        <p:nvSpPr>
          <p:cNvPr id="92" name="Google Shape;92;p4"/>
          <p:cNvSpPr/>
          <p:nvPr/>
        </p:nvSpPr>
        <p:spPr>
          <a:xfrm>
            <a:off x="1092175" y="2393425"/>
            <a:ext cx="10166400" cy="12891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lang="en-US" sz="1800">
                <a:solidFill>
                  <a:srgbClr val="3C3542"/>
                </a:solidFill>
              </a:rPr>
              <a:t>We simulated a modern pharmaceutical laboratory workflow to overcome the limitations of physical testing.</a:t>
            </a:r>
            <a:endParaRPr i="0" sz="2000" u="none" cap="none" strike="noStrike"/>
          </a:p>
        </p:txBody>
      </p:sp>
      <p:sp>
        <p:nvSpPr>
          <p:cNvPr id="93" name="Google Shape;93;p4"/>
          <p:cNvSpPr/>
          <p:nvPr/>
        </p:nvSpPr>
        <p:spPr>
          <a:xfrm>
            <a:off x="2749550" y="3551952"/>
            <a:ext cx="6692900" cy="2862580"/>
          </a:xfrm>
          <a:custGeom>
            <a:rect b="b" l="l" r="r" t="t"/>
            <a:pathLst>
              <a:path extrusionOk="0" h="1422400" w="1574800">
                <a:moveTo>
                  <a:pt x="101602" y="0"/>
                </a:moveTo>
                <a:lnTo>
                  <a:pt x="1473198" y="0"/>
                </a:lnTo>
                <a:cubicBezTo>
                  <a:pt x="1529311" y="0"/>
                  <a:pt x="1574800" y="45489"/>
                  <a:pt x="1574800" y="101602"/>
                </a:cubicBezTo>
                <a:lnTo>
                  <a:pt x="1574800" y="1320798"/>
                </a:lnTo>
                <a:cubicBezTo>
                  <a:pt x="1574800" y="1376911"/>
                  <a:pt x="1529311" y="1422400"/>
                  <a:pt x="1473198" y="1422400"/>
                </a:cubicBezTo>
                <a:lnTo>
                  <a:pt x="101602" y="1422400"/>
                </a:lnTo>
                <a:cubicBezTo>
                  <a:pt x="45489" y="1422400"/>
                  <a:pt x="0" y="1376911"/>
                  <a:pt x="0" y="1320798"/>
                </a:cubicBezTo>
                <a:lnTo>
                  <a:pt x="0" y="101602"/>
                </a:lnTo>
                <a:cubicBezTo>
                  <a:pt x="0" y="45526"/>
                  <a:pt x="45526" y="0"/>
                  <a:pt x="101602" y="0"/>
                </a:cubicBezTo>
                <a:close/>
              </a:path>
            </a:pathLst>
          </a:custGeom>
          <a:solidFill>
            <a:srgbClr val="D3B9D7">
              <a:alpha val="2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txBox="1"/>
          <p:nvPr/>
        </p:nvSpPr>
        <p:spPr>
          <a:xfrm>
            <a:off x="4949100" y="3750025"/>
            <a:ext cx="2293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a:t>METHODOLOGY SHIFT</a:t>
            </a:r>
            <a:endParaRPr b="1"/>
          </a:p>
        </p:txBody>
      </p:sp>
      <p:sp>
        <p:nvSpPr>
          <p:cNvPr id="95" name="Google Shape;95;p4"/>
          <p:cNvSpPr/>
          <p:nvPr/>
        </p:nvSpPr>
        <p:spPr>
          <a:xfrm>
            <a:off x="3351925" y="4348300"/>
            <a:ext cx="2295271" cy="1564640"/>
          </a:xfrm>
          <a:custGeom>
            <a:rect b="b" l="l" r="r" t="t"/>
            <a:pathLst>
              <a:path extrusionOk="0" h="1422400" w="1574800">
                <a:moveTo>
                  <a:pt x="101602" y="0"/>
                </a:moveTo>
                <a:lnTo>
                  <a:pt x="1473198" y="0"/>
                </a:lnTo>
                <a:cubicBezTo>
                  <a:pt x="1529311" y="0"/>
                  <a:pt x="1574800" y="45489"/>
                  <a:pt x="1574800" y="101602"/>
                </a:cubicBezTo>
                <a:lnTo>
                  <a:pt x="1574800" y="1320798"/>
                </a:lnTo>
                <a:cubicBezTo>
                  <a:pt x="1574800" y="1376911"/>
                  <a:pt x="1529311" y="1422400"/>
                  <a:pt x="1473198" y="1422400"/>
                </a:cubicBezTo>
                <a:lnTo>
                  <a:pt x="101602" y="1422400"/>
                </a:lnTo>
                <a:cubicBezTo>
                  <a:pt x="45489" y="1422400"/>
                  <a:pt x="0" y="1376911"/>
                  <a:pt x="0" y="1320798"/>
                </a:cubicBezTo>
                <a:lnTo>
                  <a:pt x="0" y="101602"/>
                </a:lnTo>
                <a:cubicBezTo>
                  <a:pt x="0" y="45526"/>
                  <a:pt x="45526" y="0"/>
                  <a:pt x="101602" y="0"/>
                </a:cubicBezTo>
                <a:close/>
              </a:path>
            </a:pathLst>
          </a:custGeom>
          <a:solidFill>
            <a:srgbClr val="D3B9D7">
              <a:alpha val="2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6517325" y="4348749"/>
            <a:ext cx="2295271" cy="1564640"/>
          </a:xfrm>
          <a:custGeom>
            <a:rect b="b" l="l" r="r" t="t"/>
            <a:pathLst>
              <a:path extrusionOk="0" h="1422400" w="1574800">
                <a:moveTo>
                  <a:pt x="101602" y="0"/>
                </a:moveTo>
                <a:lnTo>
                  <a:pt x="1473198" y="0"/>
                </a:lnTo>
                <a:cubicBezTo>
                  <a:pt x="1529311" y="0"/>
                  <a:pt x="1574800" y="45489"/>
                  <a:pt x="1574800" y="101602"/>
                </a:cubicBezTo>
                <a:lnTo>
                  <a:pt x="1574800" y="1320798"/>
                </a:lnTo>
                <a:cubicBezTo>
                  <a:pt x="1574800" y="1376911"/>
                  <a:pt x="1529311" y="1422400"/>
                  <a:pt x="1473198" y="1422400"/>
                </a:cubicBezTo>
                <a:lnTo>
                  <a:pt x="101602" y="1422400"/>
                </a:lnTo>
                <a:cubicBezTo>
                  <a:pt x="45489" y="1422400"/>
                  <a:pt x="0" y="1376911"/>
                  <a:pt x="0" y="1320798"/>
                </a:cubicBezTo>
                <a:lnTo>
                  <a:pt x="0" y="101602"/>
                </a:lnTo>
                <a:cubicBezTo>
                  <a:pt x="0" y="45526"/>
                  <a:pt x="45526" y="0"/>
                  <a:pt x="101602" y="0"/>
                </a:cubicBezTo>
                <a:close/>
              </a:path>
            </a:pathLst>
          </a:custGeom>
          <a:solidFill>
            <a:srgbClr val="D3B9D7">
              <a:alpha val="2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4380390" y="4662149"/>
            <a:ext cx="238363" cy="253365"/>
          </a:xfrm>
          <a:custGeom>
            <a:rect b="b" l="l" r="r" t="t"/>
            <a:pathLst>
              <a:path extrusionOk="0" h="381000" w="333375">
                <a:moveTo>
                  <a:pt x="214313" y="0"/>
                </a:moveTo>
                <a:lnTo>
                  <a:pt x="95250" y="0"/>
                </a:lnTo>
                <a:cubicBezTo>
                  <a:pt x="82079" y="0"/>
                  <a:pt x="71438" y="10641"/>
                  <a:pt x="71438" y="23812"/>
                </a:cubicBezTo>
                <a:cubicBezTo>
                  <a:pt x="71438" y="36984"/>
                  <a:pt x="82079" y="47625"/>
                  <a:pt x="95250" y="47625"/>
                </a:cubicBezTo>
                <a:lnTo>
                  <a:pt x="95250" y="160362"/>
                </a:lnTo>
                <a:lnTo>
                  <a:pt x="5581" y="317227"/>
                </a:lnTo>
                <a:cubicBezTo>
                  <a:pt x="1935" y="323701"/>
                  <a:pt x="0" y="330919"/>
                  <a:pt x="0" y="338361"/>
                </a:cubicBezTo>
                <a:cubicBezTo>
                  <a:pt x="0" y="361950"/>
                  <a:pt x="19050" y="381000"/>
                  <a:pt x="42639" y="381000"/>
                </a:cubicBezTo>
                <a:lnTo>
                  <a:pt x="290736" y="381000"/>
                </a:lnTo>
                <a:cubicBezTo>
                  <a:pt x="314251" y="381000"/>
                  <a:pt x="333375" y="361950"/>
                  <a:pt x="333375" y="338361"/>
                </a:cubicBezTo>
                <a:cubicBezTo>
                  <a:pt x="333375" y="330919"/>
                  <a:pt x="331440" y="323627"/>
                  <a:pt x="327794" y="317227"/>
                </a:cubicBezTo>
                <a:lnTo>
                  <a:pt x="238125" y="160362"/>
                </a:lnTo>
                <a:lnTo>
                  <a:pt x="238125" y="47625"/>
                </a:lnTo>
                <a:cubicBezTo>
                  <a:pt x="251296" y="47625"/>
                  <a:pt x="261938" y="36984"/>
                  <a:pt x="261938" y="23812"/>
                </a:cubicBezTo>
                <a:cubicBezTo>
                  <a:pt x="261938" y="10641"/>
                  <a:pt x="251296" y="0"/>
                  <a:pt x="238125" y="0"/>
                </a:cubicBezTo>
                <a:lnTo>
                  <a:pt x="214313" y="0"/>
                </a:lnTo>
                <a:close/>
                <a:moveTo>
                  <a:pt x="142875" y="160362"/>
                </a:moveTo>
                <a:lnTo>
                  <a:pt x="142875" y="47625"/>
                </a:lnTo>
                <a:lnTo>
                  <a:pt x="190500" y="47625"/>
                </a:lnTo>
                <a:lnTo>
                  <a:pt x="190500" y="160362"/>
                </a:lnTo>
                <a:cubicBezTo>
                  <a:pt x="190500" y="168622"/>
                  <a:pt x="192658" y="176808"/>
                  <a:pt x="196751" y="184026"/>
                </a:cubicBezTo>
                <a:lnTo>
                  <a:pt x="227707" y="238125"/>
                </a:lnTo>
                <a:lnTo>
                  <a:pt x="105668" y="238125"/>
                </a:lnTo>
                <a:lnTo>
                  <a:pt x="136624" y="184026"/>
                </a:lnTo>
                <a:cubicBezTo>
                  <a:pt x="140717" y="176808"/>
                  <a:pt x="142875" y="168697"/>
                  <a:pt x="142875" y="160362"/>
                </a:cubicBezTo>
                <a:close/>
              </a:path>
            </a:pathLst>
          </a:custGeom>
          <a:solidFill>
            <a:srgbClr val="A95E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98" name="Google Shape;98;p4"/>
          <p:cNvSpPr txBox="1"/>
          <p:nvPr/>
        </p:nvSpPr>
        <p:spPr>
          <a:xfrm>
            <a:off x="3899563" y="4934964"/>
            <a:ext cx="12000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t>Wet Lab</a:t>
            </a:r>
            <a:endParaRPr b="1" sz="1600"/>
          </a:p>
        </p:txBody>
      </p:sp>
      <p:sp>
        <p:nvSpPr>
          <p:cNvPr id="99" name="Google Shape;99;p4"/>
          <p:cNvSpPr txBox="1"/>
          <p:nvPr/>
        </p:nvSpPr>
        <p:spPr>
          <a:xfrm>
            <a:off x="3521400" y="5306945"/>
            <a:ext cx="19563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600"/>
              <a:t>Slow &amp; Expensive</a:t>
            </a:r>
            <a:endParaRPr sz="1600"/>
          </a:p>
        </p:txBody>
      </p:sp>
      <p:sp>
        <p:nvSpPr>
          <p:cNvPr id="100" name="Google Shape;100;p4"/>
          <p:cNvSpPr txBox="1"/>
          <p:nvPr/>
        </p:nvSpPr>
        <p:spPr>
          <a:xfrm>
            <a:off x="5837790" y="4854025"/>
            <a:ext cx="566700" cy="5541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b="1" lang="en-US" sz="2400">
                <a:solidFill>
                  <a:srgbClr val="8F5C9A"/>
                </a:solidFill>
                <a:latin typeface="Noto Sans SC"/>
                <a:ea typeface="Noto Sans SC"/>
                <a:cs typeface="Noto Sans SC"/>
                <a:sym typeface="Noto Sans SC"/>
              </a:rPr>
              <a:t>→</a:t>
            </a:r>
            <a:endParaRPr/>
          </a:p>
        </p:txBody>
      </p:sp>
      <p:sp>
        <p:nvSpPr>
          <p:cNvPr id="101" name="Google Shape;101;p4"/>
          <p:cNvSpPr/>
          <p:nvPr/>
        </p:nvSpPr>
        <p:spPr>
          <a:xfrm>
            <a:off x="7545912" y="4662151"/>
            <a:ext cx="238125" cy="253365"/>
          </a:xfrm>
          <a:custGeom>
            <a:rect b="b" l="l" r="r" t="t"/>
            <a:pathLst>
              <a:path extrusionOk="0" h="381000" w="381000">
                <a:moveTo>
                  <a:pt x="130969" y="17859"/>
                </a:moveTo>
                <a:cubicBezTo>
                  <a:pt x="130969" y="7962"/>
                  <a:pt x="123006" y="0"/>
                  <a:pt x="113109" y="0"/>
                </a:cubicBezTo>
                <a:cubicBezTo>
                  <a:pt x="103212" y="0"/>
                  <a:pt x="95250" y="7962"/>
                  <a:pt x="95250" y="17859"/>
                </a:cubicBezTo>
                <a:lnTo>
                  <a:pt x="95250" y="47625"/>
                </a:lnTo>
                <a:cubicBezTo>
                  <a:pt x="68982" y="47625"/>
                  <a:pt x="47625" y="68982"/>
                  <a:pt x="47625" y="95250"/>
                </a:cubicBezTo>
                <a:lnTo>
                  <a:pt x="17859" y="95250"/>
                </a:lnTo>
                <a:cubicBezTo>
                  <a:pt x="7962" y="95250"/>
                  <a:pt x="0" y="103212"/>
                  <a:pt x="0" y="113109"/>
                </a:cubicBezTo>
                <a:cubicBezTo>
                  <a:pt x="0" y="123006"/>
                  <a:pt x="7962" y="130969"/>
                  <a:pt x="17859" y="130969"/>
                </a:cubicBezTo>
                <a:lnTo>
                  <a:pt x="47625" y="130969"/>
                </a:lnTo>
                <a:lnTo>
                  <a:pt x="47625" y="172641"/>
                </a:lnTo>
                <a:lnTo>
                  <a:pt x="17859" y="172641"/>
                </a:lnTo>
                <a:cubicBezTo>
                  <a:pt x="7962" y="172641"/>
                  <a:pt x="0" y="180603"/>
                  <a:pt x="0" y="190500"/>
                </a:cubicBezTo>
                <a:cubicBezTo>
                  <a:pt x="0" y="200397"/>
                  <a:pt x="7962" y="208359"/>
                  <a:pt x="17859" y="208359"/>
                </a:cubicBezTo>
                <a:lnTo>
                  <a:pt x="47625" y="208359"/>
                </a:lnTo>
                <a:lnTo>
                  <a:pt x="47625" y="250031"/>
                </a:lnTo>
                <a:lnTo>
                  <a:pt x="17859" y="250031"/>
                </a:lnTo>
                <a:cubicBezTo>
                  <a:pt x="7962" y="250031"/>
                  <a:pt x="0" y="257994"/>
                  <a:pt x="0" y="267891"/>
                </a:cubicBezTo>
                <a:cubicBezTo>
                  <a:pt x="0" y="277788"/>
                  <a:pt x="7962" y="285750"/>
                  <a:pt x="17859" y="285750"/>
                </a:cubicBezTo>
                <a:lnTo>
                  <a:pt x="47625" y="285750"/>
                </a:lnTo>
                <a:cubicBezTo>
                  <a:pt x="47625" y="312018"/>
                  <a:pt x="68982" y="333375"/>
                  <a:pt x="95250" y="333375"/>
                </a:cubicBezTo>
                <a:lnTo>
                  <a:pt x="95250" y="363141"/>
                </a:lnTo>
                <a:cubicBezTo>
                  <a:pt x="95250" y="373038"/>
                  <a:pt x="103212" y="381000"/>
                  <a:pt x="113109" y="381000"/>
                </a:cubicBezTo>
                <a:cubicBezTo>
                  <a:pt x="123006" y="381000"/>
                  <a:pt x="130969" y="373038"/>
                  <a:pt x="130969" y="363141"/>
                </a:cubicBezTo>
                <a:lnTo>
                  <a:pt x="130969" y="333375"/>
                </a:lnTo>
                <a:lnTo>
                  <a:pt x="172641" y="333375"/>
                </a:lnTo>
                <a:lnTo>
                  <a:pt x="172641" y="363141"/>
                </a:lnTo>
                <a:cubicBezTo>
                  <a:pt x="172641" y="373038"/>
                  <a:pt x="180603" y="381000"/>
                  <a:pt x="190500" y="381000"/>
                </a:cubicBezTo>
                <a:cubicBezTo>
                  <a:pt x="200397" y="381000"/>
                  <a:pt x="208359" y="373038"/>
                  <a:pt x="208359" y="363141"/>
                </a:cubicBezTo>
                <a:lnTo>
                  <a:pt x="208359" y="333375"/>
                </a:lnTo>
                <a:lnTo>
                  <a:pt x="250031" y="333375"/>
                </a:lnTo>
                <a:lnTo>
                  <a:pt x="250031" y="363141"/>
                </a:lnTo>
                <a:cubicBezTo>
                  <a:pt x="250031" y="373038"/>
                  <a:pt x="257994" y="381000"/>
                  <a:pt x="267891" y="381000"/>
                </a:cubicBezTo>
                <a:cubicBezTo>
                  <a:pt x="277788" y="381000"/>
                  <a:pt x="285750" y="373038"/>
                  <a:pt x="285750" y="363141"/>
                </a:cubicBezTo>
                <a:lnTo>
                  <a:pt x="285750" y="333375"/>
                </a:lnTo>
                <a:cubicBezTo>
                  <a:pt x="312018" y="333375"/>
                  <a:pt x="333375" y="312018"/>
                  <a:pt x="333375" y="285750"/>
                </a:cubicBezTo>
                <a:lnTo>
                  <a:pt x="363141" y="285750"/>
                </a:lnTo>
                <a:cubicBezTo>
                  <a:pt x="373038" y="285750"/>
                  <a:pt x="381000" y="277788"/>
                  <a:pt x="381000" y="267891"/>
                </a:cubicBezTo>
                <a:cubicBezTo>
                  <a:pt x="381000" y="257994"/>
                  <a:pt x="373038" y="250031"/>
                  <a:pt x="363141" y="250031"/>
                </a:cubicBezTo>
                <a:lnTo>
                  <a:pt x="333375" y="250031"/>
                </a:lnTo>
                <a:lnTo>
                  <a:pt x="333375" y="208359"/>
                </a:lnTo>
                <a:lnTo>
                  <a:pt x="363141" y="208359"/>
                </a:lnTo>
                <a:cubicBezTo>
                  <a:pt x="373038" y="208359"/>
                  <a:pt x="381000" y="200397"/>
                  <a:pt x="381000" y="190500"/>
                </a:cubicBezTo>
                <a:cubicBezTo>
                  <a:pt x="381000" y="180603"/>
                  <a:pt x="373038" y="172641"/>
                  <a:pt x="363141" y="172641"/>
                </a:cubicBezTo>
                <a:lnTo>
                  <a:pt x="333375" y="172641"/>
                </a:lnTo>
                <a:lnTo>
                  <a:pt x="333375" y="130969"/>
                </a:lnTo>
                <a:lnTo>
                  <a:pt x="363141" y="130969"/>
                </a:lnTo>
                <a:cubicBezTo>
                  <a:pt x="373038" y="130969"/>
                  <a:pt x="381000" y="123006"/>
                  <a:pt x="381000" y="113109"/>
                </a:cubicBezTo>
                <a:cubicBezTo>
                  <a:pt x="381000" y="103212"/>
                  <a:pt x="373038" y="95250"/>
                  <a:pt x="363141" y="95250"/>
                </a:cubicBezTo>
                <a:lnTo>
                  <a:pt x="333375" y="95250"/>
                </a:lnTo>
                <a:cubicBezTo>
                  <a:pt x="333375" y="68982"/>
                  <a:pt x="312018" y="47625"/>
                  <a:pt x="285750" y="47625"/>
                </a:cubicBezTo>
                <a:lnTo>
                  <a:pt x="285750" y="17859"/>
                </a:lnTo>
                <a:cubicBezTo>
                  <a:pt x="285750" y="7962"/>
                  <a:pt x="277788" y="0"/>
                  <a:pt x="267891" y="0"/>
                </a:cubicBezTo>
                <a:cubicBezTo>
                  <a:pt x="257994" y="0"/>
                  <a:pt x="250031" y="7962"/>
                  <a:pt x="250031" y="17859"/>
                </a:cubicBezTo>
                <a:lnTo>
                  <a:pt x="250031" y="47625"/>
                </a:lnTo>
                <a:lnTo>
                  <a:pt x="208359" y="47625"/>
                </a:lnTo>
                <a:lnTo>
                  <a:pt x="208359" y="17859"/>
                </a:lnTo>
                <a:cubicBezTo>
                  <a:pt x="208359" y="7962"/>
                  <a:pt x="200397" y="0"/>
                  <a:pt x="190500" y="0"/>
                </a:cubicBezTo>
                <a:cubicBezTo>
                  <a:pt x="180603" y="0"/>
                  <a:pt x="172641" y="7962"/>
                  <a:pt x="172641" y="17859"/>
                </a:cubicBezTo>
                <a:lnTo>
                  <a:pt x="172641" y="47625"/>
                </a:lnTo>
                <a:lnTo>
                  <a:pt x="130969" y="47625"/>
                </a:lnTo>
                <a:lnTo>
                  <a:pt x="130969" y="17859"/>
                </a:lnTo>
                <a:close/>
                <a:moveTo>
                  <a:pt x="119063" y="95250"/>
                </a:moveTo>
                <a:lnTo>
                  <a:pt x="261938" y="95250"/>
                </a:lnTo>
                <a:cubicBezTo>
                  <a:pt x="275109" y="95250"/>
                  <a:pt x="285750" y="105891"/>
                  <a:pt x="285750" y="119063"/>
                </a:cubicBezTo>
                <a:lnTo>
                  <a:pt x="285750" y="261938"/>
                </a:lnTo>
                <a:cubicBezTo>
                  <a:pt x="285750" y="275109"/>
                  <a:pt x="275109" y="285750"/>
                  <a:pt x="261938" y="285750"/>
                </a:cubicBezTo>
                <a:lnTo>
                  <a:pt x="119063" y="285750"/>
                </a:lnTo>
                <a:cubicBezTo>
                  <a:pt x="105891" y="285750"/>
                  <a:pt x="95250" y="275109"/>
                  <a:pt x="95250" y="261938"/>
                </a:cubicBezTo>
                <a:lnTo>
                  <a:pt x="95250" y="119063"/>
                </a:lnTo>
                <a:cubicBezTo>
                  <a:pt x="95250" y="105891"/>
                  <a:pt x="105891" y="95250"/>
                  <a:pt x="119063" y="95250"/>
                </a:cubicBezTo>
                <a:close/>
                <a:moveTo>
                  <a:pt x="130969" y="130969"/>
                </a:moveTo>
                <a:lnTo>
                  <a:pt x="130969" y="250031"/>
                </a:lnTo>
                <a:lnTo>
                  <a:pt x="250031" y="250031"/>
                </a:lnTo>
                <a:lnTo>
                  <a:pt x="250031" y="130969"/>
                </a:lnTo>
                <a:lnTo>
                  <a:pt x="130969" y="130969"/>
                </a:lnTo>
                <a:close/>
              </a:path>
            </a:pathLst>
          </a:custGeom>
          <a:solidFill>
            <a:srgbClr val="8F5C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txBox="1"/>
          <p:nvPr/>
        </p:nvSpPr>
        <p:spPr>
          <a:xfrm>
            <a:off x="6764600" y="4915525"/>
            <a:ext cx="18042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t>In Silico (IA)</a:t>
            </a:r>
            <a:endParaRPr b="1" sz="1600"/>
          </a:p>
        </p:txBody>
      </p:sp>
      <p:sp>
        <p:nvSpPr>
          <p:cNvPr id="103" name="Google Shape;103;p4"/>
          <p:cNvSpPr txBox="1"/>
          <p:nvPr/>
        </p:nvSpPr>
        <p:spPr>
          <a:xfrm>
            <a:off x="6686813" y="5345825"/>
            <a:ext cx="19563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600"/>
              <a:t>Instant &amp; Predictive</a:t>
            </a:r>
            <a:endParaRPr sz="160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108" name="Shape 108"/>
        <p:cNvGrpSpPr/>
        <p:nvPr/>
      </p:nvGrpSpPr>
      <p:grpSpPr>
        <a:xfrm>
          <a:off x="0" y="0"/>
          <a:ext cx="0" cy="0"/>
          <a:chOff x="0" y="0"/>
          <a:chExt cx="0" cy="0"/>
        </a:xfrm>
      </p:grpSpPr>
      <p:sp>
        <p:nvSpPr>
          <p:cNvPr id="109" name="Google Shape;109;g3b062dcf409_1_47"/>
          <p:cNvSpPr/>
          <p:nvPr/>
        </p:nvSpPr>
        <p:spPr>
          <a:xfrm rot="5939221">
            <a:off x="367677" y="335985"/>
            <a:ext cx="558861" cy="595013"/>
          </a:xfrm>
          <a:prstGeom prst="donut">
            <a:avLst>
              <a:gd fmla="val 25000" name="adj"/>
            </a:avLst>
          </a:prstGeom>
          <a:gradFill>
            <a:gsLst>
              <a:gs pos="0">
                <a:srgbClr val="402E7F"/>
              </a:gs>
              <a:gs pos="54000">
                <a:srgbClr val="BC7DB7">
                  <a:alpha val="2745"/>
                </a:srgbClr>
              </a:gs>
              <a:gs pos="100000">
                <a:srgbClr val="BC7DB7">
                  <a:alpha val="2745"/>
                </a:srgbClr>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g3b062dcf409_1_47"/>
          <p:cNvSpPr/>
          <p:nvPr/>
        </p:nvSpPr>
        <p:spPr>
          <a:xfrm rot="5939221">
            <a:off x="367677" y="335985"/>
            <a:ext cx="558861" cy="595013"/>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pic>
        <p:nvPicPr>
          <p:cNvPr descr="https://kimi-img.moonshot.cn/pub/slides/slides_tmpl/image/25-09-08-15:08:29-d2v81rdnfo2stf9dkdb0.jpg" id="111" name="Google Shape;111;g3b062dcf409_1_47"/>
          <p:cNvPicPr preferRelativeResize="0"/>
          <p:nvPr/>
        </p:nvPicPr>
        <p:blipFill>
          <a:blip r:embed="rId3">
            <a:alphaModFix/>
          </a:blip>
          <a:stretch>
            <a:fillRect/>
          </a:stretch>
        </p:blipFill>
        <p:spPr>
          <a:xfrm>
            <a:off x="-79375" y="-7"/>
            <a:ext cx="12350749" cy="6959549"/>
          </a:xfrm>
          <a:prstGeom prst="rect">
            <a:avLst/>
          </a:prstGeom>
          <a:noFill/>
          <a:ln>
            <a:noFill/>
          </a:ln>
        </p:spPr>
      </p:pic>
      <p:sp>
        <p:nvSpPr>
          <p:cNvPr id="112" name="Google Shape;112;g3b062dcf409_1_47"/>
          <p:cNvSpPr/>
          <p:nvPr/>
        </p:nvSpPr>
        <p:spPr>
          <a:xfrm>
            <a:off x="101550" y="939325"/>
            <a:ext cx="11988900" cy="6096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b="1" lang="en-US" sz="4200">
                <a:solidFill>
                  <a:srgbClr val="8F5C9A"/>
                </a:solidFill>
                <a:latin typeface="Noto Sans SC"/>
                <a:ea typeface="Noto Sans SC"/>
                <a:cs typeface="Noto Sans SC"/>
                <a:sym typeface="Noto Sans SC"/>
              </a:rPr>
              <a:t>The Challenge: Volume vs Time</a:t>
            </a:r>
            <a:endParaRPr b="0" i="0" sz="1000" u="none" cap="none" strike="noStrike"/>
          </a:p>
        </p:txBody>
      </p:sp>
      <p:sp>
        <p:nvSpPr>
          <p:cNvPr id="113" name="Google Shape;113;g3b062dcf409_1_47"/>
          <p:cNvSpPr/>
          <p:nvPr/>
        </p:nvSpPr>
        <p:spPr>
          <a:xfrm>
            <a:off x="885000" y="1839266"/>
            <a:ext cx="10422000" cy="1289100"/>
          </a:xfrm>
          <a:prstGeom prst="rect">
            <a:avLst/>
          </a:prstGeom>
          <a:noFill/>
          <a:ln>
            <a:noFill/>
          </a:ln>
        </p:spPr>
        <p:txBody>
          <a:bodyPr anchorCtr="0" anchor="ctr" bIns="0" lIns="0" spcFirstLastPara="1" rIns="0" wrap="square" tIns="0">
            <a:noAutofit/>
          </a:bodyPr>
          <a:lstStyle/>
          <a:p>
            <a:pPr indent="-355600" lvl="0" marL="457200" marR="0" rtl="0" algn="l">
              <a:lnSpc>
                <a:spcPct val="130000"/>
              </a:lnSpc>
              <a:spcBef>
                <a:spcPts val="0"/>
              </a:spcBef>
              <a:spcAft>
                <a:spcPts val="0"/>
              </a:spcAft>
              <a:buSzPts val="2000"/>
              <a:buFont typeface="Noto Sans SC"/>
              <a:buChar char="●"/>
            </a:pPr>
            <a:r>
              <a:rPr b="1" lang="en-US" sz="2000">
                <a:solidFill>
                  <a:srgbClr val="8F5C9A"/>
                </a:solidFill>
                <a:latin typeface="Noto Sans SC"/>
                <a:ea typeface="Noto Sans SC"/>
                <a:cs typeface="Noto Sans SC"/>
                <a:sym typeface="Noto Sans SC"/>
              </a:rPr>
              <a:t>The "Volume" Problem:</a:t>
            </a:r>
            <a:r>
              <a:rPr b="1" lang="en-US" sz="2000">
                <a:solidFill>
                  <a:schemeClr val="dk1"/>
                </a:solidFill>
                <a:latin typeface="Noto Sans SC"/>
                <a:ea typeface="Noto Sans SC"/>
                <a:cs typeface="Noto Sans SC"/>
                <a:sym typeface="Noto Sans SC"/>
              </a:rPr>
              <a:t> </a:t>
            </a:r>
            <a:r>
              <a:rPr lang="en-US" sz="2000">
                <a:solidFill>
                  <a:schemeClr val="dk1"/>
                </a:solidFill>
                <a:latin typeface="Noto Sans SC"/>
                <a:ea typeface="Noto Sans SC"/>
                <a:cs typeface="Noto Sans SC"/>
                <a:sym typeface="Noto Sans SC"/>
              </a:rPr>
              <a:t>Testing millions of candidates physically takes years</a:t>
            </a:r>
            <a:endParaRPr sz="2000">
              <a:solidFill>
                <a:schemeClr val="dk1"/>
              </a:solidFill>
              <a:latin typeface="Noto Sans SC"/>
              <a:ea typeface="Noto Sans SC"/>
              <a:cs typeface="Noto Sans SC"/>
              <a:sym typeface="Noto Sans SC"/>
            </a:endParaRPr>
          </a:p>
          <a:p>
            <a:pPr indent="-355600" lvl="0" marL="457200" rtl="0" algn="l">
              <a:lnSpc>
                <a:spcPct val="130000"/>
              </a:lnSpc>
              <a:spcBef>
                <a:spcPts val="0"/>
              </a:spcBef>
              <a:spcAft>
                <a:spcPts val="0"/>
              </a:spcAft>
              <a:buSzPts val="2000"/>
              <a:buFont typeface="Noto Sans SC"/>
              <a:buChar char="●"/>
            </a:pPr>
            <a:r>
              <a:rPr b="1" lang="en-US" sz="2000">
                <a:solidFill>
                  <a:srgbClr val="8F5C9A"/>
                </a:solidFill>
                <a:latin typeface="Noto Sans SC"/>
                <a:ea typeface="Noto Sans SC"/>
                <a:cs typeface="Noto Sans SC"/>
                <a:sym typeface="Noto Sans SC"/>
              </a:rPr>
              <a:t>Our Hypothesis: </a:t>
            </a:r>
            <a:r>
              <a:rPr lang="en-US" sz="2000">
                <a:solidFill>
                  <a:schemeClr val="dk1"/>
                </a:solidFill>
                <a:latin typeface="Noto Sans SC"/>
                <a:ea typeface="Noto Sans SC"/>
                <a:cs typeface="Noto Sans SC"/>
                <a:sym typeface="Noto Sans SC"/>
              </a:rPr>
              <a:t>We can use Machine Learning to predict biological activity based on chemical structure</a:t>
            </a:r>
            <a:endParaRPr sz="2000">
              <a:solidFill>
                <a:schemeClr val="dk1"/>
              </a:solidFill>
              <a:latin typeface="Noto Sans SC"/>
              <a:ea typeface="Noto Sans SC"/>
              <a:cs typeface="Noto Sans SC"/>
              <a:sym typeface="Noto Sans SC"/>
            </a:endParaRPr>
          </a:p>
        </p:txBody>
      </p:sp>
      <p:sp>
        <p:nvSpPr>
          <p:cNvPr id="114" name="Google Shape;114;g3b062dcf409_1_47"/>
          <p:cNvSpPr/>
          <p:nvPr/>
        </p:nvSpPr>
        <p:spPr>
          <a:xfrm>
            <a:off x="1742850" y="3292713"/>
            <a:ext cx="3783457" cy="3004820"/>
          </a:xfrm>
          <a:custGeom>
            <a:rect b="b" l="l" r="r" t="t"/>
            <a:pathLst>
              <a:path extrusionOk="0" h="1422400" w="1574800">
                <a:moveTo>
                  <a:pt x="101602" y="0"/>
                </a:moveTo>
                <a:lnTo>
                  <a:pt x="1473198" y="0"/>
                </a:lnTo>
                <a:cubicBezTo>
                  <a:pt x="1529311" y="0"/>
                  <a:pt x="1574800" y="45489"/>
                  <a:pt x="1574800" y="101602"/>
                </a:cubicBezTo>
                <a:lnTo>
                  <a:pt x="1574800" y="1320798"/>
                </a:lnTo>
                <a:cubicBezTo>
                  <a:pt x="1574800" y="1376911"/>
                  <a:pt x="1529311" y="1422400"/>
                  <a:pt x="1473198" y="1422400"/>
                </a:cubicBezTo>
                <a:lnTo>
                  <a:pt x="101602" y="1422400"/>
                </a:lnTo>
                <a:cubicBezTo>
                  <a:pt x="45489" y="1422400"/>
                  <a:pt x="0" y="1376911"/>
                  <a:pt x="0" y="1320798"/>
                </a:cubicBezTo>
                <a:lnTo>
                  <a:pt x="0" y="101602"/>
                </a:lnTo>
                <a:cubicBezTo>
                  <a:pt x="0" y="45526"/>
                  <a:pt x="45526" y="0"/>
                  <a:pt x="101602" y="0"/>
                </a:cubicBezTo>
                <a:close/>
              </a:path>
            </a:pathLst>
          </a:custGeom>
          <a:solidFill>
            <a:srgbClr val="D3B9D7">
              <a:alpha val="24710"/>
            </a:srgbClr>
          </a:solidFill>
          <a:ln cap="flat" cmpd="sng" w="2857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3b062dcf409_1_47"/>
          <p:cNvSpPr txBox="1"/>
          <p:nvPr/>
        </p:nvSpPr>
        <p:spPr>
          <a:xfrm>
            <a:off x="2006700" y="3461625"/>
            <a:ext cx="1477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t>The Pipeline:</a:t>
            </a:r>
            <a:endParaRPr b="1" sz="1600"/>
          </a:p>
        </p:txBody>
      </p:sp>
      <p:sp>
        <p:nvSpPr>
          <p:cNvPr id="116" name="Google Shape;116;g3b062dcf409_1_47"/>
          <p:cNvSpPr txBox="1"/>
          <p:nvPr/>
        </p:nvSpPr>
        <p:spPr>
          <a:xfrm>
            <a:off x="2367175" y="3980963"/>
            <a:ext cx="2438400" cy="2130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US" sz="1600"/>
              <a:t>Data Mining (ChEMBL)</a:t>
            </a:r>
            <a:endParaRPr sz="1600"/>
          </a:p>
          <a:p>
            <a:pPr indent="0" lvl="0" marL="0" rtl="0" algn="just">
              <a:lnSpc>
                <a:spcPct val="115000"/>
              </a:lnSpc>
              <a:spcBef>
                <a:spcPts val="0"/>
              </a:spcBef>
              <a:spcAft>
                <a:spcPts val="0"/>
              </a:spcAft>
              <a:buNone/>
            </a:pPr>
            <a:r>
              <a:t/>
            </a:r>
            <a:endParaRPr sz="1600"/>
          </a:p>
          <a:p>
            <a:pPr indent="0" lvl="0" marL="0" rtl="0" algn="just">
              <a:lnSpc>
                <a:spcPct val="115000"/>
              </a:lnSpc>
              <a:spcBef>
                <a:spcPts val="0"/>
              </a:spcBef>
              <a:spcAft>
                <a:spcPts val="0"/>
              </a:spcAft>
              <a:buNone/>
            </a:pPr>
            <a:r>
              <a:rPr lang="en-US" sz="1600"/>
              <a:t>Labeling Strategy</a:t>
            </a:r>
            <a:endParaRPr sz="1600"/>
          </a:p>
          <a:p>
            <a:pPr indent="0" lvl="0" marL="0" rtl="0" algn="just">
              <a:lnSpc>
                <a:spcPct val="115000"/>
              </a:lnSpc>
              <a:spcBef>
                <a:spcPts val="0"/>
              </a:spcBef>
              <a:spcAft>
                <a:spcPts val="0"/>
              </a:spcAft>
              <a:buNone/>
            </a:pPr>
            <a:r>
              <a:t/>
            </a:r>
            <a:endParaRPr sz="1600"/>
          </a:p>
          <a:p>
            <a:pPr indent="0" lvl="0" marL="0" rtl="0" algn="just">
              <a:lnSpc>
                <a:spcPct val="115000"/>
              </a:lnSpc>
              <a:spcBef>
                <a:spcPts val="0"/>
              </a:spcBef>
              <a:spcAft>
                <a:spcPts val="0"/>
              </a:spcAft>
              <a:buNone/>
            </a:pPr>
            <a:r>
              <a:rPr lang="en-US" sz="1600"/>
              <a:t>Chemical Translation</a:t>
            </a:r>
            <a:endParaRPr sz="1600"/>
          </a:p>
          <a:p>
            <a:pPr indent="0" lvl="0" marL="0" rtl="0" algn="just">
              <a:lnSpc>
                <a:spcPct val="115000"/>
              </a:lnSpc>
              <a:spcBef>
                <a:spcPts val="0"/>
              </a:spcBef>
              <a:spcAft>
                <a:spcPts val="0"/>
              </a:spcAft>
              <a:buNone/>
            </a:pPr>
            <a:r>
              <a:t/>
            </a:r>
            <a:endParaRPr sz="1600"/>
          </a:p>
          <a:p>
            <a:pPr indent="0" lvl="0" marL="0" rtl="0" algn="just">
              <a:lnSpc>
                <a:spcPct val="115000"/>
              </a:lnSpc>
              <a:spcBef>
                <a:spcPts val="0"/>
              </a:spcBef>
              <a:spcAft>
                <a:spcPts val="0"/>
              </a:spcAft>
              <a:buNone/>
            </a:pPr>
            <a:r>
              <a:rPr lang="en-US" sz="1600"/>
              <a:t>Model Training</a:t>
            </a:r>
            <a:endParaRPr sz="1600"/>
          </a:p>
        </p:txBody>
      </p:sp>
      <p:sp>
        <p:nvSpPr>
          <p:cNvPr id="117" name="Google Shape;117;g3b062dcf409_1_47"/>
          <p:cNvSpPr/>
          <p:nvPr/>
        </p:nvSpPr>
        <p:spPr>
          <a:xfrm>
            <a:off x="2024539" y="5199587"/>
            <a:ext cx="278892" cy="314325"/>
          </a:xfrm>
          <a:custGeom>
            <a:rect b="b" l="l" r="r" t="t"/>
            <a:pathLst>
              <a:path extrusionOk="0" h="457200" w="457200">
                <a:moveTo>
                  <a:pt x="42863" y="228600"/>
                </a:moveTo>
                <a:cubicBezTo>
                  <a:pt x="42863" y="125998"/>
                  <a:pt x="125998" y="42863"/>
                  <a:pt x="228600" y="42863"/>
                </a:cubicBezTo>
                <a:cubicBezTo>
                  <a:pt x="284946" y="42863"/>
                  <a:pt x="335399" y="67955"/>
                  <a:pt x="369510" y="107603"/>
                </a:cubicBezTo>
                <a:cubicBezTo>
                  <a:pt x="377190" y="116622"/>
                  <a:pt x="390763" y="117604"/>
                  <a:pt x="399693" y="109924"/>
                </a:cubicBezTo>
                <a:cubicBezTo>
                  <a:pt x="408623" y="102245"/>
                  <a:pt x="409694" y="88672"/>
                  <a:pt x="402015" y="79742"/>
                </a:cubicBezTo>
                <a:cubicBezTo>
                  <a:pt x="360134" y="30897"/>
                  <a:pt x="297984" y="0"/>
                  <a:pt x="228600" y="0"/>
                </a:cubicBezTo>
                <a:cubicBezTo>
                  <a:pt x="102334" y="0"/>
                  <a:pt x="0" y="102334"/>
                  <a:pt x="0" y="228600"/>
                </a:cubicBezTo>
                <a:lnTo>
                  <a:pt x="0" y="264319"/>
                </a:lnTo>
                <a:cubicBezTo>
                  <a:pt x="0" y="276195"/>
                  <a:pt x="9555" y="285750"/>
                  <a:pt x="21431" y="285750"/>
                </a:cubicBezTo>
                <a:cubicBezTo>
                  <a:pt x="33308" y="285750"/>
                  <a:pt x="42863" y="276195"/>
                  <a:pt x="42863" y="264319"/>
                </a:cubicBezTo>
                <a:lnTo>
                  <a:pt x="42863" y="228600"/>
                </a:lnTo>
                <a:close/>
                <a:moveTo>
                  <a:pt x="452289" y="181362"/>
                </a:moveTo>
                <a:cubicBezTo>
                  <a:pt x="449878" y="169753"/>
                  <a:pt x="438448" y="162342"/>
                  <a:pt x="426928" y="164842"/>
                </a:cubicBezTo>
                <a:cubicBezTo>
                  <a:pt x="415409" y="167342"/>
                  <a:pt x="407908" y="178683"/>
                  <a:pt x="410408" y="190202"/>
                </a:cubicBezTo>
                <a:cubicBezTo>
                  <a:pt x="412998" y="202615"/>
                  <a:pt x="414427" y="215473"/>
                  <a:pt x="414427" y="228689"/>
                </a:cubicBezTo>
                <a:lnTo>
                  <a:pt x="414427" y="264408"/>
                </a:lnTo>
                <a:cubicBezTo>
                  <a:pt x="414427" y="276285"/>
                  <a:pt x="423982" y="285839"/>
                  <a:pt x="435858" y="285839"/>
                </a:cubicBezTo>
                <a:cubicBezTo>
                  <a:pt x="447735" y="285839"/>
                  <a:pt x="457289" y="276285"/>
                  <a:pt x="457289" y="264408"/>
                </a:cubicBezTo>
                <a:lnTo>
                  <a:pt x="457289" y="228689"/>
                </a:lnTo>
                <a:cubicBezTo>
                  <a:pt x="457289" y="212527"/>
                  <a:pt x="455593" y="196721"/>
                  <a:pt x="452378" y="181451"/>
                </a:cubicBezTo>
                <a:close/>
                <a:moveTo>
                  <a:pt x="228600" y="71438"/>
                </a:moveTo>
                <a:cubicBezTo>
                  <a:pt x="211634" y="71438"/>
                  <a:pt x="195203" y="74116"/>
                  <a:pt x="179933" y="79117"/>
                </a:cubicBezTo>
                <a:cubicBezTo>
                  <a:pt x="166360" y="83582"/>
                  <a:pt x="163235" y="100280"/>
                  <a:pt x="172522" y="111175"/>
                </a:cubicBezTo>
                <a:cubicBezTo>
                  <a:pt x="178862" y="118586"/>
                  <a:pt x="189309" y="120819"/>
                  <a:pt x="198775" y="118229"/>
                </a:cubicBezTo>
                <a:cubicBezTo>
                  <a:pt x="208240" y="115639"/>
                  <a:pt x="218242" y="114300"/>
                  <a:pt x="228600" y="114300"/>
                </a:cubicBezTo>
                <a:cubicBezTo>
                  <a:pt x="291733" y="114300"/>
                  <a:pt x="342900" y="165467"/>
                  <a:pt x="342900" y="228600"/>
                </a:cubicBezTo>
                <a:lnTo>
                  <a:pt x="342900" y="250835"/>
                </a:lnTo>
                <a:cubicBezTo>
                  <a:pt x="342900" y="273338"/>
                  <a:pt x="341561" y="295751"/>
                  <a:pt x="338971" y="318075"/>
                </a:cubicBezTo>
                <a:cubicBezTo>
                  <a:pt x="337453" y="331113"/>
                  <a:pt x="347365" y="342900"/>
                  <a:pt x="360581" y="342900"/>
                </a:cubicBezTo>
                <a:cubicBezTo>
                  <a:pt x="371118" y="342900"/>
                  <a:pt x="380137" y="335220"/>
                  <a:pt x="381387" y="324773"/>
                </a:cubicBezTo>
                <a:cubicBezTo>
                  <a:pt x="384334" y="300305"/>
                  <a:pt x="385852" y="275659"/>
                  <a:pt x="385852" y="250924"/>
                </a:cubicBezTo>
                <a:lnTo>
                  <a:pt x="385852" y="228689"/>
                </a:lnTo>
                <a:cubicBezTo>
                  <a:pt x="385852" y="141893"/>
                  <a:pt x="315486" y="71527"/>
                  <a:pt x="228689" y="71527"/>
                </a:cubicBezTo>
                <a:close/>
                <a:moveTo>
                  <a:pt x="134570" y="132784"/>
                </a:moveTo>
                <a:cubicBezTo>
                  <a:pt x="126444" y="123319"/>
                  <a:pt x="111978" y="122605"/>
                  <a:pt x="104299" y="132427"/>
                </a:cubicBezTo>
                <a:cubicBezTo>
                  <a:pt x="83671" y="159038"/>
                  <a:pt x="71437" y="192345"/>
                  <a:pt x="71437" y="228600"/>
                </a:cubicBezTo>
                <a:lnTo>
                  <a:pt x="71437" y="250835"/>
                </a:lnTo>
                <a:cubicBezTo>
                  <a:pt x="71437" y="272445"/>
                  <a:pt x="69116" y="294055"/>
                  <a:pt x="64472" y="315039"/>
                </a:cubicBezTo>
                <a:cubicBezTo>
                  <a:pt x="61436" y="328970"/>
                  <a:pt x="71527" y="342811"/>
                  <a:pt x="85814" y="342811"/>
                </a:cubicBezTo>
                <a:cubicBezTo>
                  <a:pt x="95190" y="342811"/>
                  <a:pt x="103584" y="336560"/>
                  <a:pt x="105638" y="327362"/>
                </a:cubicBezTo>
                <a:cubicBezTo>
                  <a:pt x="111353" y="302270"/>
                  <a:pt x="114300" y="276642"/>
                  <a:pt x="114300" y="250746"/>
                </a:cubicBezTo>
                <a:lnTo>
                  <a:pt x="114300" y="228511"/>
                </a:lnTo>
                <a:cubicBezTo>
                  <a:pt x="114300" y="204222"/>
                  <a:pt x="121890" y="181719"/>
                  <a:pt x="134749" y="163235"/>
                </a:cubicBezTo>
                <a:cubicBezTo>
                  <a:pt x="141178" y="153948"/>
                  <a:pt x="141893" y="141268"/>
                  <a:pt x="134570" y="132695"/>
                </a:cubicBezTo>
                <a:close/>
                <a:moveTo>
                  <a:pt x="228600" y="142875"/>
                </a:moveTo>
                <a:cubicBezTo>
                  <a:pt x="181273" y="142875"/>
                  <a:pt x="142875" y="181273"/>
                  <a:pt x="142875" y="228600"/>
                </a:cubicBezTo>
                <a:lnTo>
                  <a:pt x="142875" y="250835"/>
                </a:lnTo>
                <a:cubicBezTo>
                  <a:pt x="142875" y="282892"/>
                  <a:pt x="138767" y="314682"/>
                  <a:pt x="130552" y="345579"/>
                </a:cubicBezTo>
                <a:cubicBezTo>
                  <a:pt x="127159" y="358348"/>
                  <a:pt x="136535" y="371475"/>
                  <a:pt x="149751" y="371475"/>
                </a:cubicBezTo>
                <a:cubicBezTo>
                  <a:pt x="158234" y="371475"/>
                  <a:pt x="165735" y="365939"/>
                  <a:pt x="167967" y="357723"/>
                </a:cubicBezTo>
                <a:cubicBezTo>
                  <a:pt x="177344" y="322898"/>
                  <a:pt x="182166" y="287000"/>
                  <a:pt x="182166" y="250835"/>
                </a:cubicBezTo>
                <a:lnTo>
                  <a:pt x="182166" y="228600"/>
                </a:lnTo>
                <a:cubicBezTo>
                  <a:pt x="182166" y="202972"/>
                  <a:pt x="202972" y="182166"/>
                  <a:pt x="228600" y="182166"/>
                </a:cubicBezTo>
                <a:cubicBezTo>
                  <a:pt x="254228" y="182166"/>
                  <a:pt x="275034" y="202972"/>
                  <a:pt x="275034" y="228600"/>
                </a:cubicBezTo>
                <a:lnTo>
                  <a:pt x="275034" y="250835"/>
                </a:lnTo>
                <a:cubicBezTo>
                  <a:pt x="275034" y="283250"/>
                  <a:pt x="271909" y="315486"/>
                  <a:pt x="265748" y="347186"/>
                </a:cubicBezTo>
                <a:cubicBezTo>
                  <a:pt x="263336" y="359599"/>
                  <a:pt x="272623" y="371475"/>
                  <a:pt x="285214" y="371475"/>
                </a:cubicBezTo>
                <a:cubicBezTo>
                  <a:pt x="294323" y="371475"/>
                  <a:pt x="302181" y="365224"/>
                  <a:pt x="303967" y="356295"/>
                </a:cubicBezTo>
                <a:cubicBezTo>
                  <a:pt x="310842" y="321647"/>
                  <a:pt x="314325" y="286375"/>
                  <a:pt x="314325" y="250835"/>
                </a:cubicBezTo>
                <a:lnTo>
                  <a:pt x="314325" y="228600"/>
                </a:lnTo>
                <a:cubicBezTo>
                  <a:pt x="314325" y="181273"/>
                  <a:pt x="275927" y="142875"/>
                  <a:pt x="228600" y="142875"/>
                </a:cubicBezTo>
                <a:close/>
                <a:moveTo>
                  <a:pt x="250031" y="228600"/>
                </a:moveTo>
                <a:cubicBezTo>
                  <a:pt x="250031" y="216724"/>
                  <a:pt x="240476" y="207169"/>
                  <a:pt x="228600" y="207169"/>
                </a:cubicBezTo>
                <a:cubicBezTo>
                  <a:pt x="216724" y="207169"/>
                  <a:pt x="207169" y="216724"/>
                  <a:pt x="207169" y="228600"/>
                </a:cubicBezTo>
                <a:lnTo>
                  <a:pt x="207169" y="250835"/>
                </a:lnTo>
                <a:cubicBezTo>
                  <a:pt x="207169" y="304324"/>
                  <a:pt x="197346" y="357366"/>
                  <a:pt x="178147" y="407283"/>
                </a:cubicBezTo>
                <a:lnTo>
                  <a:pt x="172879" y="420945"/>
                </a:lnTo>
                <a:cubicBezTo>
                  <a:pt x="168592" y="432018"/>
                  <a:pt x="174129" y="444431"/>
                  <a:pt x="185202" y="448628"/>
                </a:cubicBezTo>
                <a:cubicBezTo>
                  <a:pt x="196275" y="452824"/>
                  <a:pt x="208687" y="447377"/>
                  <a:pt x="212884" y="436305"/>
                </a:cubicBezTo>
                <a:lnTo>
                  <a:pt x="218152" y="422642"/>
                </a:lnTo>
                <a:cubicBezTo>
                  <a:pt x="239226" y="367814"/>
                  <a:pt x="250031" y="309592"/>
                  <a:pt x="250031" y="250835"/>
                </a:cubicBezTo>
                <a:lnTo>
                  <a:pt x="250031" y="22860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rgbClr val="000000"/>
              </a:solidFill>
              <a:latin typeface="Calibri"/>
              <a:ea typeface="Calibri"/>
              <a:cs typeface="Calibri"/>
              <a:sym typeface="Calibri"/>
            </a:endParaRPr>
          </a:p>
        </p:txBody>
      </p:sp>
      <p:pic>
        <p:nvPicPr>
          <p:cNvPr id="118" name="Google Shape;118;g3b062dcf409_1_47" title="Imagen 2.png"/>
          <p:cNvPicPr preferRelativeResize="0"/>
          <p:nvPr/>
        </p:nvPicPr>
        <p:blipFill>
          <a:blip r:embed="rId4">
            <a:alphaModFix/>
          </a:blip>
          <a:stretch>
            <a:fillRect/>
          </a:stretch>
        </p:blipFill>
        <p:spPr>
          <a:xfrm>
            <a:off x="1895195" y="5620725"/>
            <a:ext cx="490549" cy="490549"/>
          </a:xfrm>
          <a:prstGeom prst="rect">
            <a:avLst/>
          </a:prstGeom>
          <a:noFill/>
          <a:ln>
            <a:noFill/>
          </a:ln>
        </p:spPr>
      </p:pic>
      <p:pic>
        <p:nvPicPr>
          <p:cNvPr id="119" name="Google Shape;119;g3b062dcf409_1_47" title="Imagen.png"/>
          <p:cNvPicPr preferRelativeResize="0"/>
          <p:nvPr/>
        </p:nvPicPr>
        <p:blipFill>
          <a:blip r:embed="rId5">
            <a:alphaModFix/>
          </a:blip>
          <a:stretch>
            <a:fillRect/>
          </a:stretch>
        </p:blipFill>
        <p:spPr>
          <a:xfrm>
            <a:off x="2006825" y="4052137"/>
            <a:ext cx="314324" cy="314324"/>
          </a:xfrm>
          <a:prstGeom prst="rect">
            <a:avLst/>
          </a:prstGeom>
          <a:noFill/>
          <a:ln>
            <a:noFill/>
          </a:ln>
        </p:spPr>
      </p:pic>
      <p:pic>
        <p:nvPicPr>
          <p:cNvPr id="120" name="Google Shape;120;g3b062dcf409_1_47" title="Imagen 1.png"/>
          <p:cNvPicPr preferRelativeResize="0"/>
          <p:nvPr/>
        </p:nvPicPr>
        <p:blipFill>
          <a:blip r:embed="rId6">
            <a:alphaModFix/>
          </a:blip>
          <a:stretch>
            <a:fillRect/>
          </a:stretch>
        </p:blipFill>
        <p:spPr>
          <a:xfrm>
            <a:off x="1994688" y="4625825"/>
            <a:ext cx="338600" cy="338600"/>
          </a:xfrm>
          <a:prstGeom prst="rect">
            <a:avLst/>
          </a:prstGeom>
          <a:noFill/>
          <a:ln>
            <a:noFill/>
          </a:ln>
        </p:spPr>
      </p:pic>
      <p:pic>
        <p:nvPicPr>
          <p:cNvPr id="121" name="Google Shape;121;g3b062dcf409_1_47" title="File_Cholinergic synapse_svg - Wikipedia.jpeg"/>
          <p:cNvPicPr preferRelativeResize="0"/>
          <p:nvPr/>
        </p:nvPicPr>
        <p:blipFill rotWithShape="1">
          <a:blip r:embed="rId7">
            <a:alphaModFix/>
          </a:blip>
          <a:srcRect b="0" l="0" r="0" t="9861"/>
          <a:stretch/>
        </p:blipFill>
        <p:spPr>
          <a:xfrm>
            <a:off x="7385400" y="3027388"/>
            <a:ext cx="2370575" cy="3535476"/>
          </a:xfrm>
          <a:prstGeom prst="rect">
            <a:avLst/>
          </a:prstGeom>
          <a:noFill/>
          <a:ln cap="flat" cmpd="sng" w="28575">
            <a:solidFill>
              <a:schemeClr val="lt1"/>
            </a:solidFill>
            <a:prstDash val="solid"/>
            <a:round/>
            <a:headEnd len="sm" w="sm" type="none"/>
            <a:tailEnd len="sm" w="sm" type="none"/>
          </a:ln>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 name="Shape 126"/>
        <p:cNvGrpSpPr/>
        <p:nvPr/>
      </p:nvGrpSpPr>
      <p:grpSpPr>
        <a:xfrm>
          <a:off x="0" y="0"/>
          <a:ext cx="0" cy="0"/>
          <a:chOff x="0" y="0"/>
          <a:chExt cx="0" cy="0"/>
        </a:xfrm>
      </p:grpSpPr>
      <p:sp>
        <p:nvSpPr>
          <p:cNvPr id="127" name="Google Shape;127;g3b073b97ef7_0_29"/>
          <p:cNvSpPr/>
          <p:nvPr/>
        </p:nvSpPr>
        <p:spPr>
          <a:xfrm rot="5939221">
            <a:off x="367677" y="335985"/>
            <a:ext cx="558861" cy="595013"/>
          </a:xfrm>
          <a:prstGeom prst="donut">
            <a:avLst>
              <a:gd fmla="val 25000" name="adj"/>
            </a:avLst>
          </a:prstGeom>
          <a:gradFill>
            <a:gsLst>
              <a:gs pos="0">
                <a:srgbClr val="402E7F"/>
              </a:gs>
              <a:gs pos="54000">
                <a:srgbClr val="BC7DB7">
                  <a:alpha val="2745"/>
                </a:srgbClr>
              </a:gs>
              <a:gs pos="100000">
                <a:srgbClr val="BC7DB7">
                  <a:alpha val="2745"/>
                </a:srgbClr>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3b073b97ef7_0_29"/>
          <p:cNvSpPr/>
          <p:nvPr/>
        </p:nvSpPr>
        <p:spPr>
          <a:xfrm rot="5939221">
            <a:off x="367677" y="335985"/>
            <a:ext cx="558861" cy="595013"/>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129" name="Google Shape;129;g3b073b97ef7_0_29"/>
          <p:cNvSpPr/>
          <p:nvPr/>
        </p:nvSpPr>
        <p:spPr>
          <a:xfrm>
            <a:off x="4445" y="0"/>
            <a:ext cx="12187500" cy="6875700"/>
          </a:xfrm>
          <a:prstGeom prst="rect">
            <a:avLst/>
          </a:prstGeom>
          <a:gradFill>
            <a:gsLst>
              <a:gs pos="0">
                <a:srgbClr val="D7B1D4"/>
              </a:gs>
              <a:gs pos="34000">
                <a:srgbClr val="BC7DB7"/>
              </a:gs>
              <a:gs pos="100000">
                <a:srgbClr val="30225F"/>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g3b073b97ef7_0_29"/>
          <p:cNvSpPr/>
          <p:nvPr/>
        </p:nvSpPr>
        <p:spPr>
          <a:xfrm>
            <a:off x="4445" y="0"/>
            <a:ext cx="12187500" cy="68757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131" name="Google Shape;131;g3b073b97ef7_0_29"/>
          <p:cNvSpPr/>
          <p:nvPr/>
        </p:nvSpPr>
        <p:spPr>
          <a:xfrm>
            <a:off x="852805" y="469900"/>
            <a:ext cx="106800" cy="1068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3b073b97ef7_0_29"/>
          <p:cNvSpPr/>
          <p:nvPr/>
        </p:nvSpPr>
        <p:spPr>
          <a:xfrm>
            <a:off x="852805" y="469900"/>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133" name="Google Shape;133;g3b073b97ef7_0_29"/>
          <p:cNvSpPr/>
          <p:nvPr/>
        </p:nvSpPr>
        <p:spPr>
          <a:xfrm>
            <a:off x="1136650" y="469900"/>
            <a:ext cx="106800" cy="10680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b073b97ef7_0_29"/>
          <p:cNvSpPr/>
          <p:nvPr/>
        </p:nvSpPr>
        <p:spPr>
          <a:xfrm>
            <a:off x="1136650" y="469900"/>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135" name="Google Shape;135;g3b073b97ef7_0_29"/>
          <p:cNvSpPr/>
          <p:nvPr/>
        </p:nvSpPr>
        <p:spPr>
          <a:xfrm>
            <a:off x="1420495" y="469900"/>
            <a:ext cx="106800" cy="1068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b073b97ef7_0_29"/>
          <p:cNvSpPr/>
          <p:nvPr/>
        </p:nvSpPr>
        <p:spPr>
          <a:xfrm>
            <a:off x="1420495" y="469900"/>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137" name="Google Shape;137;g3b073b97ef7_0_29"/>
          <p:cNvSpPr/>
          <p:nvPr/>
        </p:nvSpPr>
        <p:spPr>
          <a:xfrm>
            <a:off x="1704340" y="469900"/>
            <a:ext cx="106800" cy="10680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3b073b97ef7_0_29"/>
          <p:cNvSpPr/>
          <p:nvPr/>
        </p:nvSpPr>
        <p:spPr>
          <a:xfrm>
            <a:off x="1704340" y="469900"/>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139" name="Google Shape;139;g3b073b97ef7_0_29"/>
          <p:cNvSpPr/>
          <p:nvPr/>
        </p:nvSpPr>
        <p:spPr>
          <a:xfrm>
            <a:off x="1988185" y="469900"/>
            <a:ext cx="106800" cy="1068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b073b97ef7_0_29"/>
          <p:cNvSpPr/>
          <p:nvPr/>
        </p:nvSpPr>
        <p:spPr>
          <a:xfrm>
            <a:off x="1988185" y="469900"/>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141" name="Google Shape;141;g3b073b97ef7_0_29"/>
          <p:cNvSpPr/>
          <p:nvPr/>
        </p:nvSpPr>
        <p:spPr>
          <a:xfrm>
            <a:off x="2272030" y="469900"/>
            <a:ext cx="106800" cy="10680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b073b97ef7_0_29"/>
          <p:cNvSpPr/>
          <p:nvPr/>
        </p:nvSpPr>
        <p:spPr>
          <a:xfrm>
            <a:off x="2272030" y="469900"/>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143" name="Google Shape;143;g3b073b97ef7_0_29"/>
          <p:cNvSpPr/>
          <p:nvPr/>
        </p:nvSpPr>
        <p:spPr>
          <a:xfrm>
            <a:off x="11456035" y="381635"/>
            <a:ext cx="351300" cy="438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g3b073b97ef7_0_29"/>
          <p:cNvSpPr/>
          <p:nvPr/>
        </p:nvSpPr>
        <p:spPr>
          <a:xfrm>
            <a:off x="11456035" y="381635"/>
            <a:ext cx="351300" cy="43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145" name="Google Shape;145;g3b073b97ef7_0_29"/>
          <p:cNvSpPr/>
          <p:nvPr/>
        </p:nvSpPr>
        <p:spPr>
          <a:xfrm>
            <a:off x="11456035" y="501650"/>
            <a:ext cx="351300" cy="438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3b073b97ef7_0_29"/>
          <p:cNvSpPr/>
          <p:nvPr/>
        </p:nvSpPr>
        <p:spPr>
          <a:xfrm>
            <a:off x="11456035" y="501650"/>
            <a:ext cx="351300" cy="43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147" name="Google Shape;147;g3b073b97ef7_0_29"/>
          <p:cNvSpPr/>
          <p:nvPr/>
        </p:nvSpPr>
        <p:spPr>
          <a:xfrm>
            <a:off x="11456035" y="621665"/>
            <a:ext cx="351300" cy="438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b073b97ef7_0_29"/>
          <p:cNvSpPr/>
          <p:nvPr/>
        </p:nvSpPr>
        <p:spPr>
          <a:xfrm>
            <a:off x="11456035" y="621665"/>
            <a:ext cx="351300" cy="43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cxnSp>
        <p:nvCxnSpPr>
          <p:cNvPr id="149" name="Google Shape;149;g3b073b97ef7_0_29"/>
          <p:cNvCxnSpPr/>
          <p:nvPr/>
        </p:nvCxnSpPr>
        <p:spPr>
          <a:xfrm>
            <a:off x="1727190" y="6306820"/>
            <a:ext cx="10080000" cy="0"/>
          </a:xfrm>
          <a:prstGeom prst="straightConnector1">
            <a:avLst/>
          </a:prstGeom>
          <a:noFill/>
          <a:ln cap="flat" cmpd="sng" w="19050">
            <a:solidFill>
              <a:srgbClr val="FFFFFF"/>
            </a:solidFill>
            <a:prstDash val="solid"/>
            <a:round/>
            <a:headEnd len="sm" w="sm" type="none"/>
            <a:tailEnd len="sm" w="sm" type="none"/>
          </a:ln>
        </p:spPr>
      </p:cxnSp>
      <p:sp>
        <p:nvSpPr>
          <p:cNvPr id="150" name="Google Shape;150;g3b073b97ef7_0_29"/>
          <p:cNvSpPr/>
          <p:nvPr/>
        </p:nvSpPr>
        <p:spPr>
          <a:xfrm>
            <a:off x="852805" y="6177280"/>
            <a:ext cx="259200" cy="259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b073b97ef7_0_29"/>
          <p:cNvSpPr/>
          <p:nvPr/>
        </p:nvSpPr>
        <p:spPr>
          <a:xfrm>
            <a:off x="852805" y="6177280"/>
            <a:ext cx="259200" cy="2592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152" name="Google Shape;152;g3b073b97ef7_0_29"/>
          <p:cNvSpPr/>
          <p:nvPr/>
        </p:nvSpPr>
        <p:spPr>
          <a:xfrm>
            <a:off x="979805" y="6177280"/>
            <a:ext cx="259200" cy="25920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3b073b97ef7_0_29"/>
          <p:cNvSpPr/>
          <p:nvPr/>
        </p:nvSpPr>
        <p:spPr>
          <a:xfrm>
            <a:off x="979805" y="6177280"/>
            <a:ext cx="259200" cy="2592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154" name="Google Shape;154;g3b073b97ef7_0_29"/>
          <p:cNvSpPr/>
          <p:nvPr/>
        </p:nvSpPr>
        <p:spPr>
          <a:xfrm>
            <a:off x="541655" y="2687320"/>
            <a:ext cx="11172900" cy="23070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3b073b97ef7_0_29"/>
          <p:cNvSpPr/>
          <p:nvPr/>
        </p:nvSpPr>
        <p:spPr>
          <a:xfrm>
            <a:off x="541655" y="2687320"/>
            <a:ext cx="11172900" cy="2307000"/>
          </a:xfrm>
          <a:prstGeom prst="rect">
            <a:avLst/>
          </a:prstGeom>
          <a:noFill/>
          <a:ln>
            <a:noFill/>
          </a:ln>
        </p:spPr>
        <p:txBody>
          <a:bodyPr anchorCtr="0" anchor="t" bIns="45700" lIns="45700" spcFirstLastPara="1" rIns="91425" wrap="square" tIns="91425">
            <a:noAutofit/>
          </a:bodyPr>
          <a:lstStyle/>
          <a:p>
            <a:pPr indent="0" lvl="0" marL="0" marR="0" rtl="0" algn="ctr">
              <a:lnSpc>
                <a:spcPct val="100000"/>
              </a:lnSpc>
              <a:spcBef>
                <a:spcPts val="0"/>
              </a:spcBef>
              <a:spcAft>
                <a:spcPts val="0"/>
              </a:spcAft>
              <a:buNone/>
            </a:pPr>
            <a:r>
              <a:rPr b="1" lang="en-US" sz="7200">
                <a:solidFill>
                  <a:srgbClr val="FFFFFF"/>
                </a:solidFill>
              </a:rPr>
              <a:t>Data Preparation</a:t>
            </a:r>
            <a:endParaRPr b="0" i="0" sz="1600" u="none" cap="none" strike="noStrike"/>
          </a:p>
        </p:txBody>
      </p:sp>
      <p:sp>
        <p:nvSpPr>
          <p:cNvPr id="156" name="Google Shape;156;g3b073b97ef7_0_29"/>
          <p:cNvSpPr/>
          <p:nvPr/>
        </p:nvSpPr>
        <p:spPr>
          <a:xfrm>
            <a:off x="2515235" y="1350010"/>
            <a:ext cx="7161600" cy="1098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7200" u="none" cap="none" strike="noStrike">
                <a:solidFill>
                  <a:srgbClr val="FFFFFF"/>
                </a:solidFill>
                <a:latin typeface="Arial"/>
                <a:ea typeface="Arial"/>
                <a:cs typeface="Arial"/>
                <a:sym typeface="Arial"/>
              </a:rPr>
              <a:t>0</a:t>
            </a:r>
            <a:r>
              <a:rPr lang="en-US" sz="7200">
                <a:solidFill>
                  <a:srgbClr val="FFFFFF"/>
                </a:solidFill>
              </a:rPr>
              <a:t>2</a:t>
            </a:r>
            <a:endParaRPr b="0" i="0" sz="1600" u="none" cap="none" strike="noStrike"/>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161" name="Shape 161"/>
        <p:cNvGrpSpPr/>
        <p:nvPr/>
      </p:nvGrpSpPr>
      <p:grpSpPr>
        <a:xfrm>
          <a:off x="0" y="0"/>
          <a:ext cx="0" cy="0"/>
          <a:chOff x="0" y="0"/>
          <a:chExt cx="0" cy="0"/>
        </a:xfrm>
      </p:grpSpPr>
      <p:sp>
        <p:nvSpPr>
          <p:cNvPr id="162" name="Google Shape;162;p5"/>
          <p:cNvSpPr/>
          <p:nvPr/>
        </p:nvSpPr>
        <p:spPr>
          <a:xfrm rot="5940000">
            <a:off x="367665" y="335915"/>
            <a:ext cx="558800" cy="594995"/>
          </a:xfrm>
          <a:prstGeom prst="donut">
            <a:avLst>
              <a:gd fmla="val 25000" name="adj"/>
            </a:avLst>
          </a:prstGeom>
          <a:gradFill>
            <a:gsLst>
              <a:gs pos="0">
                <a:srgbClr val="402E7F"/>
              </a:gs>
              <a:gs pos="54000">
                <a:srgbClr val="BC7DB7">
                  <a:alpha val="2745"/>
                </a:srgbClr>
              </a:gs>
              <a:gs pos="100000">
                <a:srgbClr val="BC7DB7">
                  <a:alpha val="2745"/>
                </a:srgbClr>
              </a:gs>
            </a:gsLst>
            <a:lin ang="189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rot="5940000">
            <a:off x="367665" y="335915"/>
            <a:ext cx="558800" cy="594995"/>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pic>
        <p:nvPicPr>
          <p:cNvPr descr="https://kimi-img.moonshot.cn/pub/slides/slides_tmpl/image/25-09-08-15:08:29-d2v81rdnfo2stf9dkdb0.jpg" id="164" name="Google Shape;164;p5"/>
          <p:cNvPicPr preferRelativeResize="0"/>
          <p:nvPr/>
        </p:nvPicPr>
        <p:blipFill rotWithShape="1">
          <a:blip r:embed="rId3">
            <a:alphaModFix/>
          </a:blip>
          <a:srcRect b="0" l="0" r="0" t="0"/>
          <a:stretch/>
        </p:blipFill>
        <p:spPr>
          <a:xfrm>
            <a:off x="-158750" y="-6350"/>
            <a:ext cx="12350750" cy="6960235"/>
          </a:xfrm>
          <a:prstGeom prst="rect">
            <a:avLst/>
          </a:prstGeom>
          <a:noFill/>
          <a:ln>
            <a:noFill/>
          </a:ln>
        </p:spPr>
      </p:pic>
      <p:sp>
        <p:nvSpPr>
          <p:cNvPr id="165" name="Google Shape;165;p5"/>
          <p:cNvSpPr/>
          <p:nvPr/>
        </p:nvSpPr>
        <p:spPr>
          <a:xfrm>
            <a:off x="158700" y="1301125"/>
            <a:ext cx="11874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3300">
                <a:solidFill>
                  <a:srgbClr val="8F5C9A"/>
                </a:solidFill>
                <a:latin typeface="Noto Sans SC"/>
                <a:ea typeface="Noto Sans SC"/>
                <a:cs typeface="Noto Sans SC"/>
                <a:sym typeface="Noto Sans SC"/>
              </a:rPr>
              <a:t>Data Loading &amp; Filtration</a:t>
            </a:r>
            <a:endParaRPr b="0" i="0" sz="1900" u="none" cap="none" strike="noStrike"/>
          </a:p>
        </p:txBody>
      </p:sp>
      <p:sp>
        <p:nvSpPr>
          <p:cNvPr id="166" name="Google Shape;166;p5"/>
          <p:cNvSpPr/>
          <p:nvPr/>
        </p:nvSpPr>
        <p:spPr>
          <a:xfrm>
            <a:off x="918000" y="2103550"/>
            <a:ext cx="103560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lang="en-US" sz="1800">
                <a:solidFill>
                  <a:srgbClr val="3C3542"/>
                </a:solidFill>
              </a:rPr>
              <a:t>We mined the </a:t>
            </a:r>
            <a:r>
              <a:rPr b="1" lang="en-US" sz="1800">
                <a:solidFill>
                  <a:srgbClr val="3C3542"/>
                </a:solidFill>
              </a:rPr>
              <a:t>ChEMBL Database</a:t>
            </a:r>
            <a:r>
              <a:rPr lang="en-US" sz="1800">
                <a:solidFill>
                  <a:srgbClr val="3C3542"/>
                </a:solidFill>
              </a:rPr>
              <a:t> and applied rigorous filters to ensure high-quality training data</a:t>
            </a:r>
            <a:endParaRPr b="0" i="0" sz="1800" u="none" cap="none" strike="noStrike"/>
          </a:p>
        </p:txBody>
      </p:sp>
      <p:sp>
        <p:nvSpPr>
          <p:cNvPr id="167" name="Google Shape;167;p5"/>
          <p:cNvSpPr/>
          <p:nvPr/>
        </p:nvSpPr>
        <p:spPr>
          <a:xfrm>
            <a:off x="984608" y="2948425"/>
            <a:ext cx="2940939" cy="3043936"/>
          </a:xfrm>
          <a:custGeom>
            <a:rect b="b" l="l" r="r" t="t"/>
            <a:pathLst>
              <a:path extrusionOk="0" h="1422400" w="1574800">
                <a:moveTo>
                  <a:pt x="101602" y="0"/>
                </a:moveTo>
                <a:lnTo>
                  <a:pt x="1473198" y="0"/>
                </a:lnTo>
                <a:cubicBezTo>
                  <a:pt x="1529311" y="0"/>
                  <a:pt x="1574800" y="45489"/>
                  <a:pt x="1574800" y="101602"/>
                </a:cubicBezTo>
                <a:lnTo>
                  <a:pt x="1574800" y="1320798"/>
                </a:lnTo>
                <a:cubicBezTo>
                  <a:pt x="1574800" y="1376911"/>
                  <a:pt x="1529311" y="1422400"/>
                  <a:pt x="1473198" y="1422400"/>
                </a:cubicBezTo>
                <a:lnTo>
                  <a:pt x="101602" y="1422400"/>
                </a:lnTo>
                <a:cubicBezTo>
                  <a:pt x="45489" y="1422400"/>
                  <a:pt x="0" y="1376911"/>
                  <a:pt x="0" y="1320798"/>
                </a:cubicBezTo>
                <a:lnTo>
                  <a:pt x="0" y="101602"/>
                </a:lnTo>
                <a:cubicBezTo>
                  <a:pt x="0" y="45526"/>
                  <a:pt x="45526" y="0"/>
                  <a:pt x="101602" y="0"/>
                </a:cubicBezTo>
                <a:close/>
              </a:path>
            </a:pathLst>
          </a:custGeom>
          <a:solidFill>
            <a:srgbClr val="D3B9D7">
              <a:alpha val="2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
          <p:cNvSpPr/>
          <p:nvPr/>
        </p:nvSpPr>
        <p:spPr>
          <a:xfrm>
            <a:off x="1376125" y="4133775"/>
            <a:ext cx="2157900" cy="2031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t/>
            </a:r>
            <a:endParaRPr b="1" i="0" sz="1600" u="none" cap="none" strike="noStrike"/>
          </a:p>
        </p:txBody>
      </p:sp>
      <p:sp>
        <p:nvSpPr>
          <p:cNvPr id="169" name="Google Shape;169;p5"/>
          <p:cNvSpPr/>
          <p:nvPr/>
        </p:nvSpPr>
        <p:spPr>
          <a:xfrm>
            <a:off x="1474525" y="4504875"/>
            <a:ext cx="1961100" cy="9768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lang="en-US" sz="1600">
                <a:solidFill>
                  <a:srgbClr val="3C3542"/>
                </a:solidFill>
              </a:rPr>
              <a:t>Retained only IC50 assays (Standard Potency)</a:t>
            </a:r>
            <a:endParaRPr b="0" i="0" sz="1600" u="none" cap="none" strike="noStrike"/>
          </a:p>
        </p:txBody>
      </p:sp>
      <p:sp>
        <p:nvSpPr>
          <p:cNvPr id="170" name="Google Shape;170;p5"/>
          <p:cNvSpPr/>
          <p:nvPr/>
        </p:nvSpPr>
        <p:spPr>
          <a:xfrm>
            <a:off x="4546158" y="2948425"/>
            <a:ext cx="2940939" cy="3043936"/>
          </a:xfrm>
          <a:custGeom>
            <a:rect b="b" l="l" r="r" t="t"/>
            <a:pathLst>
              <a:path extrusionOk="0" h="1422400" w="1574800">
                <a:moveTo>
                  <a:pt x="101602" y="0"/>
                </a:moveTo>
                <a:lnTo>
                  <a:pt x="1473198" y="0"/>
                </a:lnTo>
                <a:cubicBezTo>
                  <a:pt x="1529311" y="0"/>
                  <a:pt x="1574800" y="45489"/>
                  <a:pt x="1574800" y="101602"/>
                </a:cubicBezTo>
                <a:lnTo>
                  <a:pt x="1574800" y="1320798"/>
                </a:lnTo>
                <a:cubicBezTo>
                  <a:pt x="1574800" y="1376911"/>
                  <a:pt x="1529311" y="1422400"/>
                  <a:pt x="1473198" y="1422400"/>
                </a:cubicBezTo>
                <a:lnTo>
                  <a:pt x="101602" y="1422400"/>
                </a:lnTo>
                <a:cubicBezTo>
                  <a:pt x="45489" y="1422400"/>
                  <a:pt x="0" y="1376911"/>
                  <a:pt x="0" y="1320798"/>
                </a:cubicBezTo>
                <a:lnTo>
                  <a:pt x="0" y="101602"/>
                </a:lnTo>
                <a:cubicBezTo>
                  <a:pt x="0" y="45526"/>
                  <a:pt x="45526" y="0"/>
                  <a:pt x="101602" y="0"/>
                </a:cubicBezTo>
                <a:close/>
              </a:path>
            </a:pathLst>
          </a:custGeom>
          <a:solidFill>
            <a:srgbClr val="D3B9D7">
              <a:alpha val="2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
          <p:cNvSpPr/>
          <p:nvPr/>
        </p:nvSpPr>
        <p:spPr>
          <a:xfrm>
            <a:off x="8107708" y="2948425"/>
            <a:ext cx="2940939" cy="3043936"/>
          </a:xfrm>
          <a:custGeom>
            <a:rect b="b" l="l" r="r" t="t"/>
            <a:pathLst>
              <a:path extrusionOk="0" h="1422400" w="1574800">
                <a:moveTo>
                  <a:pt x="101602" y="0"/>
                </a:moveTo>
                <a:lnTo>
                  <a:pt x="1473198" y="0"/>
                </a:lnTo>
                <a:cubicBezTo>
                  <a:pt x="1529311" y="0"/>
                  <a:pt x="1574800" y="45489"/>
                  <a:pt x="1574800" y="101602"/>
                </a:cubicBezTo>
                <a:lnTo>
                  <a:pt x="1574800" y="1320798"/>
                </a:lnTo>
                <a:cubicBezTo>
                  <a:pt x="1574800" y="1376911"/>
                  <a:pt x="1529311" y="1422400"/>
                  <a:pt x="1473198" y="1422400"/>
                </a:cubicBezTo>
                <a:lnTo>
                  <a:pt x="101602" y="1422400"/>
                </a:lnTo>
                <a:cubicBezTo>
                  <a:pt x="45489" y="1422400"/>
                  <a:pt x="0" y="1376911"/>
                  <a:pt x="0" y="1320798"/>
                </a:cubicBezTo>
                <a:lnTo>
                  <a:pt x="0" y="101602"/>
                </a:lnTo>
                <a:cubicBezTo>
                  <a:pt x="0" y="45526"/>
                  <a:pt x="45526" y="0"/>
                  <a:pt x="101602" y="0"/>
                </a:cubicBezTo>
                <a:close/>
              </a:path>
            </a:pathLst>
          </a:custGeom>
          <a:solidFill>
            <a:srgbClr val="D3B9D7">
              <a:alpha val="2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p:nvPr/>
        </p:nvSpPr>
        <p:spPr>
          <a:xfrm>
            <a:off x="2226463" y="3411375"/>
            <a:ext cx="457200" cy="457200"/>
          </a:xfrm>
          <a:custGeom>
            <a:rect b="b" l="l" r="r" t="t"/>
            <a:pathLst>
              <a:path extrusionOk="0" h="457200" w="457200">
                <a:moveTo>
                  <a:pt x="28575" y="57150"/>
                </a:moveTo>
                <a:cubicBezTo>
                  <a:pt x="17056" y="57150"/>
                  <a:pt x="6608" y="64115"/>
                  <a:pt x="2143" y="74831"/>
                </a:cubicBezTo>
                <a:cubicBezTo>
                  <a:pt x="-2322" y="85546"/>
                  <a:pt x="179" y="97780"/>
                  <a:pt x="8394" y="105906"/>
                </a:cubicBezTo>
                <a:lnTo>
                  <a:pt x="171450" y="269051"/>
                </a:lnTo>
                <a:lnTo>
                  <a:pt x="171450" y="371475"/>
                </a:lnTo>
                <a:cubicBezTo>
                  <a:pt x="171450" y="379065"/>
                  <a:pt x="174486" y="386298"/>
                  <a:pt x="179844" y="391656"/>
                </a:cubicBezTo>
                <a:lnTo>
                  <a:pt x="236994" y="448806"/>
                </a:lnTo>
                <a:cubicBezTo>
                  <a:pt x="245209" y="457021"/>
                  <a:pt x="257443" y="459432"/>
                  <a:pt x="268159" y="454968"/>
                </a:cubicBezTo>
                <a:cubicBezTo>
                  <a:pt x="278874" y="450503"/>
                  <a:pt x="285750" y="440144"/>
                  <a:pt x="285750" y="428625"/>
                </a:cubicBezTo>
                <a:lnTo>
                  <a:pt x="285750" y="269051"/>
                </a:lnTo>
                <a:lnTo>
                  <a:pt x="448806" y="105995"/>
                </a:lnTo>
                <a:cubicBezTo>
                  <a:pt x="457021" y="97780"/>
                  <a:pt x="459432" y="85546"/>
                  <a:pt x="454968" y="74831"/>
                </a:cubicBezTo>
                <a:cubicBezTo>
                  <a:pt x="450503" y="64115"/>
                  <a:pt x="440144" y="57150"/>
                  <a:pt x="428625" y="57150"/>
                </a:cubicBezTo>
                <a:lnTo>
                  <a:pt x="28575" y="57150"/>
                </a:lnTo>
                <a:close/>
              </a:path>
            </a:pathLst>
          </a:custGeom>
          <a:solidFill>
            <a:srgbClr val="8F5C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
          <p:cNvSpPr/>
          <p:nvPr/>
        </p:nvSpPr>
        <p:spPr>
          <a:xfrm>
            <a:off x="5730880" y="3411375"/>
            <a:ext cx="571500" cy="457200"/>
          </a:xfrm>
          <a:custGeom>
            <a:rect b="b" l="l" r="r" t="t"/>
            <a:pathLst>
              <a:path extrusionOk="0" h="457200" w="571500">
                <a:moveTo>
                  <a:pt x="342900" y="28575"/>
                </a:moveTo>
                <a:lnTo>
                  <a:pt x="457200" y="28575"/>
                </a:lnTo>
                <a:cubicBezTo>
                  <a:pt x="473006" y="28575"/>
                  <a:pt x="485775" y="41344"/>
                  <a:pt x="485775" y="57150"/>
                </a:cubicBezTo>
                <a:cubicBezTo>
                  <a:pt x="485775" y="72956"/>
                  <a:pt x="473006" y="85725"/>
                  <a:pt x="457200" y="85725"/>
                </a:cubicBezTo>
                <a:lnTo>
                  <a:pt x="355759" y="85725"/>
                </a:lnTo>
                <a:cubicBezTo>
                  <a:pt x="351115" y="108764"/>
                  <a:pt x="335310" y="127784"/>
                  <a:pt x="314325" y="136892"/>
                </a:cubicBezTo>
                <a:lnTo>
                  <a:pt x="314325" y="400050"/>
                </a:lnTo>
                <a:lnTo>
                  <a:pt x="457200" y="400050"/>
                </a:lnTo>
                <a:cubicBezTo>
                  <a:pt x="473006" y="400050"/>
                  <a:pt x="485775" y="412819"/>
                  <a:pt x="485775" y="428625"/>
                </a:cubicBezTo>
                <a:cubicBezTo>
                  <a:pt x="485775" y="444431"/>
                  <a:pt x="473006" y="457200"/>
                  <a:pt x="457200" y="457200"/>
                </a:cubicBezTo>
                <a:lnTo>
                  <a:pt x="114300" y="457200"/>
                </a:lnTo>
                <a:cubicBezTo>
                  <a:pt x="98494" y="457200"/>
                  <a:pt x="85725" y="444431"/>
                  <a:pt x="85725" y="428625"/>
                </a:cubicBezTo>
                <a:cubicBezTo>
                  <a:pt x="85725" y="412819"/>
                  <a:pt x="98494" y="400050"/>
                  <a:pt x="114300" y="400050"/>
                </a:cubicBezTo>
                <a:lnTo>
                  <a:pt x="257175" y="400050"/>
                </a:lnTo>
                <a:lnTo>
                  <a:pt x="257175" y="136892"/>
                </a:lnTo>
                <a:cubicBezTo>
                  <a:pt x="236190" y="127695"/>
                  <a:pt x="220385" y="108674"/>
                  <a:pt x="215741" y="85725"/>
                </a:cubicBezTo>
                <a:lnTo>
                  <a:pt x="114300" y="85725"/>
                </a:lnTo>
                <a:cubicBezTo>
                  <a:pt x="98494" y="85725"/>
                  <a:pt x="85725" y="72956"/>
                  <a:pt x="85725" y="57150"/>
                </a:cubicBezTo>
                <a:cubicBezTo>
                  <a:pt x="85725" y="41344"/>
                  <a:pt x="98494" y="28575"/>
                  <a:pt x="114300" y="28575"/>
                </a:cubicBezTo>
                <a:lnTo>
                  <a:pt x="228600" y="28575"/>
                </a:lnTo>
                <a:cubicBezTo>
                  <a:pt x="241637" y="11251"/>
                  <a:pt x="262354" y="0"/>
                  <a:pt x="285750" y="0"/>
                </a:cubicBezTo>
                <a:cubicBezTo>
                  <a:pt x="309146" y="0"/>
                  <a:pt x="329863" y="11251"/>
                  <a:pt x="342900" y="28575"/>
                </a:cubicBezTo>
                <a:close/>
                <a:moveTo>
                  <a:pt x="392549" y="285750"/>
                </a:moveTo>
                <a:lnTo>
                  <a:pt x="521851" y="285750"/>
                </a:lnTo>
                <a:lnTo>
                  <a:pt x="457200" y="174843"/>
                </a:lnTo>
                <a:lnTo>
                  <a:pt x="392549" y="285750"/>
                </a:lnTo>
                <a:close/>
                <a:moveTo>
                  <a:pt x="457200" y="371475"/>
                </a:moveTo>
                <a:cubicBezTo>
                  <a:pt x="401032" y="371475"/>
                  <a:pt x="354330" y="341114"/>
                  <a:pt x="344686" y="301020"/>
                </a:cubicBezTo>
                <a:cubicBezTo>
                  <a:pt x="342364" y="291197"/>
                  <a:pt x="345579" y="281107"/>
                  <a:pt x="350669" y="272355"/>
                </a:cubicBezTo>
                <a:lnTo>
                  <a:pt x="435679" y="126623"/>
                </a:lnTo>
                <a:cubicBezTo>
                  <a:pt x="440144" y="118943"/>
                  <a:pt x="448360" y="114300"/>
                  <a:pt x="457200" y="114300"/>
                </a:cubicBezTo>
                <a:cubicBezTo>
                  <a:pt x="466040" y="114300"/>
                  <a:pt x="474256" y="119033"/>
                  <a:pt x="478721" y="126623"/>
                </a:cubicBezTo>
                <a:lnTo>
                  <a:pt x="563731" y="272355"/>
                </a:lnTo>
                <a:cubicBezTo>
                  <a:pt x="568821" y="281107"/>
                  <a:pt x="572036" y="291197"/>
                  <a:pt x="569714" y="301020"/>
                </a:cubicBezTo>
                <a:cubicBezTo>
                  <a:pt x="560070" y="341025"/>
                  <a:pt x="513368" y="371475"/>
                  <a:pt x="457200" y="371475"/>
                </a:cubicBezTo>
                <a:close/>
                <a:moveTo>
                  <a:pt x="113228" y="174843"/>
                </a:moveTo>
                <a:lnTo>
                  <a:pt x="48578" y="285750"/>
                </a:lnTo>
                <a:lnTo>
                  <a:pt x="177969" y="285750"/>
                </a:lnTo>
                <a:lnTo>
                  <a:pt x="113228" y="174843"/>
                </a:lnTo>
                <a:close/>
                <a:moveTo>
                  <a:pt x="804" y="301020"/>
                </a:moveTo>
                <a:cubicBezTo>
                  <a:pt x="-1518" y="291197"/>
                  <a:pt x="1697" y="281107"/>
                  <a:pt x="6787" y="272355"/>
                </a:cubicBezTo>
                <a:lnTo>
                  <a:pt x="91797" y="126623"/>
                </a:lnTo>
                <a:cubicBezTo>
                  <a:pt x="96262" y="118943"/>
                  <a:pt x="104477" y="114300"/>
                  <a:pt x="113318" y="114300"/>
                </a:cubicBezTo>
                <a:cubicBezTo>
                  <a:pt x="122158" y="114300"/>
                  <a:pt x="130373" y="119033"/>
                  <a:pt x="134838" y="126623"/>
                </a:cubicBezTo>
                <a:lnTo>
                  <a:pt x="219849" y="272355"/>
                </a:lnTo>
                <a:cubicBezTo>
                  <a:pt x="224939" y="281107"/>
                  <a:pt x="228154" y="291197"/>
                  <a:pt x="225832" y="301020"/>
                </a:cubicBezTo>
                <a:cubicBezTo>
                  <a:pt x="216188" y="341025"/>
                  <a:pt x="169485" y="371475"/>
                  <a:pt x="113318" y="371475"/>
                </a:cubicBezTo>
                <a:cubicBezTo>
                  <a:pt x="57150" y="371475"/>
                  <a:pt x="10448" y="341114"/>
                  <a:pt x="804" y="301020"/>
                </a:cubicBezTo>
                <a:close/>
              </a:path>
            </a:pathLst>
          </a:custGeom>
          <a:solidFill>
            <a:srgbClr val="8F5C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
          <p:cNvSpPr/>
          <p:nvPr/>
        </p:nvSpPr>
        <p:spPr>
          <a:xfrm>
            <a:off x="9321009" y="3411375"/>
            <a:ext cx="514350" cy="457200"/>
          </a:xfrm>
          <a:custGeom>
            <a:rect b="b" l="l" r="r" t="t"/>
            <a:pathLst>
              <a:path extrusionOk="0" h="457200" w="514350">
                <a:moveTo>
                  <a:pt x="505956" y="48756"/>
                </a:moveTo>
                <a:cubicBezTo>
                  <a:pt x="517118" y="37594"/>
                  <a:pt x="517118" y="19467"/>
                  <a:pt x="505956" y="8305"/>
                </a:cubicBezTo>
                <a:cubicBezTo>
                  <a:pt x="494794" y="-2857"/>
                  <a:pt x="476667" y="-2857"/>
                  <a:pt x="465505" y="8305"/>
                </a:cubicBezTo>
                <a:lnTo>
                  <a:pt x="294055" y="179755"/>
                </a:lnTo>
                <a:lnTo>
                  <a:pt x="263069" y="148769"/>
                </a:lnTo>
                <a:cubicBezTo>
                  <a:pt x="259318" y="145018"/>
                  <a:pt x="254139" y="142875"/>
                  <a:pt x="248781" y="142875"/>
                </a:cubicBezTo>
                <a:cubicBezTo>
                  <a:pt x="237619" y="142875"/>
                  <a:pt x="228600" y="151894"/>
                  <a:pt x="228600" y="163056"/>
                </a:cubicBezTo>
                <a:lnTo>
                  <a:pt x="228600" y="189041"/>
                </a:lnTo>
                <a:lnTo>
                  <a:pt x="325309" y="285750"/>
                </a:lnTo>
                <a:lnTo>
                  <a:pt x="351294" y="285750"/>
                </a:lnTo>
                <a:cubicBezTo>
                  <a:pt x="362456" y="285750"/>
                  <a:pt x="371475" y="276731"/>
                  <a:pt x="371475" y="265569"/>
                </a:cubicBezTo>
                <a:cubicBezTo>
                  <a:pt x="371475" y="260211"/>
                  <a:pt x="369332" y="255032"/>
                  <a:pt x="365581" y="251281"/>
                </a:cubicBezTo>
                <a:lnTo>
                  <a:pt x="334595" y="220295"/>
                </a:lnTo>
                <a:lnTo>
                  <a:pt x="506045" y="48845"/>
                </a:lnTo>
                <a:close/>
                <a:moveTo>
                  <a:pt x="304592" y="315575"/>
                </a:moveTo>
                <a:lnTo>
                  <a:pt x="198775" y="209758"/>
                </a:lnTo>
                <a:cubicBezTo>
                  <a:pt x="160645" y="206454"/>
                  <a:pt x="122694" y="220206"/>
                  <a:pt x="95369" y="247531"/>
                </a:cubicBezTo>
                <a:lnTo>
                  <a:pt x="88225" y="254675"/>
                </a:lnTo>
                <a:cubicBezTo>
                  <a:pt x="68312" y="274588"/>
                  <a:pt x="57150" y="301556"/>
                  <a:pt x="57150" y="329684"/>
                </a:cubicBezTo>
                <a:cubicBezTo>
                  <a:pt x="57150" y="335756"/>
                  <a:pt x="63490" y="339685"/>
                  <a:pt x="68937" y="337006"/>
                </a:cubicBezTo>
                <a:lnTo>
                  <a:pt x="114568" y="314236"/>
                </a:lnTo>
                <a:cubicBezTo>
                  <a:pt x="119033" y="312003"/>
                  <a:pt x="123051" y="317897"/>
                  <a:pt x="119390" y="321290"/>
                </a:cubicBezTo>
                <a:lnTo>
                  <a:pt x="6519" y="422731"/>
                </a:lnTo>
                <a:cubicBezTo>
                  <a:pt x="2411" y="426482"/>
                  <a:pt x="0" y="431840"/>
                  <a:pt x="0" y="437465"/>
                </a:cubicBezTo>
                <a:cubicBezTo>
                  <a:pt x="0" y="448360"/>
                  <a:pt x="8840" y="457200"/>
                  <a:pt x="19735" y="457200"/>
                </a:cubicBezTo>
                <a:lnTo>
                  <a:pt x="174486" y="457200"/>
                </a:lnTo>
                <a:cubicBezTo>
                  <a:pt x="209133" y="457200"/>
                  <a:pt x="242262" y="443448"/>
                  <a:pt x="266819" y="418981"/>
                </a:cubicBezTo>
                <a:cubicBezTo>
                  <a:pt x="294144" y="391656"/>
                  <a:pt x="307806" y="353705"/>
                  <a:pt x="304592" y="315575"/>
                </a:cubicBezTo>
                <a:close/>
              </a:path>
            </a:pathLst>
          </a:custGeom>
          <a:solidFill>
            <a:srgbClr val="A95E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 name="Google Shape;175;p5"/>
          <p:cNvSpPr txBox="1"/>
          <p:nvPr/>
        </p:nvSpPr>
        <p:spPr>
          <a:xfrm>
            <a:off x="4937675" y="4056025"/>
            <a:ext cx="21579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t>STANDARDIZATION</a:t>
            </a:r>
            <a:endParaRPr b="1" sz="1600"/>
          </a:p>
        </p:txBody>
      </p:sp>
      <p:sp>
        <p:nvSpPr>
          <p:cNvPr id="176" name="Google Shape;176;p5"/>
          <p:cNvSpPr txBox="1"/>
          <p:nvPr/>
        </p:nvSpPr>
        <p:spPr>
          <a:xfrm>
            <a:off x="1172125" y="4056020"/>
            <a:ext cx="25659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t>METRIC SELECTION</a:t>
            </a:r>
            <a:endParaRPr b="1" sz="1600"/>
          </a:p>
        </p:txBody>
      </p:sp>
      <p:sp>
        <p:nvSpPr>
          <p:cNvPr id="177" name="Google Shape;177;p5"/>
          <p:cNvSpPr txBox="1"/>
          <p:nvPr/>
        </p:nvSpPr>
        <p:spPr>
          <a:xfrm>
            <a:off x="4996025" y="4531575"/>
            <a:ext cx="20412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600"/>
              <a:t>Converted all units to Nanomolar (nM) for consistency</a:t>
            </a:r>
            <a:endParaRPr sz="1600"/>
          </a:p>
        </p:txBody>
      </p:sp>
      <p:sp>
        <p:nvSpPr>
          <p:cNvPr id="178" name="Google Shape;178;p5"/>
          <p:cNvSpPr txBox="1"/>
          <p:nvPr/>
        </p:nvSpPr>
        <p:spPr>
          <a:xfrm>
            <a:off x="8499225" y="4056013"/>
            <a:ext cx="21579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t>CLEANING</a:t>
            </a:r>
            <a:endParaRPr b="1" sz="1600"/>
          </a:p>
        </p:txBody>
      </p:sp>
      <p:sp>
        <p:nvSpPr>
          <p:cNvPr id="179" name="Google Shape;179;p5"/>
          <p:cNvSpPr txBox="1"/>
          <p:nvPr/>
        </p:nvSpPr>
        <p:spPr>
          <a:xfrm>
            <a:off x="8557575" y="4531575"/>
            <a:ext cx="20412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600"/>
              <a:t>Removed incomplete entries and ambiguous data</a:t>
            </a:r>
            <a:endParaRPr sz="160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184" name="Shape 184"/>
        <p:cNvGrpSpPr/>
        <p:nvPr/>
      </p:nvGrpSpPr>
      <p:grpSpPr>
        <a:xfrm>
          <a:off x="0" y="0"/>
          <a:ext cx="0" cy="0"/>
          <a:chOff x="0" y="0"/>
          <a:chExt cx="0" cy="0"/>
        </a:xfrm>
      </p:grpSpPr>
      <p:sp>
        <p:nvSpPr>
          <p:cNvPr id="185" name="Google Shape;185;g3b017e6a17f_1_156"/>
          <p:cNvSpPr/>
          <p:nvPr/>
        </p:nvSpPr>
        <p:spPr>
          <a:xfrm rot="5939221">
            <a:off x="367677" y="335985"/>
            <a:ext cx="558861" cy="595013"/>
          </a:xfrm>
          <a:prstGeom prst="donut">
            <a:avLst>
              <a:gd fmla="val 25000" name="adj"/>
            </a:avLst>
          </a:prstGeom>
          <a:gradFill>
            <a:gsLst>
              <a:gs pos="0">
                <a:srgbClr val="402E7F"/>
              </a:gs>
              <a:gs pos="54000">
                <a:srgbClr val="BC7DB7">
                  <a:alpha val="2745"/>
                </a:srgbClr>
              </a:gs>
              <a:gs pos="100000">
                <a:srgbClr val="BC7DB7">
                  <a:alpha val="2745"/>
                </a:srgbClr>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b017e6a17f_1_156"/>
          <p:cNvSpPr/>
          <p:nvPr/>
        </p:nvSpPr>
        <p:spPr>
          <a:xfrm rot="5939221">
            <a:off x="367677" y="335985"/>
            <a:ext cx="558861" cy="595013"/>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pic>
        <p:nvPicPr>
          <p:cNvPr descr="https://kimi-img.moonshot.cn/pub/slides/slides_tmpl/image/25-09-08-15:08:29-d2v81rdnfo2stf9dkdb0.jpg" id="187" name="Google Shape;187;g3b017e6a17f_1_156"/>
          <p:cNvPicPr preferRelativeResize="0"/>
          <p:nvPr/>
        </p:nvPicPr>
        <p:blipFill rotWithShape="1">
          <a:blip r:embed="rId3">
            <a:alphaModFix/>
          </a:blip>
          <a:srcRect b="0" l="0" r="0" t="0"/>
          <a:stretch/>
        </p:blipFill>
        <p:spPr>
          <a:xfrm>
            <a:off x="-158750" y="-6350"/>
            <a:ext cx="12350749" cy="6960235"/>
          </a:xfrm>
          <a:prstGeom prst="rect">
            <a:avLst/>
          </a:prstGeom>
          <a:noFill/>
          <a:ln>
            <a:noFill/>
          </a:ln>
        </p:spPr>
      </p:pic>
      <p:sp>
        <p:nvSpPr>
          <p:cNvPr id="188" name="Google Shape;188;g3b017e6a17f_1_156"/>
          <p:cNvSpPr/>
          <p:nvPr/>
        </p:nvSpPr>
        <p:spPr>
          <a:xfrm>
            <a:off x="158750" y="2082800"/>
            <a:ext cx="11874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3300" u="none" cap="none" strike="noStrike">
                <a:solidFill>
                  <a:srgbClr val="8F5C9A"/>
                </a:solidFill>
                <a:latin typeface="Noto Sans SC"/>
                <a:ea typeface="Noto Sans SC"/>
                <a:cs typeface="Noto Sans SC"/>
                <a:sym typeface="Noto Sans SC"/>
              </a:rPr>
              <a:t>Curating a High-Confidence Dataset</a:t>
            </a:r>
            <a:endParaRPr b="0" i="0" sz="3300" u="none" cap="none" strike="noStrike"/>
          </a:p>
        </p:txBody>
      </p:sp>
      <p:sp>
        <p:nvSpPr>
          <p:cNvPr id="189" name="Google Shape;189;g3b017e6a17f_1_156"/>
          <p:cNvSpPr/>
          <p:nvPr/>
        </p:nvSpPr>
        <p:spPr>
          <a:xfrm>
            <a:off x="203200" y="2641600"/>
            <a:ext cx="117855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600" u="none" cap="none" strike="noStrike">
                <a:solidFill>
                  <a:srgbClr val="3C3542"/>
                </a:solidFill>
                <a:latin typeface="Arial"/>
                <a:ea typeface="Arial"/>
                <a:cs typeface="Arial"/>
                <a:sym typeface="Arial"/>
              </a:rPr>
              <a:t>From a raw deposit of 9,731 ChEMBL records to a balanced, bias-free modeling base.</a:t>
            </a:r>
            <a:endParaRPr b="0" i="0" sz="1600" u="none" cap="none" strike="noStrike"/>
          </a:p>
        </p:txBody>
      </p:sp>
      <p:sp>
        <p:nvSpPr>
          <p:cNvPr id="190" name="Google Shape;190;g3b017e6a17f_1_156"/>
          <p:cNvSpPr/>
          <p:nvPr/>
        </p:nvSpPr>
        <p:spPr>
          <a:xfrm>
            <a:off x="1901130" y="3352800"/>
            <a:ext cx="1574800" cy="1422400"/>
          </a:xfrm>
          <a:custGeom>
            <a:rect b="b" l="l" r="r" t="t"/>
            <a:pathLst>
              <a:path extrusionOk="0" h="1422400" w="1574800">
                <a:moveTo>
                  <a:pt x="101602" y="0"/>
                </a:moveTo>
                <a:lnTo>
                  <a:pt x="1473198" y="0"/>
                </a:lnTo>
                <a:cubicBezTo>
                  <a:pt x="1529311" y="0"/>
                  <a:pt x="1574800" y="45489"/>
                  <a:pt x="1574800" y="101602"/>
                </a:cubicBezTo>
                <a:lnTo>
                  <a:pt x="1574800" y="1320798"/>
                </a:lnTo>
                <a:cubicBezTo>
                  <a:pt x="1574800" y="1376911"/>
                  <a:pt x="1529311" y="1422400"/>
                  <a:pt x="1473198" y="1422400"/>
                </a:cubicBezTo>
                <a:lnTo>
                  <a:pt x="101602" y="1422400"/>
                </a:lnTo>
                <a:cubicBezTo>
                  <a:pt x="45489" y="1422400"/>
                  <a:pt x="0" y="1376911"/>
                  <a:pt x="0" y="1320798"/>
                </a:cubicBezTo>
                <a:lnTo>
                  <a:pt x="0" y="101602"/>
                </a:lnTo>
                <a:cubicBezTo>
                  <a:pt x="0" y="45526"/>
                  <a:pt x="45526" y="0"/>
                  <a:pt x="101602" y="0"/>
                </a:cubicBezTo>
                <a:close/>
              </a:path>
            </a:pathLst>
          </a:custGeom>
          <a:solidFill>
            <a:srgbClr val="D3B9D7">
              <a:alpha val="2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3b017e6a17f_1_156"/>
          <p:cNvSpPr/>
          <p:nvPr/>
        </p:nvSpPr>
        <p:spPr>
          <a:xfrm>
            <a:off x="1999456" y="3556000"/>
            <a:ext cx="1371600" cy="507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1" i="0" lang="en-US" sz="3600" u="none" cap="none" strike="noStrike">
                <a:solidFill>
                  <a:srgbClr val="A95EAF"/>
                </a:solidFill>
                <a:latin typeface="Noto Sans SC"/>
                <a:ea typeface="Noto Sans SC"/>
                <a:cs typeface="Noto Sans SC"/>
                <a:sym typeface="Noto Sans SC"/>
              </a:rPr>
              <a:t>9,731</a:t>
            </a:r>
            <a:endParaRPr b="0" i="0" sz="1600" u="none" cap="none" strike="noStrike"/>
          </a:p>
        </p:txBody>
      </p:sp>
      <p:sp>
        <p:nvSpPr>
          <p:cNvPr id="192" name="Google Shape;192;g3b017e6a17f_1_156"/>
          <p:cNvSpPr/>
          <p:nvPr/>
        </p:nvSpPr>
        <p:spPr>
          <a:xfrm>
            <a:off x="2053530" y="4064000"/>
            <a:ext cx="12699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600" u="none" cap="none" strike="noStrike">
                <a:solidFill>
                  <a:srgbClr val="3C3542"/>
                </a:solidFill>
                <a:latin typeface="Arial"/>
                <a:ea typeface="Arial"/>
                <a:cs typeface="Arial"/>
                <a:sym typeface="Arial"/>
              </a:rPr>
              <a:t>Raw Entries</a:t>
            </a:r>
            <a:endParaRPr b="0" i="0" sz="1600" u="none" cap="none" strike="noStrike"/>
          </a:p>
        </p:txBody>
      </p:sp>
      <p:sp>
        <p:nvSpPr>
          <p:cNvPr id="193" name="Google Shape;193;g3b017e6a17f_1_156"/>
          <p:cNvSpPr/>
          <p:nvPr/>
        </p:nvSpPr>
        <p:spPr>
          <a:xfrm>
            <a:off x="2101453" y="4368800"/>
            <a:ext cx="1168500" cy="2031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0" i="0" lang="en-US" sz="1200" u="none" cap="none" strike="noStrike">
                <a:solidFill>
                  <a:srgbClr val="3C3542"/>
                </a:solidFill>
                <a:latin typeface="Arial"/>
                <a:ea typeface="Arial"/>
                <a:cs typeface="Arial"/>
                <a:sym typeface="Arial"/>
              </a:rPr>
              <a:t>(ChEMBL 2025)</a:t>
            </a:r>
            <a:endParaRPr b="0" i="0" sz="1600" u="none" cap="none" strike="noStrike"/>
          </a:p>
        </p:txBody>
      </p:sp>
      <p:sp>
        <p:nvSpPr>
          <p:cNvPr id="194" name="Google Shape;194;g3b017e6a17f_1_156"/>
          <p:cNvSpPr/>
          <p:nvPr/>
        </p:nvSpPr>
        <p:spPr>
          <a:xfrm>
            <a:off x="3995738" y="3606800"/>
            <a:ext cx="457200" cy="457200"/>
          </a:xfrm>
          <a:custGeom>
            <a:rect b="b" l="l" r="r" t="t"/>
            <a:pathLst>
              <a:path extrusionOk="0" h="457200" w="457200">
                <a:moveTo>
                  <a:pt x="28575" y="57150"/>
                </a:moveTo>
                <a:cubicBezTo>
                  <a:pt x="17056" y="57150"/>
                  <a:pt x="6608" y="64115"/>
                  <a:pt x="2143" y="74831"/>
                </a:cubicBezTo>
                <a:cubicBezTo>
                  <a:pt x="-2322" y="85546"/>
                  <a:pt x="179" y="97780"/>
                  <a:pt x="8394" y="105906"/>
                </a:cubicBezTo>
                <a:lnTo>
                  <a:pt x="171450" y="269051"/>
                </a:lnTo>
                <a:lnTo>
                  <a:pt x="171450" y="371475"/>
                </a:lnTo>
                <a:cubicBezTo>
                  <a:pt x="171450" y="379065"/>
                  <a:pt x="174486" y="386298"/>
                  <a:pt x="179844" y="391656"/>
                </a:cubicBezTo>
                <a:lnTo>
                  <a:pt x="236994" y="448806"/>
                </a:lnTo>
                <a:cubicBezTo>
                  <a:pt x="245209" y="457021"/>
                  <a:pt x="257443" y="459432"/>
                  <a:pt x="268159" y="454968"/>
                </a:cubicBezTo>
                <a:cubicBezTo>
                  <a:pt x="278874" y="450503"/>
                  <a:pt x="285750" y="440144"/>
                  <a:pt x="285750" y="428625"/>
                </a:cubicBezTo>
                <a:lnTo>
                  <a:pt x="285750" y="269051"/>
                </a:lnTo>
                <a:lnTo>
                  <a:pt x="448806" y="105995"/>
                </a:lnTo>
                <a:cubicBezTo>
                  <a:pt x="457021" y="97780"/>
                  <a:pt x="459432" y="85546"/>
                  <a:pt x="454968" y="74831"/>
                </a:cubicBezTo>
                <a:cubicBezTo>
                  <a:pt x="450503" y="64115"/>
                  <a:pt x="440144" y="57150"/>
                  <a:pt x="428625" y="57150"/>
                </a:cubicBezTo>
                <a:lnTo>
                  <a:pt x="28575" y="57150"/>
                </a:lnTo>
                <a:close/>
              </a:path>
            </a:pathLst>
          </a:custGeom>
          <a:solidFill>
            <a:srgbClr val="8F5C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g3b017e6a17f_1_156"/>
          <p:cNvSpPr/>
          <p:nvPr/>
        </p:nvSpPr>
        <p:spPr>
          <a:xfrm>
            <a:off x="3788172" y="4114800"/>
            <a:ext cx="952500" cy="203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0" i="0" lang="en-US" sz="1200" u="none" cap="none" strike="noStrike">
                <a:solidFill>
                  <a:srgbClr val="3C3542"/>
                </a:solidFill>
                <a:latin typeface="Arial"/>
                <a:ea typeface="Arial"/>
                <a:cs typeface="Arial"/>
                <a:sym typeface="Arial"/>
              </a:rPr>
              <a:t>Strip Missing</a:t>
            </a:r>
            <a:endParaRPr b="0" i="0" sz="1600" u="none" cap="none" strike="noStrike"/>
          </a:p>
        </p:txBody>
      </p:sp>
      <p:sp>
        <p:nvSpPr>
          <p:cNvPr id="196" name="Google Shape;196;g3b017e6a17f_1_156"/>
          <p:cNvSpPr/>
          <p:nvPr/>
        </p:nvSpPr>
        <p:spPr>
          <a:xfrm>
            <a:off x="3673872" y="4318000"/>
            <a:ext cx="1181100" cy="203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0" i="0" lang="en-US" sz="1200" u="none" cap="none" strike="noStrike">
                <a:solidFill>
                  <a:srgbClr val="3C3542"/>
                </a:solidFill>
                <a:latin typeface="Arial"/>
                <a:ea typeface="Arial"/>
                <a:cs typeface="Arial"/>
                <a:sym typeface="Arial"/>
              </a:rPr>
              <a:t>Filter IC50 &amp; nM</a:t>
            </a:r>
            <a:endParaRPr b="0" i="0" sz="1600" u="none" cap="none" strike="noStrike"/>
          </a:p>
        </p:txBody>
      </p:sp>
      <p:sp>
        <p:nvSpPr>
          <p:cNvPr id="197" name="Google Shape;197;g3b017e6a17f_1_156"/>
          <p:cNvSpPr/>
          <p:nvPr/>
        </p:nvSpPr>
        <p:spPr>
          <a:xfrm>
            <a:off x="4978102" y="3352800"/>
            <a:ext cx="2070100" cy="1422400"/>
          </a:xfrm>
          <a:custGeom>
            <a:rect b="b" l="l" r="r" t="t"/>
            <a:pathLst>
              <a:path extrusionOk="0" h="1422400" w="2070100">
                <a:moveTo>
                  <a:pt x="101602" y="0"/>
                </a:moveTo>
                <a:lnTo>
                  <a:pt x="1968498" y="0"/>
                </a:lnTo>
                <a:cubicBezTo>
                  <a:pt x="2024611" y="0"/>
                  <a:pt x="2070100" y="45489"/>
                  <a:pt x="2070100" y="101602"/>
                </a:cubicBezTo>
                <a:lnTo>
                  <a:pt x="2070100" y="1320798"/>
                </a:lnTo>
                <a:cubicBezTo>
                  <a:pt x="2070100" y="1376911"/>
                  <a:pt x="2024611" y="1422400"/>
                  <a:pt x="1968498" y="1422400"/>
                </a:cubicBezTo>
                <a:lnTo>
                  <a:pt x="101602" y="1422400"/>
                </a:lnTo>
                <a:cubicBezTo>
                  <a:pt x="45489" y="1422400"/>
                  <a:pt x="0" y="1376911"/>
                  <a:pt x="0" y="1320798"/>
                </a:cubicBezTo>
                <a:lnTo>
                  <a:pt x="0" y="101602"/>
                </a:lnTo>
                <a:cubicBezTo>
                  <a:pt x="0" y="45526"/>
                  <a:pt x="45526" y="0"/>
                  <a:pt x="101602" y="0"/>
                </a:cubicBezTo>
                <a:close/>
              </a:path>
            </a:pathLst>
          </a:custGeom>
          <a:solidFill>
            <a:srgbClr val="D3B9D7">
              <a:alpha val="2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3b017e6a17f_1_156"/>
          <p:cNvSpPr/>
          <p:nvPr/>
        </p:nvSpPr>
        <p:spPr>
          <a:xfrm>
            <a:off x="5324773" y="3556000"/>
            <a:ext cx="1371600" cy="507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1" i="0" lang="en-US" sz="3600" u="none" cap="none" strike="noStrike">
                <a:solidFill>
                  <a:srgbClr val="A95EAF"/>
                </a:solidFill>
                <a:latin typeface="Noto Sans SC"/>
                <a:ea typeface="Noto Sans SC"/>
                <a:cs typeface="Noto Sans SC"/>
                <a:sym typeface="Noto Sans SC"/>
              </a:rPr>
              <a:t>8,372</a:t>
            </a:r>
            <a:endParaRPr b="0" i="0" sz="1600" u="none" cap="none" strike="noStrike"/>
          </a:p>
        </p:txBody>
      </p:sp>
      <p:sp>
        <p:nvSpPr>
          <p:cNvPr id="199" name="Google Shape;199;g3b017e6a17f_1_156"/>
          <p:cNvSpPr/>
          <p:nvPr/>
        </p:nvSpPr>
        <p:spPr>
          <a:xfrm>
            <a:off x="5130502" y="4064000"/>
            <a:ext cx="17652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600" u="none" cap="none" strike="noStrike">
                <a:solidFill>
                  <a:srgbClr val="3C3542"/>
                </a:solidFill>
                <a:latin typeface="Arial"/>
                <a:ea typeface="Arial"/>
                <a:cs typeface="Arial"/>
                <a:sym typeface="Arial"/>
              </a:rPr>
              <a:t>Valid Data Points</a:t>
            </a:r>
            <a:endParaRPr b="0" i="0" sz="1600" u="none" cap="none" strike="noStrike"/>
          </a:p>
        </p:txBody>
      </p:sp>
      <p:sp>
        <p:nvSpPr>
          <p:cNvPr id="200" name="Google Shape;200;g3b017e6a17f_1_156"/>
          <p:cNvSpPr/>
          <p:nvPr/>
        </p:nvSpPr>
        <p:spPr>
          <a:xfrm>
            <a:off x="5553869" y="4368800"/>
            <a:ext cx="914400" cy="2031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0" i="0" lang="en-US" sz="1200" u="none" cap="none" strike="noStrike">
                <a:solidFill>
                  <a:srgbClr val="3C3542"/>
                </a:solidFill>
                <a:latin typeface="Arial"/>
                <a:ea typeface="Arial"/>
                <a:cs typeface="Arial"/>
                <a:sym typeface="Arial"/>
              </a:rPr>
              <a:t>(IC50 in nM)</a:t>
            </a:r>
            <a:endParaRPr b="0" i="0" sz="1600" u="none" cap="none" strike="noStrike"/>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5" name="Shape 205"/>
        <p:cNvGrpSpPr/>
        <p:nvPr/>
      </p:nvGrpSpPr>
      <p:grpSpPr>
        <a:xfrm>
          <a:off x="0" y="0"/>
          <a:ext cx="0" cy="0"/>
          <a:chOff x="0" y="0"/>
          <a:chExt cx="0" cy="0"/>
        </a:xfrm>
      </p:grpSpPr>
      <p:sp>
        <p:nvSpPr>
          <p:cNvPr id="206" name="Google Shape;206;g3b017e6a17f_0_27"/>
          <p:cNvSpPr/>
          <p:nvPr/>
        </p:nvSpPr>
        <p:spPr>
          <a:xfrm rot="5939221">
            <a:off x="367677" y="335985"/>
            <a:ext cx="558861" cy="595013"/>
          </a:xfrm>
          <a:prstGeom prst="donut">
            <a:avLst>
              <a:gd fmla="val 25000" name="adj"/>
            </a:avLst>
          </a:prstGeom>
          <a:gradFill>
            <a:gsLst>
              <a:gs pos="0">
                <a:srgbClr val="402E7F"/>
              </a:gs>
              <a:gs pos="54000">
                <a:srgbClr val="BC7DB7">
                  <a:alpha val="2745"/>
                </a:srgbClr>
              </a:gs>
              <a:gs pos="100000">
                <a:srgbClr val="BC7DB7">
                  <a:alpha val="2745"/>
                </a:srgbClr>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3b017e6a17f_0_27"/>
          <p:cNvSpPr/>
          <p:nvPr/>
        </p:nvSpPr>
        <p:spPr>
          <a:xfrm rot="5939221">
            <a:off x="367677" y="335985"/>
            <a:ext cx="558861" cy="595013"/>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pic>
        <p:nvPicPr>
          <p:cNvPr descr="https://kimi-img.moonshot.cn/pub/slides/slides_tmpl/image/25-09-08-15:08:29-d2v81rdnfo2stf9dkdb0.jpg" id="208" name="Google Shape;208;g3b017e6a17f_0_27"/>
          <p:cNvPicPr preferRelativeResize="0"/>
          <p:nvPr/>
        </p:nvPicPr>
        <p:blipFill rotWithShape="1">
          <a:blip r:embed="rId4">
            <a:alphaModFix/>
          </a:blip>
          <a:srcRect b="0" l="0" r="0" t="0"/>
          <a:stretch/>
        </p:blipFill>
        <p:spPr>
          <a:xfrm>
            <a:off x="-35943" y="-33141"/>
            <a:ext cx="12350749" cy="6960235"/>
          </a:xfrm>
          <a:prstGeom prst="rect">
            <a:avLst/>
          </a:prstGeom>
          <a:noFill/>
          <a:ln>
            <a:noFill/>
          </a:ln>
        </p:spPr>
      </p:pic>
      <p:sp>
        <p:nvSpPr>
          <p:cNvPr id="209" name="Google Shape;209;g3b017e6a17f_0_27"/>
          <p:cNvSpPr/>
          <p:nvPr/>
        </p:nvSpPr>
        <p:spPr>
          <a:xfrm>
            <a:off x="158700" y="1102700"/>
            <a:ext cx="11874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3300">
                <a:solidFill>
                  <a:srgbClr val="8F5C9A"/>
                </a:solidFill>
                <a:latin typeface="Noto Sans SC"/>
                <a:ea typeface="Noto Sans SC"/>
                <a:cs typeface="Noto Sans SC"/>
                <a:sym typeface="Noto Sans SC"/>
              </a:rPr>
              <a:t>Labeling</a:t>
            </a:r>
            <a:endParaRPr b="0" i="0" sz="1900" u="none" cap="none" strike="noStrike"/>
          </a:p>
        </p:txBody>
      </p:sp>
      <p:sp>
        <p:nvSpPr>
          <p:cNvPr id="210" name="Google Shape;210;g3b017e6a17f_0_27"/>
          <p:cNvSpPr/>
          <p:nvPr/>
        </p:nvSpPr>
        <p:spPr>
          <a:xfrm>
            <a:off x="117825" y="1920050"/>
            <a:ext cx="117855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lang="en-US" sz="1900">
                <a:solidFill>
                  <a:srgbClr val="3C3542"/>
                </a:solidFill>
              </a:rPr>
              <a:t>We removed the biological </a:t>
            </a:r>
            <a:r>
              <a:rPr b="1" lang="en-US" sz="1900">
                <a:solidFill>
                  <a:srgbClr val="3C3542"/>
                </a:solidFill>
              </a:rPr>
              <a:t>"grey zone"</a:t>
            </a:r>
            <a:r>
              <a:rPr lang="en-US" sz="1900">
                <a:solidFill>
                  <a:srgbClr val="3C3542"/>
                </a:solidFill>
              </a:rPr>
              <a:t> to ensure the model learns clear phenotypes</a:t>
            </a:r>
            <a:endParaRPr b="0" i="0" sz="1900" u="none" cap="none" strike="noStrike"/>
          </a:p>
        </p:txBody>
      </p:sp>
      <p:sp>
        <p:nvSpPr>
          <p:cNvPr id="211" name="Google Shape;211;g3b017e6a17f_0_27"/>
          <p:cNvSpPr/>
          <p:nvPr/>
        </p:nvSpPr>
        <p:spPr>
          <a:xfrm>
            <a:off x="1061445" y="2751300"/>
            <a:ext cx="2996057" cy="3100832"/>
          </a:xfrm>
          <a:custGeom>
            <a:rect b="b" l="l" r="r" t="t"/>
            <a:pathLst>
              <a:path extrusionOk="0" h="1422400" w="1574800">
                <a:moveTo>
                  <a:pt x="101602" y="0"/>
                </a:moveTo>
                <a:lnTo>
                  <a:pt x="1473198" y="0"/>
                </a:lnTo>
                <a:cubicBezTo>
                  <a:pt x="1529311" y="0"/>
                  <a:pt x="1574800" y="45489"/>
                  <a:pt x="1574800" y="101602"/>
                </a:cubicBezTo>
                <a:lnTo>
                  <a:pt x="1574800" y="1320798"/>
                </a:lnTo>
                <a:cubicBezTo>
                  <a:pt x="1574800" y="1376911"/>
                  <a:pt x="1529311" y="1422400"/>
                  <a:pt x="1473198" y="1422400"/>
                </a:cubicBezTo>
                <a:lnTo>
                  <a:pt x="101602" y="1422400"/>
                </a:lnTo>
                <a:cubicBezTo>
                  <a:pt x="45489" y="1422400"/>
                  <a:pt x="0" y="1376911"/>
                  <a:pt x="0" y="1320798"/>
                </a:cubicBezTo>
                <a:lnTo>
                  <a:pt x="0" y="101602"/>
                </a:lnTo>
                <a:cubicBezTo>
                  <a:pt x="0" y="45526"/>
                  <a:pt x="45526" y="0"/>
                  <a:pt x="101602" y="0"/>
                </a:cubicBezTo>
                <a:close/>
              </a:path>
            </a:pathLst>
          </a:custGeom>
          <a:solidFill>
            <a:srgbClr val="D3B9D7">
              <a:alpha val="2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3b017e6a17f_0_27"/>
          <p:cNvSpPr/>
          <p:nvPr/>
        </p:nvSpPr>
        <p:spPr>
          <a:xfrm>
            <a:off x="1585623" y="3304400"/>
            <a:ext cx="1887300" cy="507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1" lang="en-US" sz="3600">
                <a:solidFill>
                  <a:srgbClr val="A95EAF"/>
                </a:solidFill>
                <a:latin typeface="Noto Sans SC"/>
                <a:ea typeface="Noto Sans SC"/>
                <a:cs typeface="Noto Sans SC"/>
                <a:sym typeface="Noto Sans SC"/>
              </a:rPr>
              <a:t>ACTIVE</a:t>
            </a:r>
            <a:endParaRPr b="0" i="0" sz="1600" u="none" cap="none" strike="noStrike"/>
          </a:p>
        </p:txBody>
      </p:sp>
      <p:sp>
        <p:nvSpPr>
          <p:cNvPr id="213" name="Google Shape;213;g3b017e6a17f_0_27"/>
          <p:cNvSpPr/>
          <p:nvPr/>
        </p:nvSpPr>
        <p:spPr>
          <a:xfrm>
            <a:off x="5324773" y="3304400"/>
            <a:ext cx="1371600" cy="507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1" i="0" lang="en-US" sz="3600" u="none" cap="none" strike="noStrike">
                <a:solidFill>
                  <a:srgbClr val="A95EAF"/>
                </a:solidFill>
                <a:latin typeface="Noto Sans SC"/>
                <a:ea typeface="Noto Sans SC"/>
                <a:cs typeface="Noto Sans SC"/>
                <a:sym typeface="Noto Sans SC"/>
              </a:rPr>
              <a:t>8,372</a:t>
            </a:r>
            <a:endParaRPr b="0" i="0" sz="1600" u="none" cap="none" strike="noStrike"/>
          </a:p>
        </p:txBody>
      </p:sp>
      <p:sp>
        <p:nvSpPr>
          <p:cNvPr id="214" name="Google Shape;214;g3b017e6a17f_0_27"/>
          <p:cNvSpPr/>
          <p:nvPr/>
        </p:nvSpPr>
        <p:spPr>
          <a:xfrm>
            <a:off x="5130502" y="3812400"/>
            <a:ext cx="17652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600" u="none" cap="none" strike="noStrike">
                <a:solidFill>
                  <a:srgbClr val="3C3542"/>
                </a:solidFill>
                <a:latin typeface="Arial"/>
                <a:ea typeface="Arial"/>
                <a:cs typeface="Arial"/>
                <a:sym typeface="Arial"/>
              </a:rPr>
              <a:t>Valid Data Points</a:t>
            </a:r>
            <a:endParaRPr b="0" i="0" sz="1600" u="none" cap="none" strike="noStrike"/>
          </a:p>
        </p:txBody>
      </p:sp>
      <p:sp>
        <p:nvSpPr>
          <p:cNvPr id="215" name="Google Shape;215;g3b017e6a17f_0_27"/>
          <p:cNvSpPr/>
          <p:nvPr/>
        </p:nvSpPr>
        <p:spPr>
          <a:xfrm>
            <a:off x="5553869" y="4117200"/>
            <a:ext cx="914400" cy="2031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0" i="0" lang="en-US" sz="1200" u="none" cap="none" strike="noStrike">
                <a:solidFill>
                  <a:srgbClr val="3C3542"/>
                </a:solidFill>
                <a:latin typeface="Arial"/>
                <a:ea typeface="Arial"/>
                <a:cs typeface="Arial"/>
                <a:sym typeface="Arial"/>
              </a:rPr>
              <a:t>(IC50 in nM)</a:t>
            </a:r>
            <a:endParaRPr b="0" i="0" sz="1600" u="none" cap="none" strike="noStrike"/>
          </a:p>
        </p:txBody>
      </p:sp>
      <p:sp>
        <p:nvSpPr>
          <p:cNvPr id="216" name="Google Shape;216;g3b017e6a17f_0_27"/>
          <p:cNvSpPr/>
          <p:nvPr/>
        </p:nvSpPr>
        <p:spPr>
          <a:xfrm>
            <a:off x="4597970" y="2751300"/>
            <a:ext cx="2996057" cy="3100832"/>
          </a:xfrm>
          <a:custGeom>
            <a:rect b="b" l="l" r="r" t="t"/>
            <a:pathLst>
              <a:path extrusionOk="0" h="1422400" w="1574800">
                <a:moveTo>
                  <a:pt x="101602" y="0"/>
                </a:moveTo>
                <a:lnTo>
                  <a:pt x="1473198" y="0"/>
                </a:lnTo>
                <a:cubicBezTo>
                  <a:pt x="1529311" y="0"/>
                  <a:pt x="1574800" y="45489"/>
                  <a:pt x="1574800" y="101602"/>
                </a:cubicBezTo>
                <a:lnTo>
                  <a:pt x="1574800" y="1320798"/>
                </a:lnTo>
                <a:cubicBezTo>
                  <a:pt x="1574800" y="1376911"/>
                  <a:pt x="1529311" y="1422400"/>
                  <a:pt x="1473198" y="1422400"/>
                </a:cubicBezTo>
                <a:lnTo>
                  <a:pt x="101602" y="1422400"/>
                </a:lnTo>
                <a:cubicBezTo>
                  <a:pt x="45489" y="1422400"/>
                  <a:pt x="0" y="1376911"/>
                  <a:pt x="0" y="1320798"/>
                </a:cubicBezTo>
                <a:lnTo>
                  <a:pt x="0" y="101602"/>
                </a:lnTo>
                <a:cubicBezTo>
                  <a:pt x="0" y="45526"/>
                  <a:pt x="45526" y="0"/>
                  <a:pt x="101602" y="0"/>
                </a:cubicBezTo>
                <a:close/>
              </a:path>
            </a:pathLst>
          </a:custGeom>
          <a:solidFill>
            <a:srgbClr val="E8E8E8"/>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g3b017e6a17f_0_27"/>
          <p:cNvSpPr/>
          <p:nvPr/>
        </p:nvSpPr>
        <p:spPr>
          <a:xfrm>
            <a:off x="8134495" y="2751300"/>
            <a:ext cx="2996057" cy="3100832"/>
          </a:xfrm>
          <a:custGeom>
            <a:rect b="b" l="l" r="r" t="t"/>
            <a:pathLst>
              <a:path extrusionOk="0" h="1422400" w="1574800">
                <a:moveTo>
                  <a:pt x="101602" y="0"/>
                </a:moveTo>
                <a:lnTo>
                  <a:pt x="1473198" y="0"/>
                </a:lnTo>
                <a:cubicBezTo>
                  <a:pt x="1529311" y="0"/>
                  <a:pt x="1574800" y="45489"/>
                  <a:pt x="1574800" y="101602"/>
                </a:cubicBezTo>
                <a:lnTo>
                  <a:pt x="1574800" y="1320798"/>
                </a:lnTo>
                <a:cubicBezTo>
                  <a:pt x="1574800" y="1376911"/>
                  <a:pt x="1529311" y="1422400"/>
                  <a:pt x="1473198" y="1422400"/>
                </a:cubicBezTo>
                <a:lnTo>
                  <a:pt x="101602" y="1422400"/>
                </a:lnTo>
                <a:cubicBezTo>
                  <a:pt x="45489" y="1422400"/>
                  <a:pt x="0" y="1376911"/>
                  <a:pt x="0" y="1320798"/>
                </a:cubicBezTo>
                <a:lnTo>
                  <a:pt x="0" y="101602"/>
                </a:lnTo>
                <a:cubicBezTo>
                  <a:pt x="0" y="45526"/>
                  <a:pt x="45526" y="0"/>
                  <a:pt x="101602" y="0"/>
                </a:cubicBezTo>
                <a:close/>
              </a:path>
            </a:pathLst>
          </a:custGeom>
          <a:solidFill>
            <a:srgbClr val="D3B9D7">
              <a:alpha val="24710"/>
            </a:srgbClr>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b="1" sz="1800">
              <a:solidFill>
                <a:schemeClr val="dk1"/>
              </a:solidFill>
              <a:latin typeface="Calibri"/>
              <a:ea typeface="Calibri"/>
              <a:cs typeface="Calibri"/>
              <a:sym typeface="Calibri"/>
            </a:endParaRPr>
          </a:p>
          <a:p>
            <a:pPr indent="0" lvl="0" marL="0" rtl="0" algn="ctr">
              <a:lnSpc>
                <a:spcPct val="90000"/>
              </a:lnSpc>
              <a:spcBef>
                <a:spcPts val="0"/>
              </a:spcBef>
              <a:spcAft>
                <a:spcPts val="0"/>
              </a:spcAft>
              <a:buClr>
                <a:srgbClr val="000000"/>
              </a:buClr>
              <a:buFont typeface="Arial"/>
              <a:buNone/>
            </a:pPr>
            <a:r>
              <a:t/>
            </a:r>
            <a:endParaRPr b="1" sz="1800">
              <a:solidFill>
                <a:schemeClr val="dk1"/>
              </a:solidFill>
              <a:latin typeface="Noto Sans SC"/>
              <a:ea typeface="Noto Sans SC"/>
              <a:cs typeface="Noto Sans SC"/>
              <a:sym typeface="Noto Sans SC"/>
            </a:endParaRPr>
          </a:p>
        </p:txBody>
      </p:sp>
      <p:sp>
        <p:nvSpPr>
          <p:cNvPr id="218" name="Google Shape;218;g3b017e6a17f_0_27"/>
          <p:cNvSpPr/>
          <p:nvPr/>
        </p:nvSpPr>
        <p:spPr>
          <a:xfrm>
            <a:off x="8548225" y="3304400"/>
            <a:ext cx="2158500" cy="507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1" lang="en-US" sz="3600">
                <a:solidFill>
                  <a:srgbClr val="A95EAF"/>
                </a:solidFill>
                <a:latin typeface="Noto Sans SC"/>
                <a:ea typeface="Noto Sans SC"/>
                <a:cs typeface="Noto Sans SC"/>
                <a:sym typeface="Noto Sans SC"/>
              </a:rPr>
              <a:t>IN</a:t>
            </a:r>
            <a:r>
              <a:rPr b="1" lang="en-US" sz="3600">
                <a:solidFill>
                  <a:srgbClr val="A95EAF"/>
                </a:solidFill>
                <a:latin typeface="Noto Sans SC"/>
                <a:ea typeface="Noto Sans SC"/>
                <a:cs typeface="Noto Sans SC"/>
                <a:sym typeface="Noto Sans SC"/>
              </a:rPr>
              <a:t>ACTIVE</a:t>
            </a:r>
            <a:endParaRPr b="0" i="0" sz="1600" u="none" cap="none" strike="noStrike"/>
          </a:p>
        </p:txBody>
      </p:sp>
      <p:sp>
        <p:nvSpPr>
          <p:cNvPr id="219" name="Google Shape;219;g3b017e6a17f_0_27"/>
          <p:cNvSpPr txBox="1"/>
          <p:nvPr/>
        </p:nvSpPr>
        <p:spPr>
          <a:xfrm>
            <a:off x="1366525" y="4001700"/>
            <a:ext cx="2385900" cy="447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Clr>
                <a:srgbClr val="000000"/>
              </a:buClr>
              <a:buFont typeface="Arial"/>
              <a:buNone/>
            </a:pPr>
            <a:r>
              <a:rPr b="1" lang="en-US" sz="1900">
                <a:solidFill>
                  <a:schemeClr val="dk1"/>
                </a:solidFill>
                <a:latin typeface="Noto Sans SC"/>
                <a:ea typeface="Noto Sans SC"/>
                <a:cs typeface="Noto Sans SC"/>
                <a:sym typeface="Noto Sans SC"/>
              </a:rPr>
              <a:t>IC50 ≤ 1000 nM</a:t>
            </a:r>
            <a:endParaRPr sz="1500"/>
          </a:p>
        </p:txBody>
      </p:sp>
      <p:sp>
        <p:nvSpPr>
          <p:cNvPr id="220" name="Google Shape;220;g3b017e6a17f_0_27"/>
          <p:cNvSpPr txBox="1"/>
          <p:nvPr/>
        </p:nvSpPr>
        <p:spPr>
          <a:xfrm>
            <a:off x="8439575" y="3994788"/>
            <a:ext cx="2385900" cy="447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1900">
                <a:solidFill>
                  <a:schemeClr val="dk1"/>
                </a:solidFill>
                <a:latin typeface="Noto Sans SC"/>
                <a:ea typeface="Noto Sans SC"/>
                <a:cs typeface="Noto Sans SC"/>
                <a:sym typeface="Noto Sans SC"/>
              </a:rPr>
              <a:t>IC50 ≥ 10000 nM</a:t>
            </a:r>
            <a:endParaRPr sz="1500"/>
          </a:p>
        </p:txBody>
      </p:sp>
      <p:sp>
        <p:nvSpPr>
          <p:cNvPr id="221" name="Google Shape;221;g3b017e6a17f_0_27"/>
          <p:cNvSpPr txBox="1"/>
          <p:nvPr/>
        </p:nvSpPr>
        <p:spPr>
          <a:xfrm>
            <a:off x="1758475" y="4541800"/>
            <a:ext cx="1602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600"/>
              <a:t>High Potency Drugs</a:t>
            </a:r>
            <a:endParaRPr sz="1600"/>
          </a:p>
        </p:txBody>
      </p:sp>
      <p:sp>
        <p:nvSpPr>
          <p:cNvPr id="222" name="Google Shape;222;g3b017e6a17f_0_27"/>
          <p:cNvSpPr txBox="1"/>
          <p:nvPr/>
        </p:nvSpPr>
        <p:spPr>
          <a:xfrm>
            <a:off x="8826475" y="4523200"/>
            <a:ext cx="1602000" cy="714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US" sz="1600"/>
              <a:t>Weak/Useless</a:t>
            </a:r>
            <a:endParaRPr sz="1600"/>
          </a:p>
          <a:p>
            <a:pPr indent="0" lvl="0" marL="0" rtl="0" algn="ctr">
              <a:lnSpc>
                <a:spcPct val="115000"/>
              </a:lnSpc>
              <a:spcBef>
                <a:spcPts val="0"/>
              </a:spcBef>
              <a:spcAft>
                <a:spcPts val="0"/>
              </a:spcAft>
              <a:buNone/>
            </a:pPr>
            <a:r>
              <a:rPr lang="en-US" sz="1600"/>
              <a:t>Compounds</a:t>
            </a:r>
            <a:endParaRPr sz="1600"/>
          </a:p>
        </p:txBody>
      </p:sp>
      <p:sp>
        <p:nvSpPr>
          <p:cNvPr id="223" name="Google Shape;223;g3b017e6a17f_0_27"/>
          <p:cNvSpPr txBox="1"/>
          <p:nvPr/>
        </p:nvSpPr>
        <p:spPr>
          <a:xfrm>
            <a:off x="4950150" y="3188900"/>
            <a:ext cx="2291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600"/>
              <a:t>THE GAP</a:t>
            </a:r>
            <a:endParaRPr b="1" sz="3600"/>
          </a:p>
        </p:txBody>
      </p:sp>
      <p:sp>
        <p:nvSpPr>
          <p:cNvPr id="224" name="Google Shape;224;g3b017e6a17f_0_27"/>
          <p:cNvSpPr txBox="1"/>
          <p:nvPr/>
        </p:nvSpPr>
        <p:spPr>
          <a:xfrm>
            <a:off x="4596000" y="4001700"/>
            <a:ext cx="3000000" cy="447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1900">
                <a:solidFill>
                  <a:schemeClr val="dk1"/>
                </a:solidFill>
                <a:latin typeface="Noto Sans SC"/>
                <a:ea typeface="Noto Sans SC"/>
                <a:cs typeface="Noto Sans SC"/>
                <a:sym typeface="Noto Sans SC"/>
              </a:rPr>
              <a:t>1000 - 10000 nM</a:t>
            </a:r>
            <a:endParaRPr sz="1500"/>
          </a:p>
        </p:txBody>
      </p:sp>
      <p:sp>
        <p:nvSpPr>
          <p:cNvPr id="225" name="Google Shape;225;g3b017e6a17f_0_27"/>
          <p:cNvSpPr txBox="1"/>
          <p:nvPr/>
        </p:nvSpPr>
        <p:spPr>
          <a:xfrm>
            <a:off x="5213407" y="4509700"/>
            <a:ext cx="1765200" cy="997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US" sz="1600"/>
              <a:t>Ambiguous Data</a:t>
            </a:r>
            <a:endParaRPr sz="1600"/>
          </a:p>
          <a:p>
            <a:pPr indent="0" lvl="0" marL="0" rtl="0" algn="ctr">
              <a:lnSpc>
                <a:spcPct val="115000"/>
              </a:lnSpc>
              <a:spcBef>
                <a:spcPts val="0"/>
              </a:spcBef>
              <a:spcAft>
                <a:spcPts val="0"/>
              </a:spcAft>
              <a:buNone/>
            </a:pPr>
            <a:r>
              <a:rPr lang="en-US" sz="1600"/>
              <a:t>Removed to reduce noise</a:t>
            </a:r>
            <a:endParaRPr sz="160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230" name="Shape 230"/>
        <p:cNvGrpSpPr/>
        <p:nvPr/>
      </p:nvGrpSpPr>
      <p:grpSpPr>
        <a:xfrm>
          <a:off x="0" y="0"/>
          <a:ext cx="0" cy="0"/>
          <a:chOff x="0" y="0"/>
          <a:chExt cx="0" cy="0"/>
        </a:xfrm>
      </p:grpSpPr>
      <p:sp>
        <p:nvSpPr>
          <p:cNvPr id="231" name="Google Shape;231;g3b073b97ef7_0_3"/>
          <p:cNvSpPr/>
          <p:nvPr/>
        </p:nvSpPr>
        <p:spPr>
          <a:xfrm rot="5939221">
            <a:off x="367677" y="335985"/>
            <a:ext cx="558861" cy="595013"/>
          </a:xfrm>
          <a:prstGeom prst="donut">
            <a:avLst>
              <a:gd fmla="val 25000" name="adj"/>
            </a:avLst>
          </a:prstGeom>
          <a:gradFill>
            <a:gsLst>
              <a:gs pos="0">
                <a:srgbClr val="402E7F"/>
              </a:gs>
              <a:gs pos="54000">
                <a:srgbClr val="BC7DB7">
                  <a:alpha val="2745"/>
                </a:srgbClr>
              </a:gs>
              <a:gs pos="100000">
                <a:srgbClr val="BC7DB7">
                  <a:alpha val="2745"/>
                </a:srgbClr>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g3b073b97ef7_0_3"/>
          <p:cNvSpPr/>
          <p:nvPr/>
        </p:nvSpPr>
        <p:spPr>
          <a:xfrm rot="5939221">
            <a:off x="367677" y="335985"/>
            <a:ext cx="558861" cy="595013"/>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pic>
        <p:nvPicPr>
          <p:cNvPr descr="https://kimi-img.moonshot.cn/pub/slides/slides_tmpl/image/25-09-08-15:08:29-d2v81rdnfo2stf9dkdb0.jpg" id="233" name="Google Shape;233;g3b073b97ef7_0_3"/>
          <p:cNvPicPr preferRelativeResize="0"/>
          <p:nvPr/>
        </p:nvPicPr>
        <p:blipFill rotWithShape="1">
          <a:blip r:embed="rId3">
            <a:alphaModFix/>
          </a:blip>
          <a:srcRect b="0" l="0" r="0" t="0"/>
          <a:stretch/>
        </p:blipFill>
        <p:spPr>
          <a:xfrm>
            <a:off x="-158750" y="-6350"/>
            <a:ext cx="12350749" cy="6960235"/>
          </a:xfrm>
          <a:prstGeom prst="rect">
            <a:avLst/>
          </a:prstGeom>
          <a:noFill/>
          <a:ln>
            <a:noFill/>
          </a:ln>
        </p:spPr>
      </p:pic>
      <p:sp>
        <p:nvSpPr>
          <p:cNvPr id="234" name="Google Shape;234;g3b073b97ef7_0_3"/>
          <p:cNvSpPr/>
          <p:nvPr/>
        </p:nvSpPr>
        <p:spPr>
          <a:xfrm>
            <a:off x="158750" y="2082800"/>
            <a:ext cx="11874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3300" u="none" cap="none" strike="noStrike">
                <a:solidFill>
                  <a:srgbClr val="8F5C9A"/>
                </a:solidFill>
                <a:latin typeface="Noto Sans SC"/>
                <a:ea typeface="Noto Sans SC"/>
                <a:cs typeface="Noto Sans SC"/>
                <a:sym typeface="Noto Sans SC"/>
              </a:rPr>
              <a:t>Curating a High-Confidence Dataset</a:t>
            </a:r>
            <a:endParaRPr b="0" i="0" sz="3300" u="none" cap="none" strike="noStrike"/>
          </a:p>
        </p:txBody>
      </p:sp>
      <p:sp>
        <p:nvSpPr>
          <p:cNvPr id="235" name="Google Shape;235;g3b073b97ef7_0_3"/>
          <p:cNvSpPr/>
          <p:nvPr/>
        </p:nvSpPr>
        <p:spPr>
          <a:xfrm>
            <a:off x="203200" y="2641600"/>
            <a:ext cx="117855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600" u="none" cap="none" strike="noStrike">
                <a:solidFill>
                  <a:srgbClr val="3C3542"/>
                </a:solidFill>
                <a:latin typeface="Arial"/>
                <a:ea typeface="Arial"/>
                <a:cs typeface="Arial"/>
                <a:sym typeface="Arial"/>
              </a:rPr>
              <a:t>From a raw deposit of 9,731 ChEMBL records to a balanced, bias-free modeling base.</a:t>
            </a:r>
            <a:endParaRPr b="0" i="0" sz="1600" u="none" cap="none" strike="noStrike"/>
          </a:p>
        </p:txBody>
      </p:sp>
      <p:sp>
        <p:nvSpPr>
          <p:cNvPr id="236" name="Google Shape;236;g3b073b97ef7_0_3"/>
          <p:cNvSpPr/>
          <p:nvPr/>
        </p:nvSpPr>
        <p:spPr>
          <a:xfrm>
            <a:off x="1901130" y="3352800"/>
            <a:ext cx="1574800" cy="1422400"/>
          </a:xfrm>
          <a:custGeom>
            <a:rect b="b" l="l" r="r" t="t"/>
            <a:pathLst>
              <a:path extrusionOk="0" h="1422400" w="1574800">
                <a:moveTo>
                  <a:pt x="101602" y="0"/>
                </a:moveTo>
                <a:lnTo>
                  <a:pt x="1473198" y="0"/>
                </a:lnTo>
                <a:cubicBezTo>
                  <a:pt x="1529311" y="0"/>
                  <a:pt x="1574800" y="45489"/>
                  <a:pt x="1574800" y="101602"/>
                </a:cubicBezTo>
                <a:lnTo>
                  <a:pt x="1574800" y="1320798"/>
                </a:lnTo>
                <a:cubicBezTo>
                  <a:pt x="1574800" y="1376911"/>
                  <a:pt x="1529311" y="1422400"/>
                  <a:pt x="1473198" y="1422400"/>
                </a:cubicBezTo>
                <a:lnTo>
                  <a:pt x="101602" y="1422400"/>
                </a:lnTo>
                <a:cubicBezTo>
                  <a:pt x="45489" y="1422400"/>
                  <a:pt x="0" y="1376911"/>
                  <a:pt x="0" y="1320798"/>
                </a:cubicBezTo>
                <a:lnTo>
                  <a:pt x="0" y="101602"/>
                </a:lnTo>
                <a:cubicBezTo>
                  <a:pt x="0" y="45526"/>
                  <a:pt x="45526" y="0"/>
                  <a:pt x="101602" y="0"/>
                </a:cubicBezTo>
                <a:close/>
              </a:path>
            </a:pathLst>
          </a:custGeom>
          <a:solidFill>
            <a:srgbClr val="D3B9D7">
              <a:alpha val="2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3b073b97ef7_0_3"/>
          <p:cNvSpPr/>
          <p:nvPr/>
        </p:nvSpPr>
        <p:spPr>
          <a:xfrm>
            <a:off x="1999456" y="3556000"/>
            <a:ext cx="1371600" cy="507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1" i="0" lang="en-US" sz="3600" u="none" cap="none" strike="noStrike">
                <a:solidFill>
                  <a:srgbClr val="A95EAF"/>
                </a:solidFill>
                <a:latin typeface="Noto Sans SC"/>
                <a:ea typeface="Noto Sans SC"/>
                <a:cs typeface="Noto Sans SC"/>
                <a:sym typeface="Noto Sans SC"/>
              </a:rPr>
              <a:t>9,731</a:t>
            </a:r>
            <a:endParaRPr b="0" i="0" sz="1600" u="none" cap="none" strike="noStrike"/>
          </a:p>
        </p:txBody>
      </p:sp>
      <p:sp>
        <p:nvSpPr>
          <p:cNvPr id="238" name="Google Shape;238;g3b073b97ef7_0_3"/>
          <p:cNvSpPr/>
          <p:nvPr/>
        </p:nvSpPr>
        <p:spPr>
          <a:xfrm>
            <a:off x="2053530" y="4064000"/>
            <a:ext cx="12699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600" u="none" cap="none" strike="noStrike">
                <a:solidFill>
                  <a:srgbClr val="3C3542"/>
                </a:solidFill>
                <a:latin typeface="Arial"/>
                <a:ea typeface="Arial"/>
                <a:cs typeface="Arial"/>
                <a:sym typeface="Arial"/>
              </a:rPr>
              <a:t>Raw Entries</a:t>
            </a:r>
            <a:endParaRPr b="0" i="0" sz="1600" u="none" cap="none" strike="noStrike"/>
          </a:p>
        </p:txBody>
      </p:sp>
      <p:sp>
        <p:nvSpPr>
          <p:cNvPr id="239" name="Google Shape;239;g3b073b97ef7_0_3"/>
          <p:cNvSpPr/>
          <p:nvPr/>
        </p:nvSpPr>
        <p:spPr>
          <a:xfrm>
            <a:off x="2101453" y="4368800"/>
            <a:ext cx="1168500" cy="2031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0" i="0" lang="en-US" sz="1200" u="none" cap="none" strike="noStrike">
                <a:solidFill>
                  <a:srgbClr val="3C3542"/>
                </a:solidFill>
                <a:latin typeface="Arial"/>
                <a:ea typeface="Arial"/>
                <a:cs typeface="Arial"/>
                <a:sym typeface="Arial"/>
              </a:rPr>
              <a:t>(ChEMBL 2025)</a:t>
            </a:r>
            <a:endParaRPr b="0" i="0" sz="1600" u="none" cap="none" strike="noStrike"/>
          </a:p>
        </p:txBody>
      </p:sp>
      <p:sp>
        <p:nvSpPr>
          <p:cNvPr id="240" name="Google Shape;240;g3b073b97ef7_0_3"/>
          <p:cNvSpPr/>
          <p:nvPr/>
        </p:nvSpPr>
        <p:spPr>
          <a:xfrm>
            <a:off x="3995738" y="3606800"/>
            <a:ext cx="457200" cy="457200"/>
          </a:xfrm>
          <a:custGeom>
            <a:rect b="b" l="l" r="r" t="t"/>
            <a:pathLst>
              <a:path extrusionOk="0" h="457200" w="457200">
                <a:moveTo>
                  <a:pt x="28575" y="57150"/>
                </a:moveTo>
                <a:cubicBezTo>
                  <a:pt x="17056" y="57150"/>
                  <a:pt x="6608" y="64115"/>
                  <a:pt x="2143" y="74831"/>
                </a:cubicBezTo>
                <a:cubicBezTo>
                  <a:pt x="-2322" y="85546"/>
                  <a:pt x="179" y="97780"/>
                  <a:pt x="8394" y="105906"/>
                </a:cubicBezTo>
                <a:lnTo>
                  <a:pt x="171450" y="269051"/>
                </a:lnTo>
                <a:lnTo>
                  <a:pt x="171450" y="371475"/>
                </a:lnTo>
                <a:cubicBezTo>
                  <a:pt x="171450" y="379065"/>
                  <a:pt x="174486" y="386298"/>
                  <a:pt x="179844" y="391656"/>
                </a:cubicBezTo>
                <a:lnTo>
                  <a:pt x="236994" y="448806"/>
                </a:lnTo>
                <a:cubicBezTo>
                  <a:pt x="245209" y="457021"/>
                  <a:pt x="257443" y="459432"/>
                  <a:pt x="268159" y="454968"/>
                </a:cubicBezTo>
                <a:cubicBezTo>
                  <a:pt x="278874" y="450503"/>
                  <a:pt x="285750" y="440144"/>
                  <a:pt x="285750" y="428625"/>
                </a:cubicBezTo>
                <a:lnTo>
                  <a:pt x="285750" y="269051"/>
                </a:lnTo>
                <a:lnTo>
                  <a:pt x="448806" y="105995"/>
                </a:lnTo>
                <a:cubicBezTo>
                  <a:pt x="457021" y="97780"/>
                  <a:pt x="459432" y="85546"/>
                  <a:pt x="454968" y="74831"/>
                </a:cubicBezTo>
                <a:cubicBezTo>
                  <a:pt x="450503" y="64115"/>
                  <a:pt x="440144" y="57150"/>
                  <a:pt x="428625" y="57150"/>
                </a:cubicBezTo>
                <a:lnTo>
                  <a:pt x="28575" y="57150"/>
                </a:lnTo>
                <a:close/>
              </a:path>
            </a:pathLst>
          </a:custGeom>
          <a:solidFill>
            <a:srgbClr val="8F5C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3b073b97ef7_0_3"/>
          <p:cNvSpPr/>
          <p:nvPr/>
        </p:nvSpPr>
        <p:spPr>
          <a:xfrm>
            <a:off x="3788172" y="4114800"/>
            <a:ext cx="952500" cy="203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0" i="0" lang="en-US" sz="1200" u="none" cap="none" strike="noStrike">
                <a:solidFill>
                  <a:srgbClr val="3C3542"/>
                </a:solidFill>
                <a:latin typeface="Arial"/>
                <a:ea typeface="Arial"/>
                <a:cs typeface="Arial"/>
                <a:sym typeface="Arial"/>
              </a:rPr>
              <a:t>Strip Missing</a:t>
            </a:r>
            <a:endParaRPr b="0" i="0" sz="1600" u="none" cap="none" strike="noStrike"/>
          </a:p>
        </p:txBody>
      </p:sp>
      <p:sp>
        <p:nvSpPr>
          <p:cNvPr id="242" name="Google Shape;242;g3b073b97ef7_0_3"/>
          <p:cNvSpPr/>
          <p:nvPr/>
        </p:nvSpPr>
        <p:spPr>
          <a:xfrm>
            <a:off x="3673872" y="4318000"/>
            <a:ext cx="1181100" cy="203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0" i="0" lang="en-US" sz="1200" u="none" cap="none" strike="noStrike">
                <a:solidFill>
                  <a:srgbClr val="3C3542"/>
                </a:solidFill>
                <a:latin typeface="Arial"/>
                <a:ea typeface="Arial"/>
                <a:cs typeface="Arial"/>
                <a:sym typeface="Arial"/>
              </a:rPr>
              <a:t>Filter IC50 &amp; nM</a:t>
            </a:r>
            <a:endParaRPr b="0" i="0" sz="1600" u="none" cap="none" strike="noStrike"/>
          </a:p>
        </p:txBody>
      </p:sp>
      <p:sp>
        <p:nvSpPr>
          <p:cNvPr id="243" name="Google Shape;243;g3b073b97ef7_0_3"/>
          <p:cNvSpPr/>
          <p:nvPr/>
        </p:nvSpPr>
        <p:spPr>
          <a:xfrm>
            <a:off x="4978102" y="3352800"/>
            <a:ext cx="2070100" cy="1422400"/>
          </a:xfrm>
          <a:custGeom>
            <a:rect b="b" l="l" r="r" t="t"/>
            <a:pathLst>
              <a:path extrusionOk="0" h="1422400" w="2070100">
                <a:moveTo>
                  <a:pt x="101602" y="0"/>
                </a:moveTo>
                <a:lnTo>
                  <a:pt x="1968498" y="0"/>
                </a:lnTo>
                <a:cubicBezTo>
                  <a:pt x="2024611" y="0"/>
                  <a:pt x="2070100" y="45489"/>
                  <a:pt x="2070100" y="101602"/>
                </a:cubicBezTo>
                <a:lnTo>
                  <a:pt x="2070100" y="1320798"/>
                </a:lnTo>
                <a:cubicBezTo>
                  <a:pt x="2070100" y="1376911"/>
                  <a:pt x="2024611" y="1422400"/>
                  <a:pt x="1968498" y="1422400"/>
                </a:cubicBezTo>
                <a:lnTo>
                  <a:pt x="101602" y="1422400"/>
                </a:lnTo>
                <a:cubicBezTo>
                  <a:pt x="45489" y="1422400"/>
                  <a:pt x="0" y="1376911"/>
                  <a:pt x="0" y="1320798"/>
                </a:cubicBezTo>
                <a:lnTo>
                  <a:pt x="0" y="101602"/>
                </a:lnTo>
                <a:cubicBezTo>
                  <a:pt x="0" y="45526"/>
                  <a:pt x="45526" y="0"/>
                  <a:pt x="101602" y="0"/>
                </a:cubicBezTo>
                <a:close/>
              </a:path>
            </a:pathLst>
          </a:custGeom>
          <a:solidFill>
            <a:srgbClr val="D3B9D7">
              <a:alpha val="2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g3b073b97ef7_0_3"/>
          <p:cNvSpPr/>
          <p:nvPr/>
        </p:nvSpPr>
        <p:spPr>
          <a:xfrm>
            <a:off x="5324773" y="3556000"/>
            <a:ext cx="1371600" cy="507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1" i="0" lang="en-US" sz="3600" u="none" cap="none" strike="noStrike">
                <a:solidFill>
                  <a:srgbClr val="A95EAF"/>
                </a:solidFill>
                <a:latin typeface="Noto Sans SC"/>
                <a:ea typeface="Noto Sans SC"/>
                <a:cs typeface="Noto Sans SC"/>
                <a:sym typeface="Noto Sans SC"/>
              </a:rPr>
              <a:t>8,372</a:t>
            </a:r>
            <a:endParaRPr b="0" i="0" sz="1600" u="none" cap="none" strike="noStrike"/>
          </a:p>
        </p:txBody>
      </p:sp>
      <p:sp>
        <p:nvSpPr>
          <p:cNvPr id="245" name="Google Shape;245;g3b073b97ef7_0_3"/>
          <p:cNvSpPr/>
          <p:nvPr/>
        </p:nvSpPr>
        <p:spPr>
          <a:xfrm>
            <a:off x="5130502" y="4064000"/>
            <a:ext cx="17652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600" u="none" cap="none" strike="noStrike">
                <a:solidFill>
                  <a:srgbClr val="3C3542"/>
                </a:solidFill>
                <a:latin typeface="Arial"/>
                <a:ea typeface="Arial"/>
                <a:cs typeface="Arial"/>
                <a:sym typeface="Arial"/>
              </a:rPr>
              <a:t>Valid Data Points</a:t>
            </a:r>
            <a:endParaRPr b="0" i="0" sz="1600" u="none" cap="none" strike="noStrike"/>
          </a:p>
        </p:txBody>
      </p:sp>
      <p:sp>
        <p:nvSpPr>
          <p:cNvPr id="246" name="Google Shape;246;g3b073b97ef7_0_3"/>
          <p:cNvSpPr/>
          <p:nvPr/>
        </p:nvSpPr>
        <p:spPr>
          <a:xfrm>
            <a:off x="5553869" y="4368800"/>
            <a:ext cx="914400" cy="2031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0" i="0" lang="en-US" sz="1200" u="none" cap="none" strike="noStrike">
                <a:solidFill>
                  <a:srgbClr val="3C3542"/>
                </a:solidFill>
                <a:latin typeface="Arial"/>
                <a:ea typeface="Arial"/>
                <a:cs typeface="Arial"/>
                <a:sym typeface="Arial"/>
              </a:rPr>
              <a:t>(IC50 in nM)</a:t>
            </a:r>
            <a:endParaRPr b="0" i="0" sz="1600" u="none" cap="none" strike="noStrike"/>
          </a:p>
        </p:txBody>
      </p:sp>
      <p:sp>
        <p:nvSpPr>
          <p:cNvPr id="247" name="Google Shape;247;g3b073b97ef7_0_3"/>
          <p:cNvSpPr/>
          <p:nvPr/>
        </p:nvSpPr>
        <p:spPr>
          <a:xfrm>
            <a:off x="7546280" y="3606800"/>
            <a:ext cx="571500" cy="457200"/>
          </a:xfrm>
          <a:custGeom>
            <a:rect b="b" l="l" r="r" t="t"/>
            <a:pathLst>
              <a:path extrusionOk="0" h="457200" w="571500">
                <a:moveTo>
                  <a:pt x="342900" y="28575"/>
                </a:moveTo>
                <a:lnTo>
                  <a:pt x="457200" y="28575"/>
                </a:lnTo>
                <a:cubicBezTo>
                  <a:pt x="473006" y="28575"/>
                  <a:pt x="485775" y="41344"/>
                  <a:pt x="485775" y="57150"/>
                </a:cubicBezTo>
                <a:cubicBezTo>
                  <a:pt x="485775" y="72956"/>
                  <a:pt x="473006" y="85725"/>
                  <a:pt x="457200" y="85725"/>
                </a:cubicBezTo>
                <a:lnTo>
                  <a:pt x="355759" y="85725"/>
                </a:lnTo>
                <a:cubicBezTo>
                  <a:pt x="351115" y="108764"/>
                  <a:pt x="335310" y="127784"/>
                  <a:pt x="314325" y="136892"/>
                </a:cubicBezTo>
                <a:lnTo>
                  <a:pt x="314325" y="400050"/>
                </a:lnTo>
                <a:lnTo>
                  <a:pt x="457200" y="400050"/>
                </a:lnTo>
                <a:cubicBezTo>
                  <a:pt x="473006" y="400050"/>
                  <a:pt x="485775" y="412819"/>
                  <a:pt x="485775" y="428625"/>
                </a:cubicBezTo>
                <a:cubicBezTo>
                  <a:pt x="485775" y="444431"/>
                  <a:pt x="473006" y="457200"/>
                  <a:pt x="457200" y="457200"/>
                </a:cubicBezTo>
                <a:lnTo>
                  <a:pt x="114300" y="457200"/>
                </a:lnTo>
                <a:cubicBezTo>
                  <a:pt x="98494" y="457200"/>
                  <a:pt x="85725" y="444431"/>
                  <a:pt x="85725" y="428625"/>
                </a:cubicBezTo>
                <a:cubicBezTo>
                  <a:pt x="85725" y="412819"/>
                  <a:pt x="98494" y="400050"/>
                  <a:pt x="114300" y="400050"/>
                </a:cubicBezTo>
                <a:lnTo>
                  <a:pt x="257175" y="400050"/>
                </a:lnTo>
                <a:lnTo>
                  <a:pt x="257175" y="136892"/>
                </a:lnTo>
                <a:cubicBezTo>
                  <a:pt x="236190" y="127695"/>
                  <a:pt x="220385" y="108674"/>
                  <a:pt x="215741" y="85725"/>
                </a:cubicBezTo>
                <a:lnTo>
                  <a:pt x="114300" y="85725"/>
                </a:lnTo>
                <a:cubicBezTo>
                  <a:pt x="98494" y="85725"/>
                  <a:pt x="85725" y="72956"/>
                  <a:pt x="85725" y="57150"/>
                </a:cubicBezTo>
                <a:cubicBezTo>
                  <a:pt x="85725" y="41344"/>
                  <a:pt x="98494" y="28575"/>
                  <a:pt x="114300" y="28575"/>
                </a:cubicBezTo>
                <a:lnTo>
                  <a:pt x="228600" y="28575"/>
                </a:lnTo>
                <a:cubicBezTo>
                  <a:pt x="241637" y="11251"/>
                  <a:pt x="262354" y="0"/>
                  <a:pt x="285750" y="0"/>
                </a:cubicBezTo>
                <a:cubicBezTo>
                  <a:pt x="309146" y="0"/>
                  <a:pt x="329863" y="11251"/>
                  <a:pt x="342900" y="28575"/>
                </a:cubicBezTo>
                <a:close/>
                <a:moveTo>
                  <a:pt x="392549" y="285750"/>
                </a:moveTo>
                <a:lnTo>
                  <a:pt x="521851" y="285750"/>
                </a:lnTo>
                <a:lnTo>
                  <a:pt x="457200" y="174843"/>
                </a:lnTo>
                <a:lnTo>
                  <a:pt x="392549" y="285750"/>
                </a:lnTo>
                <a:close/>
                <a:moveTo>
                  <a:pt x="457200" y="371475"/>
                </a:moveTo>
                <a:cubicBezTo>
                  <a:pt x="401032" y="371475"/>
                  <a:pt x="354330" y="341114"/>
                  <a:pt x="344686" y="301020"/>
                </a:cubicBezTo>
                <a:cubicBezTo>
                  <a:pt x="342364" y="291197"/>
                  <a:pt x="345579" y="281107"/>
                  <a:pt x="350669" y="272355"/>
                </a:cubicBezTo>
                <a:lnTo>
                  <a:pt x="435679" y="126623"/>
                </a:lnTo>
                <a:cubicBezTo>
                  <a:pt x="440144" y="118943"/>
                  <a:pt x="448360" y="114300"/>
                  <a:pt x="457200" y="114300"/>
                </a:cubicBezTo>
                <a:cubicBezTo>
                  <a:pt x="466040" y="114300"/>
                  <a:pt x="474256" y="119033"/>
                  <a:pt x="478721" y="126623"/>
                </a:cubicBezTo>
                <a:lnTo>
                  <a:pt x="563731" y="272355"/>
                </a:lnTo>
                <a:cubicBezTo>
                  <a:pt x="568821" y="281107"/>
                  <a:pt x="572036" y="291197"/>
                  <a:pt x="569714" y="301020"/>
                </a:cubicBezTo>
                <a:cubicBezTo>
                  <a:pt x="560070" y="341025"/>
                  <a:pt x="513368" y="371475"/>
                  <a:pt x="457200" y="371475"/>
                </a:cubicBezTo>
                <a:close/>
                <a:moveTo>
                  <a:pt x="113228" y="174843"/>
                </a:moveTo>
                <a:lnTo>
                  <a:pt x="48578" y="285750"/>
                </a:lnTo>
                <a:lnTo>
                  <a:pt x="177969" y="285750"/>
                </a:lnTo>
                <a:lnTo>
                  <a:pt x="113228" y="174843"/>
                </a:lnTo>
                <a:close/>
                <a:moveTo>
                  <a:pt x="804" y="301020"/>
                </a:moveTo>
                <a:cubicBezTo>
                  <a:pt x="-1518" y="291197"/>
                  <a:pt x="1697" y="281107"/>
                  <a:pt x="6787" y="272355"/>
                </a:cubicBezTo>
                <a:lnTo>
                  <a:pt x="91797" y="126623"/>
                </a:lnTo>
                <a:cubicBezTo>
                  <a:pt x="96262" y="118943"/>
                  <a:pt x="104477" y="114300"/>
                  <a:pt x="113318" y="114300"/>
                </a:cubicBezTo>
                <a:cubicBezTo>
                  <a:pt x="122158" y="114300"/>
                  <a:pt x="130373" y="119033"/>
                  <a:pt x="134838" y="126623"/>
                </a:cubicBezTo>
                <a:lnTo>
                  <a:pt x="219849" y="272355"/>
                </a:lnTo>
                <a:cubicBezTo>
                  <a:pt x="224939" y="281107"/>
                  <a:pt x="228154" y="291197"/>
                  <a:pt x="225832" y="301020"/>
                </a:cubicBezTo>
                <a:cubicBezTo>
                  <a:pt x="216188" y="341025"/>
                  <a:pt x="169485" y="371475"/>
                  <a:pt x="113318" y="371475"/>
                </a:cubicBezTo>
                <a:cubicBezTo>
                  <a:pt x="57150" y="371475"/>
                  <a:pt x="10448" y="341114"/>
                  <a:pt x="804" y="301020"/>
                </a:cubicBezTo>
                <a:close/>
              </a:path>
            </a:pathLst>
          </a:custGeom>
          <a:solidFill>
            <a:srgbClr val="8F5C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b073b97ef7_0_3"/>
          <p:cNvSpPr/>
          <p:nvPr/>
        </p:nvSpPr>
        <p:spPr>
          <a:xfrm>
            <a:off x="7370266" y="4114800"/>
            <a:ext cx="1003200" cy="203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0" i="0" lang="en-US" sz="1200" u="none" cap="none" strike="noStrike">
                <a:solidFill>
                  <a:srgbClr val="3C3542"/>
                </a:solidFill>
                <a:latin typeface="Arial"/>
                <a:ea typeface="Arial"/>
                <a:cs typeface="Arial"/>
                <a:sym typeface="Arial"/>
              </a:rPr>
              <a:t>Binary Labels</a:t>
            </a:r>
            <a:endParaRPr b="0" i="0" sz="1600" u="none" cap="none" strike="noStrike"/>
          </a:p>
        </p:txBody>
      </p:sp>
      <p:sp>
        <p:nvSpPr>
          <p:cNvPr id="249" name="Google Shape;249;g3b073b97ef7_0_3"/>
          <p:cNvSpPr/>
          <p:nvPr/>
        </p:nvSpPr>
        <p:spPr>
          <a:xfrm>
            <a:off x="8619728" y="3352800"/>
            <a:ext cx="1676400" cy="1422400"/>
          </a:xfrm>
          <a:custGeom>
            <a:rect b="b" l="l" r="r" t="t"/>
            <a:pathLst>
              <a:path extrusionOk="0" h="1422400" w="1676400">
                <a:moveTo>
                  <a:pt x="101602" y="0"/>
                </a:moveTo>
                <a:lnTo>
                  <a:pt x="1574798" y="0"/>
                </a:lnTo>
                <a:cubicBezTo>
                  <a:pt x="1630911" y="0"/>
                  <a:pt x="1676400" y="45489"/>
                  <a:pt x="1676400" y="101602"/>
                </a:cubicBezTo>
                <a:lnTo>
                  <a:pt x="1676400" y="1320798"/>
                </a:lnTo>
                <a:cubicBezTo>
                  <a:pt x="1676400" y="1376911"/>
                  <a:pt x="1630911" y="1422400"/>
                  <a:pt x="1574798" y="1422400"/>
                </a:cubicBezTo>
                <a:lnTo>
                  <a:pt x="101602" y="1422400"/>
                </a:lnTo>
                <a:cubicBezTo>
                  <a:pt x="45489" y="1422400"/>
                  <a:pt x="0" y="1376911"/>
                  <a:pt x="0" y="1320798"/>
                </a:cubicBezTo>
                <a:lnTo>
                  <a:pt x="0" y="101602"/>
                </a:lnTo>
                <a:cubicBezTo>
                  <a:pt x="0" y="45526"/>
                  <a:pt x="45526" y="0"/>
                  <a:pt x="101602" y="0"/>
                </a:cubicBezTo>
                <a:close/>
              </a:path>
            </a:pathLst>
          </a:custGeom>
          <a:solidFill>
            <a:srgbClr val="8F5C9A">
              <a:alpha val="2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g3b073b97ef7_0_3"/>
          <p:cNvSpPr/>
          <p:nvPr/>
        </p:nvSpPr>
        <p:spPr>
          <a:xfrm>
            <a:off x="8768854" y="3556000"/>
            <a:ext cx="1371600" cy="507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1" lang="en-US" sz="3600">
                <a:solidFill>
                  <a:srgbClr val="8F5C9A"/>
                </a:solidFill>
                <a:latin typeface="Noto Sans SC"/>
                <a:ea typeface="Noto Sans SC"/>
                <a:cs typeface="Noto Sans SC"/>
                <a:sym typeface="Noto Sans SC"/>
              </a:rPr>
              <a:t>6</a:t>
            </a:r>
            <a:r>
              <a:rPr b="1" i="0" lang="en-US" sz="3600" u="none" cap="none" strike="noStrike">
                <a:solidFill>
                  <a:srgbClr val="8F5C9A"/>
                </a:solidFill>
                <a:latin typeface="Noto Sans SC"/>
                <a:ea typeface="Noto Sans SC"/>
                <a:cs typeface="Noto Sans SC"/>
                <a:sym typeface="Noto Sans SC"/>
              </a:rPr>
              <a:t>,</a:t>
            </a:r>
            <a:r>
              <a:rPr b="1" lang="en-US" sz="3600">
                <a:solidFill>
                  <a:srgbClr val="8F5C9A"/>
                </a:solidFill>
                <a:latin typeface="Noto Sans SC"/>
                <a:ea typeface="Noto Sans SC"/>
                <a:cs typeface="Noto Sans SC"/>
                <a:sym typeface="Noto Sans SC"/>
              </a:rPr>
              <a:t>3</a:t>
            </a:r>
            <a:r>
              <a:rPr b="1" i="0" lang="en-US" sz="3600" u="none" cap="none" strike="noStrike">
                <a:solidFill>
                  <a:srgbClr val="8F5C9A"/>
                </a:solidFill>
                <a:latin typeface="Noto Sans SC"/>
                <a:ea typeface="Noto Sans SC"/>
                <a:cs typeface="Noto Sans SC"/>
                <a:sym typeface="Noto Sans SC"/>
              </a:rPr>
              <a:t>6</a:t>
            </a:r>
            <a:r>
              <a:rPr b="1" lang="en-US" sz="3600">
                <a:solidFill>
                  <a:srgbClr val="8F5C9A"/>
                </a:solidFill>
                <a:latin typeface="Noto Sans SC"/>
                <a:ea typeface="Noto Sans SC"/>
                <a:cs typeface="Noto Sans SC"/>
                <a:sym typeface="Noto Sans SC"/>
              </a:rPr>
              <a:t>6</a:t>
            </a:r>
            <a:endParaRPr b="0" i="0" sz="1600" u="none" cap="none" strike="noStrike"/>
          </a:p>
        </p:txBody>
      </p:sp>
      <p:sp>
        <p:nvSpPr>
          <p:cNvPr id="251" name="Google Shape;251;g3b073b97ef7_0_3"/>
          <p:cNvSpPr/>
          <p:nvPr/>
        </p:nvSpPr>
        <p:spPr>
          <a:xfrm>
            <a:off x="8772128" y="4064000"/>
            <a:ext cx="13716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600" u="none" cap="none" strike="noStrike">
                <a:solidFill>
                  <a:srgbClr val="3C3542"/>
                </a:solidFill>
                <a:latin typeface="Arial"/>
                <a:ea typeface="Arial"/>
                <a:cs typeface="Arial"/>
                <a:sym typeface="Arial"/>
              </a:rPr>
              <a:t>Dataset</a:t>
            </a:r>
            <a:endParaRPr b="0" i="0" sz="1600" u="none" cap="none" strike="noStrike"/>
          </a:p>
        </p:txBody>
      </p:sp>
      <p:sp>
        <p:nvSpPr>
          <p:cNvPr id="252" name="Google Shape;252;g3b073b97ef7_0_3"/>
          <p:cNvSpPr/>
          <p:nvPr/>
        </p:nvSpPr>
        <p:spPr>
          <a:xfrm>
            <a:off x="8849625" y="4368800"/>
            <a:ext cx="1269900" cy="3048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lang="en-US" sz="1200">
                <a:solidFill>
                  <a:srgbClr val="3C3542"/>
                </a:solidFill>
              </a:rPr>
              <a:t>Without grey zone data</a:t>
            </a:r>
            <a:endParaRPr b="0" i="0" sz="1600" u="none" cap="none" strike="noStrike"/>
          </a:p>
        </p:txBody>
      </p:sp>
      <p:sp>
        <p:nvSpPr>
          <p:cNvPr id="253" name="Google Shape;253;g3b073b97ef7_0_3"/>
          <p:cNvSpPr/>
          <p:nvPr/>
        </p:nvSpPr>
        <p:spPr>
          <a:xfrm>
            <a:off x="117825" y="5181600"/>
            <a:ext cx="117855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lang="en-US" sz="1600">
                <a:solidFill>
                  <a:srgbClr val="3C3542"/>
                </a:solidFill>
              </a:rPr>
              <a:t>This significantly increases the robustness and accuracy of our machine learning models</a:t>
            </a:r>
            <a:endParaRPr b="0" i="0" sz="1600" u="none" cap="none" strike="noStrike"/>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258" name="Shape 258"/>
        <p:cNvGrpSpPr/>
        <p:nvPr/>
      </p:nvGrpSpPr>
      <p:grpSpPr>
        <a:xfrm>
          <a:off x="0" y="0"/>
          <a:ext cx="0" cy="0"/>
          <a:chOff x="0" y="0"/>
          <a:chExt cx="0" cy="0"/>
        </a:xfrm>
      </p:grpSpPr>
      <p:pic>
        <p:nvPicPr>
          <p:cNvPr descr="https://kimi-img.moonshot.cn/pub/slides/slides_tmpl/image/25-09-08-15:08:29-d2v81rdnfo2stf9dkdb0.jpg" id="259" name="Google Shape;259;g3b017e6a17f_1_101"/>
          <p:cNvPicPr preferRelativeResize="0"/>
          <p:nvPr/>
        </p:nvPicPr>
        <p:blipFill rotWithShape="1">
          <a:blip r:embed="rId3">
            <a:alphaModFix/>
          </a:blip>
          <a:srcRect b="0" l="0" r="0" t="0"/>
          <a:stretch/>
        </p:blipFill>
        <p:spPr>
          <a:xfrm>
            <a:off x="-158750" y="-6350"/>
            <a:ext cx="12350749" cy="6960235"/>
          </a:xfrm>
          <a:prstGeom prst="rect">
            <a:avLst/>
          </a:prstGeom>
          <a:noFill/>
          <a:ln>
            <a:noFill/>
          </a:ln>
        </p:spPr>
      </p:pic>
      <p:sp>
        <p:nvSpPr>
          <p:cNvPr id="260" name="Google Shape;260;g3b017e6a17f_1_101"/>
          <p:cNvSpPr/>
          <p:nvPr/>
        </p:nvSpPr>
        <p:spPr>
          <a:xfrm>
            <a:off x="254000" y="1854200"/>
            <a:ext cx="58293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3000">
                <a:solidFill>
                  <a:srgbClr val="8F5B9A"/>
                </a:solidFill>
                <a:latin typeface="Noto Sans SC"/>
                <a:ea typeface="Noto Sans SC"/>
                <a:cs typeface="Noto Sans SC"/>
                <a:sym typeface="Noto Sans SC"/>
              </a:rPr>
              <a:t>Class </a:t>
            </a:r>
            <a:r>
              <a:rPr b="1" lang="en-US" sz="3300">
                <a:solidFill>
                  <a:srgbClr val="8F5B9A"/>
                </a:solidFill>
                <a:latin typeface="Noto Sans SC"/>
                <a:ea typeface="Noto Sans SC"/>
                <a:cs typeface="Noto Sans SC"/>
                <a:sym typeface="Noto Sans SC"/>
              </a:rPr>
              <a:t>Preprocessing</a:t>
            </a:r>
            <a:r>
              <a:rPr b="1" lang="en-US" sz="3000">
                <a:solidFill>
                  <a:srgbClr val="8F5B9A"/>
                </a:solidFill>
                <a:latin typeface="Noto Sans SC"/>
                <a:ea typeface="Noto Sans SC"/>
                <a:cs typeface="Noto Sans SC"/>
                <a:sym typeface="Noto Sans SC"/>
              </a:rPr>
              <a:t> and Balancing</a:t>
            </a:r>
            <a:endParaRPr b="1" sz="3000">
              <a:solidFill>
                <a:srgbClr val="8F5B9A"/>
              </a:solidFill>
              <a:latin typeface="Noto Sans SC"/>
              <a:ea typeface="Noto Sans SC"/>
              <a:cs typeface="Noto Sans SC"/>
              <a:sym typeface="Noto Sans SC"/>
            </a:endParaRPr>
          </a:p>
        </p:txBody>
      </p:sp>
      <p:sp>
        <p:nvSpPr>
          <p:cNvPr id="261" name="Google Shape;261;g3b017e6a17f_1_101"/>
          <p:cNvSpPr/>
          <p:nvPr/>
        </p:nvSpPr>
        <p:spPr>
          <a:xfrm>
            <a:off x="254000" y="2971800"/>
            <a:ext cx="5740500" cy="914400"/>
          </a:xfrm>
          <a:prstGeom prst="rect">
            <a:avLst/>
          </a:prstGeom>
          <a:noFill/>
          <a:ln>
            <a:noFill/>
          </a:ln>
        </p:spPr>
        <p:txBody>
          <a:bodyPr anchorCtr="0" anchor="ctr" bIns="0" lIns="0" spcFirstLastPara="1" rIns="0" wrap="square" tIns="0">
            <a:noAutofit/>
          </a:bodyPr>
          <a:lstStyle/>
          <a:p>
            <a:pPr indent="0" lvl="0" marL="0" marR="152400" rtl="0" algn="l">
              <a:lnSpc>
                <a:spcPct val="115000"/>
              </a:lnSpc>
              <a:spcBef>
                <a:spcPts val="0"/>
              </a:spcBef>
              <a:spcAft>
                <a:spcPts val="0"/>
              </a:spcAft>
              <a:buNone/>
            </a:pPr>
            <a:r>
              <a:t/>
            </a:r>
            <a:endParaRPr sz="100">
              <a:solidFill>
                <a:srgbClr val="E8E8E8"/>
              </a:solidFill>
              <a:highlight>
                <a:srgbClr val="303134"/>
              </a:highlight>
            </a:endParaRPr>
          </a:p>
          <a:p>
            <a:pPr indent="0" lvl="0" marL="0" marR="0" rtl="0" algn="l">
              <a:lnSpc>
                <a:spcPct val="130000"/>
              </a:lnSpc>
              <a:spcBef>
                <a:spcPts val="0"/>
              </a:spcBef>
              <a:spcAft>
                <a:spcPts val="0"/>
              </a:spcAft>
              <a:buNone/>
            </a:pPr>
            <a:r>
              <a:rPr lang="en-US" sz="1600">
                <a:solidFill>
                  <a:srgbClr val="333333"/>
                </a:solidFill>
              </a:rPr>
              <a:t>Actual </a:t>
            </a:r>
            <a:r>
              <a:rPr lang="en-US" sz="1600">
                <a:solidFill>
                  <a:schemeClr val="dk1"/>
                </a:solidFill>
              </a:rPr>
              <a:t>biological data is often </a:t>
            </a:r>
            <a:r>
              <a:rPr b="1" lang="en-US" sz="1600">
                <a:solidFill>
                  <a:srgbClr val="8F5B9A"/>
                </a:solidFill>
              </a:rPr>
              <a:t>unbalanced</a:t>
            </a:r>
            <a:r>
              <a:rPr lang="en-US" sz="1600">
                <a:solidFill>
                  <a:schemeClr val="dk1"/>
                </a:solidFill>
              </a:rPr>
              <a:t>. Our code detected more active compounds than inactive ones.</a:t>
            </a:r>
            <a:endParaRPr sz="1600">
              <a:solidFill>
                <a:schemeClr val="dk1"/>
              </a:solidFill>
            </a:endParaRPr>
          </a:p>
          <a:p>
            <a:pPr indent="0" lvl="0" marL="0" marR="0" rtl="0" algn="l">
              <a:lnSpc>
                <a:spcPct val="130000"/>
              </a:lnSpc>
              <a:spcBef>
                <a:spcPts val="0"/>
              </a:spcBef>
              <a:spcAft>
                <a:spcPts val="0"/>
              </a:spcAft>
              <a:buNone/>
            </a:pPr>
            <a:r>
              <a:t/>
            </a:r>
            <a:endParaRPr sz="1600">
              <a:solidFill>
                <a:srgbClr val="333333"/>
              </a:solidFill>
            </a:endParaRPr>
          </a:p>
        </p:txBody>
      </p:sp>
      <p:sp>
        <p:nvSpPr>
          <p:cNvPr id="262" name="Google Shape;262;g3b017e6a17f_1_101"/>
          <p:cNvSpPr/>
          <p:nvPr/>
        </p:nvSpPr>
        <p:spPr>
          <a:xfrm>
            <a:off x="254000" y="4089400"/>
            <a:ext cx="5740500" cy="914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600">
                <a:solidFill>
                  <a:srgbClr val="333333"/>
                </a:solidFill>
              </a:rPr>
              <a:t>To avoid bias, we applied </a:t>
            </a:r>
            <a:r>
              <a:rPr b="1" lang="en-US" sz="1600">
                <a:solidFill>
                  <a:srgbClr val="8F5B9A"/>
                </a:solidFill>
              </a:rPr>
              <a:t>random</a:t>
            </a:r>
            <a:r>
              <a:rPr lang="en-US" sz="1600">
                <a:solidFill>
                  <a:srgbClr val="333333"/>
                </a:solidFill>
              </a:rPr>
              <a:t> </a:t>
            </a:r>
            <a:r>
              <a:rPr b="1" lang="en-US" sz="1600">
                <a:solidFill>
                  <a:srgbClr val="8F5B9A"/>
                </a:solidFill>
              </a:rPr>
              <a:t>undersampling</a:t>
            </a:r>
            <a:r>
              <a:rPr lang="en-US" sz="1600">
                <a:solidFill>
                  <a:srgbClr val="333333"/>
                </a:solidFill>
              </a:rPr>
              <a:t> to the majority class (Class 1: Active), creating a perfectly balanced dataset (50/50)</a:t>
            </a:r>
            <a:endParaRPr sz="2100">
              <a:solidFill>
                <a:srgbClr val="E8EAED"/>
              </a:solidFill>
              <a:highlight>
                <a:srgbClr val="303134"/>
              </a:highlight>
            </a:endParaRPr>
          </a:p>
          <a:p>
            <a:pPr indent="0" lvl="0" marL="152400" marR="152400" rtl="0" algn="l">
              <a:lnSpc>
                <a:spcPct val="115000"/>
              </a:lnSpc>
              <a:spcBef>
                <a:spcPts val="0"/>
              </a:spcBef>
              <a:spcAft>
                <a:spcPts val="0"/>
              </a:spcAft>
              <a:buNone/>
            </a:pPr>
            <a:r>
              <a:t/>
            </a:r>
            <a:endParaRPr sz="100">
              <a:solidFill>
                <a:srgbClr val="E8E8E8"/>
              </a:solidFill>
              <a:highlight>
                <a:srgbClr val="303134"/>
              </a:highlight>
            </a:endParaRPr>
          </a:p>
          <a:p>
            <a:pPr indent="0" lvl="0" marL="0" marR="0" rtl="0" algn="l">
              <a:lnSpc>
                <a:spcPct val="130000"/>
              </a:lnSpc>
              <a:spcBef>
                <a:spcPts val="0"/>
              </a:spcBef>
              <a:spcAft>
                <a:spcPts val="0"/>
              </a:spcAft>
              <a:buNone/>
            </a:pPr>
            <a:r>
              <a:t/>
            </a:r>
            <a:endParaRPr sz="1600">
              <a:solidFill>
                <a:srgbClr val="333333"/>
              </a:solidFill>
            </a:endParaRPr>
          </a:p>
        </p:txBody>
      </p:sp>
      <p:sp>
        <p:nvSpPr>
          <p:cNvPr id="263" name="Google Shape;263;g3b017e6a17f_1_101"/>
          <p:cNvSpPr/>
          <p:nvPr/>
        </p:nvSpPr>
        <p:spPr>
          <a:xfrm>
            <a:off x="6299200" y="1981200"/>
            <a:ext cx="5638800" cy="1016000"/>
          </a:xfrm>
          <a:custGeom>
            <a:rect b="b" l="l" r="r" t="t"/>
            <a:pathLst>
              <a:path extrusionOk="0" h="1016000" w="5638800">
                <a:moveTo>
                  <a:pt x="101600" y="0"/>
                </a:moveTo>
                <a:lnTo>
                  <a:pt x="5537200" y="0"/>
                </a:lnTo>
                <a:cubicBezTo>
                  <a:pt x="5593275" y="0"/>
                  <a:pt x="5638800" y="45525"/>
                  <a:pt x="5638800" y="101600"/>
                </a:cubicBezTo>
                <a:lnTo>
                  <a:pt x="5638800" y="914400"/>
                </a:lnTo>
                <a:cubicBezTo>
                  <a:pt x="5638800" y="970475"/>
                  <a:pt x="5593275" y="1016000"/>
                  <a:pt x="5537200" y="1016000"/>
                </a:cubicBezTo>
                <a:lnTo>
                  <a:pt x="101600" y="1016000"/>
                </a:lnTo>
                <a:cubicBezTo>
                  <a:pt x="45525" y="1016000"/>
                  <a:pt x="0" y="970475"/>
                  <a:pt x="0" y="914400"/>
                </a:cubicBezTo>
                <a:lnTo>
                  <a:pt x="0" y="101600"/>
                </a:lnTo>
                <a:cubicBezTo>
                  <a:pt x="0" y="45525"/>
                  <a:pt x="45525" y="0"/>
                  <a:pt x="101600" y="0"/>
                </a:cubicBezTo>
                <a:close/>
              </a:path>
            </a:pathLst>
          </a:custGeom>
          <a:solidFill>
            <a:srgbClr val="DFCD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g3b017e6a17f_1_101"/>
          <p:cNvSpPr/>
          <p:nvPr/>
        </p:nvSpPr>
        <p:spPr>
          <a:xfrm>
            <a:off x="6451600" y="2184400"/>
            <a:ext cx="53340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lang="en-US" sz="1600">
                <a:solidFill>
                  <a:srgbClr val="8F5B9A"/>
                </a:solidFill>
              </a:rPr>
              <a:t>Before Balancing</a:t>
            </a:r>
            <a:endParaRPr b="1" sz="1600">
              <a:solidFill>
                <a:srgbClr val="8F5B9A"/>
              </a:solidFill>
              <a:latin typeface="Calibri"/>
              <a:ea typeface="Calibri"/>
              <a:cs typeface="Calibri"/>
              <a:sym typeface="Calibri"/>
            </a:endParaRPr>
          </a:p>
        </p:txBody>
      </p:sp>
      <p:sp>
        <p:nvSpPr>
          <p:cNvPr id="265" name="Google Shape;265;g3b017e6a17f_1_101"/>
          <p:cNvSpPr/>
          <p:nvPr/>
        </p:nvSpPr>
        <p:spPr>
          <a:xfrm>
            <a:off x="6451600" y="2489200"/>
            <a:ext cx="53340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lang="en-US" sz="1600">
                <a:solidFill>
                  <a:srgbClr val="333333"/>
                </a:solidFill>
                <a:latin typeface="Arial"/>
                <a:ea typeface="Arial"/>
                <a:cs typeface="Arial"/>
                <a:sym typeface="Arial"/>
              </a:rPr>
              <a:t>Inactiv</a:t>
            </a:r>
            <a:r>
              <a:rPr lang="en-US" sz="1600">
                <a:solidFill>
                  <a:srgbClr val="333333"/>
                </a:solidFill>
              </a:rPr>
              <a:t>e</a:t>
            </a:r>
            <a:r>
              <a:rPr lang="en-US" sz="1600">
                <a:solidFill>
                  <a:srgbClr val="333333"/>
                </a:solidFill>
                <a:latin typeface="Arial"/>
                <a:ea typeface="Arial"/>
                <a:cs typeface="Arial"/>
                <a:sym typeface="Arial"/>
              </a:rPr>
              <a:t>: 3</a:t>
            </a:r>
            <a:r>
              <a:rPr lang="en-US" sz="1600">
                <a:solidFill>
                  <a:srgbClr val="333333"/>
                </a:solidFill>
              </a:rPr>
              <a:t>8.96%</a:t>
            </a:r>
            <a:r>
              <a:rPr lang="en-US" sz="1600">
                <a:solidFill>
                  <a:srgbClr val="333333"/>
                </a:solidFill>
                <a:latin typeface="Arial"/>
                <a:ea typeface="Arial"/>
                <a:cs typeface="Arial"/>
                <a:sym typeface="Arial"/>
              </a:rPr>
              <a:t> | Activ</a:t>
            </a:r>
            <a:r>
              <a:rPr lang="en-US" sz="1600">
                <a:solidFill>
                  <a:srgbClr val="333333"/>
                </a:solidFill>
              </a:rPr>
              <a:t>e</a:t>
            </a:r>
            <a:r>
              <a:rPr lang="en-US" sz="1600">
                <a:solidFill>
                  <a:srgbClr val="333333"/>
                </a:solidFill>
                <a:latin typeface="Arial"/>
                <a:ea typeface="Arial"/>
                <a:cs typeface="Arial"/>
                <a:sym typeface="Arial"/>
              </a:rPr>
              <a:t>: </a:t>
            </a:r>
            <a:r>
              <a:rPr lang="en-US" sz="1600">
                <a:solidFill>
                  <a:srgbClr val="333333"/>
                </a:solidFill>
              </a:rPr>
              <a:t>61.04%</a:t>
            </a:r>
            <a:endParaRPr sz="1600">
              <a:solidFill>
                <a:schemeClr val="dk1"/>
              </a:solidFill>
              <a:latin typeface="Calibri"/>
              <a:ea typeface="Calibri"/>
              <a:cs typeface="Calibri"/>
              <a:sym typeface="Calibri"/>
            </a:endParaRPr>
          </a:p>
        </p:txBody>
      </p:sp>
      <p:sp>
        <p:nvSpPr>
          <p:cNvPr id="266" name="Google Shape;266;g3b017e6a17f_1_101"/>
          <p:cNvSpPr/>
          <p:nvPr/>
        </p:nvSpPr>
        <p:spPr>
          <a:xfrm>
            <a:off x="8947150" y="3200400"/>
            <a:ext cx="342900" cy="457200"/>
          </a:xfrm>
          <a:custGeom>
            <a:rect b="b" l="l" r="r" t="t"/>
            <a:pathLst>
              <a:path extrusionOk="0" h="457200" w="342900">
                <a:moveTo>
                  <a:pt x="151269" y="448806"/>
                </a:moveTo>
                <a:cubicBezTo>
                  <a:pt x="162431" y="459968"/>
                  <a:pt x="180558" y="459968"/>
                  <a:pt x="191720" y="448806"/>
                </a:cubicBezTo>
                <a:lnTo>
                  <a:pt x="334595" y="305931"/>
                </a:lnTo>
                <a:cubicBezTo>
                  <a:pt x="345758" y="294769"/>
                  <a:pt x="345758" y="276642"/>
                  <a:pt x="334595" y="265480"/>
                </a:cubicBezTo>
                <a:cubicBezTo>
                  <a:pt x="323433" y="254318"/>
                  <a:pt x="305306" y="254318"/>
                  <a:pt x="294144" y="265480"/>
                </a:cubicBezTo>
                <a:lnTo>
                  <a:pt x="200025" y="359599"/>
                </a:lnTo>
                <a:lnTo>
                  <a:pt x="200025" y="28575"/>
                </a:lnTo>
                <a:cubicBezTo>
                  <a:pt x="200025" y="12769"/>
                  <a:pt x="187256" y="0"/>
                  <a:pt x="171450" y="0"/>
                </a:cubicBezTo>
                <a:cubicBezTo>
                  <a:pt x="155644" y="0"/>
                  <a:pt x="142875" y="12769"/>
                  <a:pt x="142875" y="28575"/>
                </a:cubicBezTo>
                <a:lnTo>
                  <a:pt x="142875" y="359599"/>
                </a:lnTo>
                <a:lnTo>
                  <a:pt x="48756" y="265480"/>
                </a:lnTo>
                <a:cubicBezTo>
                  <a:pt x="37594" y="254317"/>
                  <a:pt x="19467" y="254317"/>
                  <a:pt x="8305" y="265480"/>
                </a:cubicBezTo>
                <a:cubicBezTo>
                  <a:pt x="-2858" y="276642"/>
                  <a:pt x="-2858" y="294769"/>
                  <a:pt x="8305" y="305931"/>
                </a:cubicBezTo>
                <a:lnTo>
                  <a:pt x="151180" y="448806"/>
                </a:lnTo>
                <a:close/>
              </a:path>
            </a:pathLst>
          </a:custGeom>
          <a:solidFill>
            <a:srgbClr val="8F5B9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g3b017e6a17f_1_101"/>
          <p:cNvSpPr/>
          <p:nvPr/>
        </p:nvSpPr>
        <p:spPr>
          <a:xfrm>
            <a:off x="6299200" y="3860800"/>
            <a:ext cx="5638800" cy="1016000"/>
          </a:xfrm>
          <a:custGeom>
            <a:rect b="b" l="l" r="r" t="t"/>
            <a:pathLst>
              <a:path extrusionOk="0" h="1016000" w="5638800">
                <a:moveTo>
                  <a:pt x="101600" y="0"/>
                </a:moveTo>
                <a:lnTo>
                  <a:pt x="5537200" y="0"/>
                </a:lnTo>
                <a:cubicBezTo>
                  <a:pt x="5593275" y="0"/>
                  <a:pt x="5638800" y="45525"/>
                  <a:pt x="5638800" y="101600"/>
                </a:cubicBezTo>
                <a:lnTo>
                  <a:pt x="5638800" y="914400"/>
                </a:lnTo>
                <a:cubicBezTo>
                  <a:pt x="5638800" y="970475"/>
                  <a:pt x="5593275" y="1016000"/>
                  <a:pt x="5537200" y="1016000"/>
                </a:cubicBezTo>
                <a:lnTo>
                  <a:pt x="101600" y="1016000"/>
                </a:lnTo>
                <a:cubicBezTo>
                  <a:pt x="45525" y="1016000"/>
                  <a:pt x="0" y="970475"/>
                  <a:pt x="0" y="914400"/>
                </a:cubicBezTo>
                <a:lnTo>
                  <a:pt x="0" y="101600"/>
                </a:lnTo>
                <a:cubicBezTo>
                  <a:pt x="0" y="45525"/>
                  <a:pt x="45525" y="0"/>
                  <a:pt x="101600" y="0"/>
                </a:cubicBezTo>
                <a:close/>
              </a:path>
            </a:pathLst>
          </a:custGeom>
          <a:solidFill>
            <a:srgbClr val="DFCD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g3b017e6a17f_1_101"/>
          <p:cNvSpPr/>
          <p:nvPr/>
        </p:nvSpPr>
        <p:spPr>
          <a:xfrm>
            <a:off x="6451600" y="4064000"/>
            <a:ext cx="53340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lang="en-US" sz="1600">
                <a:solidFill>
                  <a:srgbClr val="8F5B9A"/>
                </a:solidFill>
              </a:rPr>
              <a:t>After Balancing</a:t>
            </a:r>
            <a:endParaRPr sz="1600">
              <a:solidFill>
                <a:srgbClr val="8F5B9A"/>
              </a:solidFill>
              <a:latin typeface="Calibri"/>
              <a:ea typeface="Calibri"/>
              <a:cs typeface="Calibri"/>
              <a:sym typeface="Calibri"/>
            </a:endParaRPr>
          </a:p>
        </p:txBody>
      </p:sp>
      <p:sp>
        <p:nvSpPr>
          <p:cNvPr id="269" name="Google Shape;269;g3b017e6a17f_1_101"/>
          <p:cNvSpPr/>
          <p:nvPr/>
        </p:nvSpPr>
        <p:spPr>
          <a:xfrm>
            <a:off x="6451600" y="4368800"/>
            <a:ext cx="53340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lang="en-US" sz="1600">
                <a:solidFill>
                  <a:srgbClr val="333333"/>
                </a:solidFill>
                <a:latin typeface="Arial"/>
                <a:ea typeface="Arial"/>
                <a:cs typeface="Arial"/>
                <a:sym typeface="Arial"/>
              </a:rPr>
              <a:t>Inactiv</a:t>
            </a:r>
            <a:r>
              <a:rPr lang="en-US" sz="1600">
                <a:solidFill>
                  <a:srgbClr val="333333"/>
                </a:solidFill>
              </a:rPr>
              <a:t>e</a:t>
            </a:r>
            <a:r>
              <a:rPr lang="en-US" sz="1600">
                <a:solidFill>
                  <a:srgbClr val="333333"/>
                </a:solidFill>
                <a:latin typeface="Arial"/>
                <a:ea typeface="Arial"/>
                <a:cs typeface="Arial"/>
                <a:sym typeface="Arial"/>
              </a:rPr>
              <a:t>: 50% | Activ</a:t>
            </a:r>
            <a:r>
              <a:rPr lang="en-US" sz="1600">
                <a:solidFill>
                  <a:srgbClr val="333333"/>
                </a:solidFill>
              </a:rPr>
              <a:t>e</a:t>
            </a:r>
            <a:r>
              <a:rPr lang="en-US" sz="1600">
                <a:solidFill>
                  <a:srgbClr val="333333"/>
                </a:solidFill>
                <a:latin typeface="Arial"/>
                <a:ea typeface="Arial"/>
                <a:cs typeface="Arial"/>
                <a:sym typeface="Arial"/>
              </a:rPr>
              <a:t>: 50%</a:t>
            </a:r>
            <a:endParaRPr sz="1600">
              <a:solidFill>
                <a:schemeClr val="dk1"/>
              </a:solidFill>
              <a:latin typeface="Calibri"/>
              <a:ea typeface="Calibri"/>
              <a:cs typeface="Calibri"/>
              <a:sym typeface="Calibri"/>
            </a:endParaRPr>
          </a:p>
        </p:txBody>
      </p:sp>
      <p:sp>
        <p:nvSpPr>
          <p:cNvPr id="270" name="Google Shape;270;g3b017e6a17f_1_101"/>
          <p:cNvSpPr/>
          <p:nvPr/>
        </p:nvSpPr>
        <p:spPr>
          <a:xfrm>
            <a:off x="2800727" y="5207000"/>
            <a:ext cx="2070100" cy="1422400"/>
          </a:xfrm>
          <a:custGeom>
            <a:rect b="b" l="l" r="r" t="t"/>
            <a:pathLst>
              <a:path extrusionOk="0" h="1422400" w="2070100">
                <a:moveTo>
                  <a:pt x="101602" y="0"/>
                </a:moveTo>
                <a:lnTo>
                  <a:pt x="1968498" y="0"/>
                </a:lnTo>
                <a:cubicBezTo>
                  <a:pt x="2024611" y="0"/>
                  <a:pt x="2070100" y="45489"/>
                  <a:pt x="2070100" y="101602"/>
                </a:cubicBezTo>
                <a:lnTo>
                  <a:pt x="2070100" y="1320798"/>
                </a:lnTo>
                <a:cubicBezTo>
                  <a:pt x="2070100" y="1376911"/>
                  <a:pt x="2024611" y="1422400"/>
                  <a:pt x="1968498" y="1422400"/>
                </a:cubicBezTo>
                <a:lnTo>
                  <a:pt x="101602" y="1422400"/>
                </a:lnTo>
                <a:cubicBezTo>
                  <a:pt x="45489" y="1422400"/>
                  <a:pt x="0" y="1376911"/>
                  <a:pt x="0" y="1320798"/>
                </a:cubicBezTo>
                <a:lnTo>
                  <a:pt x="0" y="101602"/>
                </a:lnTo>
                <a:cubicBezTo>
                  <a:pt x="0" y="45526"/>
                  <a:pt x="45526" y="0"/>
                  <a:pt x="101602" y="0"/>
                </a:cubicBezTo>
                <a:close/>
              </a:path>
            </a:pathLst>
          </a:custGeom>
          <a:solidFill>
            <a:srgbClr val="D3B9D7">
              <a:alpha val="2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g3b017e6a17f_1_101"/>
          <p:cNvSpPr txBox="1"/>
          <p:nvPr/>
        </p:nvSpPr>
        <p:spPr>
          <a:xfrm>
            <a:off x="2800825" y="6146800"/>
            <a:ext cx="20700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rgbClr val="333333"/>
                </a:solidFill>
              </a:rPr>
              <a:t>(</a:t>
            </a:r>
            <a:r>
              <a:rPr lang="en-US" sz="1200">
                <a:solidFill>
                  <a:srgbClr val="333333"/>
                </a:solidFill>
              </a:rPr>
              <a:t>Inactive: 2,480 </a:t>
            </a:r>
            <a:endParaRPr sz="1200">
              <a:solidFill>
                <a:srgbClr val="333333"/>
              </a:solidFill>
            </a:endParaRPr>
          </a:p>
          <a:p>
            <a:pPr indent="0" lvl="0" marL="457200" rtl="0" algn="l">
              <a:spcBef>
                <a:spcPts val="0"/>
              </a:spcBef>
              <a:spcAft>
                <a:spcPts val="0"/>
              </a:spcAft>
              <a:buNone/>
            </a:pPr>
            <a:r>
              <a:rPr lang="en-US" sz="1200">
                <a:solidFill>
                  <a:srgbClr val="333333"/>
                </a:solidFill>
              </a:rPr>
              <a:t>       Active: 3,886)</a:t>
            </a:r>
            <a:endParaRPr sz="1200">
              <a:solidFill>
                <a:schemeClr val="dk1"/>
              </a:solidFill>
            </a:endParaRPr>
          </a:p>
          <a:p>
            <a:pPr indent="0" lvl="0" marL="0" rtl="0" algn="l">
              <a:spcBef>
                <a:spcPts val="0"/>
              </a:spcBef>
              <a:spcAft>
                <a:spcPts val="0"/>
              </a:spcAft>
              <a:buNone/>
            </a:pPr>
            <a:r>
              <a:t/>
            </a:r>
            <a:endParaRPr/>
          </a:p>
        </p:txBody>
      </p:sp>
      <p:sp>
        <p:nvSpPr>
          <p:cNvPr id="272" name="Google Shape;272;g3b017e6a17f_1_101"/>
          <p:cNvSpPr/>
          <p:nvPr/>
        </p:nvSpPr>
        <p:spPr>
          <a:xfrm>
            <a:off x="3149848" y="5421925"/>
            <a:ext cx="1371600" cy="507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1" lang="en-US" sz="3600">
                <a:solidFill>
                  <a:srgbClr val="A95EAF"/>
                </a:solidFill>
                <a:latin typeface="Noto Sans SC"/>
                <a:ea typeface="Noto Sans SC"/>
                <a:cs typeface="Noto Sans SC"/>
                <a:sym typeface="Noto Sans SC"/>
              </a:rPr>
              <a:t>6</a:t>
            </a:r>
            <a:r>
              <a:rPr b="1" i="0" lang="en-US" sz="3600" u="none" cap="none" strike="noStrike">
                <a:solidFill>
                  <a:srgbClr val="A95EAF"/>
                </a:solidFill>
                <a:latin typeface="Noto Sans SC"/>
                <a:ea typeface="Noto Sans SC"/>
                <a:cs typeface="Noto Sans SC"/>
                <a:sym typeface="Noto Sans SC"/>
              </a:rPr>
              <a:t>,3</a:t>
            </a:r>
            <a:r>
              <a:rPr b="1" lang="en-US" sz="3600">
                <a:solidFill>
                  <a:srgbClr val="A95EAF"/>
                </a:solidFill>
                <a:latin typeface="Noto Sans SC"/>
                <a:ea typeface="Noto Sans SC"/>
                <a:cs typeface="Noto Sans SC"/>
                <a:sym typeface="Noto Sans SC"/>
              </a:rPr>
              <a:t>66</a:t>
            </a:r>
            <a:endParaRPr b="0" i="0" sz="1600" u="none" cap="none" strike="noStrike"/>
          </a:p>
        </p:txBody>
      </p:sp>
      <p:sp>
        <p:nvSpPr>
          <p:cNvPr id="273" name="Google Shape;273;g3b017e6a17f_1_101"/>
          <p:cNvSpPr/>
          <p:nvPr/>
        </p:nvSpPr>
        <p:spPr>
          <a:xfrm>
            <a:off x="7162424" y="5207000"/>
            <a:ext cx="2070354" cy="1422400"/>
          </a:xfrm>
          <a:custGeom>
            <a:rect b="b" l="l" r="r" t="t"/>
            <a:pathLst>
              <a:path extrusionOk="0" h="1422400" w="1676400">
                <a:moveTo>
                  <a:pt x="101602" y="0"/>
                </a:moveTo>
                <a:lnTo>
                  <a:pt x="1574798" y="0"/>
                </a:lnTo>
                <a:cubicBezTo>
                  <a:pt x="1630911" y="0"/>
                  <a:pt x="1676400" y="45489"/>
                  <a:pt x="1676400" y="101602"/>
                </a:cubicBezTo>
                <a:lnTo>
                  <a:pt x="1676400" y="1320798"/>
                </a:lnTo>
                <a:cubicBezTo>
                  <a:pt x="1676400" y="1376911"/>
                  <a:pt x="1630911" y="1422400"/>
                  <a:pt x="1574798" y="1422400"/>
                </a:cubicBezTo>
                <a:lnTo>
                  <a:pt x="101602" y="1422400"/>
                </a:lnTo>
                <a:cubicBezTo>
                  <a:pt x="45489" y="1422400"/>
                  <a:pt x="0" y="1376911"/>
                  <a:pt x="0" y="1320798"/>
                </a:cubicBezTo>
                <a:lnTo>
                  <a:pt x="0" y="101602"/>
                </a:lnTo>
                <a:cubicBezTo>
                  <a:pt x="0" y="45526"/>
                  <a:pt x="45526" y="0"/>
                  <a:pt x="101602" y="0"/>
                </a:cubicBezTo>
                <a:close/>
              </a:path>
            </a:pathLst>
          </a:custGeom>
          <a:solidFill>
            <a:srgbClr val="8F5C9A">
              <a:alpha val="2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g3b017e6a17f_1_101"/>
          <p:cNvSpPr/>
          <p:nvPr/>
        </p:nvSpPr>
        <p:spPr>
          <a:xfrm>
            <a:off x="7511804" y="5421925"/>
            <a:ext cx="1371600" cy="507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1" i="0" lang="en-US" sz="3600" u="none" cap="none" strike="noStrike">
                <a:solidFill>
                  <a:srgbClr val="8F5C9A"/>
                </a:solidFill>
                <a:latin typeface="Noto Sans SC"/>
                <a:ea typeface="Noto Sans SC"/>
                <a:cs typeface="Noto Sans SC"/>
                <a:sym typeface="Noto Sans SC"/>
              </a:rPr>
              <a:t>4,960</a:t>
            </a:r>
            <a:endParaRPr b="0" i="0" sz="1600" u="none" cap="none" strike="noStrike"/>
          </a:p>
        </p:txBody>
      </p:sp>
      <p:sp>
        <p:nvSpPr>
          <p:cNvPr id="275" name="Google Shape;275;g3b017e6a17f_1_101"/>
          <p:cNvSpPr/>
          <p:nvPr/>
        </p:nvSpPr>
        <p:spPr>
          <a:xfrm>
            <a:off x="7511803" y="5943600"/>
            <a:ext cx="13716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600" u="none" cap="none" strike="noStrike">
                <a:solidFill>
                  <a:srgbClr val="3C3542"/>
                </a:solidFill>
                <a:latin typeface="Arial"/>
                <a:ea typeface="Arial"/>
                <a:cs typeface="Arial"/>
                <a:sym typeface="Arial"/>
              </a:rPr>
              <a:t>Final Dataset</a:t>
            </a:r>
            <a:endParaRPr b="0" i="0" sz="1600" u="none" cap="none" strike="noStrike"/>
          </a:p>
        </p:txBody>
      </p:sp>
      <p:sp>
        <p:nvSpPr>
          <p:cNvPr id="276" name="Google Shape;276;g3b017e6a17f_1_101"/>
          <p:cNvSpPr/>
          <p:nvPr/>
        </p:nvSpPr>
        <p:spPr>
          <a:xfrm>
            <a:off x="7594293" y="6262175"/>
            <a:ext cx="1206600" cy="2031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0" i="0" lang="en-US" sz="1200" u="none" cap="none" strike="noStrike">
                <a:solidFill>
                  <a:srgbClr val="3C3542"/>
                </a:solidFill>
                <a:latin typeface="Arial"/>
                <a:ea typeface="Arial"/>
                <a:cs typeface="Arial"/>
                <a:sym typeface="Arial"/>
              </a:rPr>
              <a:t>(2,480 per class)</a:t>
            </a:r>
            <a:endParaRPr b="0" i="0" sz="1600" u="none" cap="none" strike="noStrike"/>
          </a:p>
        </p:txBody>
      </p:sp>
      <p:sp>
        <p:nvSpPr>
          <p:cNvPr id="277" name="Google Shape;277;g3b017e6a17f_1_101"/>
          <p:cNvSpPr/>
          <p:nvPr/>
        </p:nvSpPr>
        <p:spPr>
          <a:xfrm>
            <a:off x="5730880" y="5689600"/>
            <a:ext cx="571500" cy="457200"/>
          </a:xfrm>
          <a:custGeom>
            <a:rect b="b" l="l" r="r" t="t"/>
            <a:pathLst>
              <a:path extrusionOk="0" h="457200" w="571500">
                <a:moveTo>
                  <a:pt x="342900" y="28575"/>
                </a:moveTo>
                <a:lnTo>
                  <a:pt x="457200" y="28575"/>
                </a:lnTo>
                <a:cubicBezTo>
                  <a:pt x="473006" y="28575"/>
                  <a:pt x="485775" y="41344"/>
                  <a:pt x="485775" y="57150"/>
                </a:cubicBezTo>
                <a:cubicBezTo>
                  <a:pt x="485775" y="72956"/>
                  <a:pt x="473006" y="85725"/>
                  <a:pt x="457200" y="85725"/>
                </a:cubicBezTo>
                <a:lnTo>
                  <a:pt x="355759" y="85725"/>
                </a:lnTo>
                <a:cubicBezTo>
                  <a:pt x="351115" y="108764"/>
                  <a:pt x="335310" y="127784"/>
                  <a:pt x="314325" y="136892"/>
                </a:cubicBezTo>
                <a:lnTo>
                  <a:pt x="314325" y="400050"/>
                </a:lnTo>
                <a:lnTo>
                  <a:pt x="457200" y="400050"/>
                </a:lnTo>
                <a:cubicBezTo>
                  <a:pt x="473006" y="400050"/>
                  <a:pt x="485775" y="412819"/>
                  <a:pt x="485775" y="428625"/>
                </a:cubicBezTo>
                <a:cubicBezTo>
                  <a:pt x="485775" y="444431"/>
                  <a:pt x="473006" y="457200"/>
                  <a:pt x="457200" y="457200"/>
                </a:cubicBezTo>
                <a:lnTo>
                  <a:pt x="114300" y="457200"/>
                </a:lnTo>
                <a:cubicBezTo>
                  <a:pt x="98494" y="457200"/>
                  <a:pt x="85725" y="444431"/>
                  <a:pt x="85725" y="428625"/>
                </a:cubicBezTo>
                <a:cubicBezTo>
                  <a:pt x="85725" y="412819"/>
                  <a:pt x="98494" y="400050"/>
                  <a:pt x="114300" y="400050"/>
                </a:cubicBezTo>
                <a:lnTo>
                  <a:pt x="257175" y="400050"/>
                </a:lnTo>
                <a:lnTo>
                  <a:pt x="257175" y="136892"/>
                </a:lnTo>
                <a:cubicBezTo>
                  <a:pt x="236190" y="127695"/>
                  <a:pt x="220385" y="108674"/>
                  <a:pt x="215741" y="85725"/>
                </a:cubicBezTo>
                <a:lnTo>
                  <a:pt x="114300" y="85725"/>
                </a:lnTo>
                <a:cubicBezTo>
                  <a:pt x="98494" y="85725"/>
                  <a:pt x="85725" y="72956"/>
                  <a:pt x="85725" y="57150"/>
                </a:cubicBezTo>
                <a:cubicBezTo>
                  <a:pt x="85725" y="41344"/>
                  <a:pt x="98494" y="28575"/>
                  <a:pt x="114300" y="28575"/>
                </a:cubicBezTo>
                <a:lnTo>
                  <a:pt x="228600" y="28575"/>
                </a:lnTo>
                <a:cubicBezTo>
                  <a:pt x="241637" y="11251"/>
                  <a:pt x="262354" y="0"/>
                  <a:pt x="285750" y="0"/>
                </a:cubicBezTo>
                <a:cubicBezTo>
                  <a:pt x="309146" y="0"/>
                  <a:pt x="329863" y="11251"/>
                  <a:pt x="342900" y="28575"/>
                </a:cubicBezTo>
                <a:close/>
                <a:moveTo>
                  <a:pt x="392549" y="285750"/>
                </a:moveTo>
                <a:lnTo>
                  <a:pt x="521851" y="285750"/>
                </a:lnTo>
                <a:lnTo>
                  <a:pt x="457200" y="174843"/>
                </a:lnTo>
                <a:lnTo>
                  <a:pt x="392549" y="285750"/>
                </a:lnTo>
                <a:close/>
                <a:moveTo>
                  <a:pt x="457200" y="371475"/>
                </a:moveTo>
                <a:cubicBezTo>
                  <a:pt x="401032" y="371475"/>
                  <a:pt x="354330" y="341114"/>
                  <a:pt x="344686" y="301020"/>
                </a:cubicBezTo>
                <a:cubicBezTo>
                  <a:pt x="342364" y="291197"/>
                  <a:pt x="345579" y="281107"/>
                  <a:pt x="350669" y="272355"/>
                </a:cubicBezTo>
                <a:lnTo>
                  <a:pt x="435679" y="126623"/>
                </a:lnTo>
                <a:cubicBezTo>
                  <a:pt x="440144" y="118943"/>
                  <a:pt x="448360" y="114300"/>
                  <a:pt x="457200" y="114300"/>
                </a:cubicBezTo>
                <a:cubicBezTo>
                  <a:pt x="466040" y="114300"/>
                  <a:pt x="474256" y="119033"/>
                  <a:pt x="478721" y="126623"/>
                </a:cubicBezTo>
                <a:lnTo>
                  <a:pt x="563731" y="272355"/>
                </a:lnTo>
                <a:cubicBezTo>
                  <a:pt x="568821" y="281107"/>
                  <a:pt x="572036" y="291197"/>
                  <a:pt x="569714" y="301020"/>
                </a:cubicBezTo>
                <a:cubicBezTo>
                  <a:pt x="560070" y="341025"/>
                  <a:pt x="513368" y="371475"/>
                  <a:pt x="457200" y="371475"/>
                </a:cubicBezTo>
                <a:close/>
                <a:moveTo>
                  <a:pt x="113228" y="174843"/>
                </a:moveTo>
                <a:lnTo>
                  <a:pt x="48578" y="285750"/>
                </a:lnTo>
                <a:lnTo>
                  <a:pt x="177969" y="285750"/>
                </a:lnTo>
                <a:lnTo>
                  <a:pt x="113228" y="174843"/>
                </a:lnTo>
                <a:close/>
                <a:moveTo>
                  <a:pt x="804" y="301020"/>
                </a:moveTo>
                <a:cubicBezTo>
                  <a:pt x="-1518" y="291197"/>
                  <a:pt x="1697" y="281107"/>
                  <a:pt x="6787" y="272355"/>
                </a:cubicBezTo>
                <a:lnTo>
                  <a:pt x="91797" y="126623"/>
                </a:lnTo>
                <a:cubicBezTo>
                  <a:pt x="96262" y="118943"/>
                  <a:pt x="104477" y="114300"/>
                  <a:pt x="113318" y="114300"/>
                </a:cubicBezTo>
                <a:cubicBezTo>
                  <a:pt x="122158" y="114300"/>
                  <a:pt x="130373" y="119033"/>
                  <a:pt x="134838" y="126623"/>
                </a:cubicBezTo>
                <a:lnTo>
                  <a:pt x="219849" y="272355"/>
                </a:lnTo>
                <a:cubicBezTo>
                  <a:pt x="224939" y="281107"/>
                  <a:pt x="228154" y="291197"/>
                  <a:pt x="225832" y="301020"/>
                </a:cubicBezTo>
                <a:cubicBezTo>
                  <a:pt x="216188" y="341025"/>
                  <a:pt x="169485" y="371475"/>
                  <a:pt x="113318" y="371475"/>
                </a:cubicBezTo>
                <a:cubicBezTo>
                  <a:pt x="57150" y="371475"/>
                  <a:pt x="10448" y="341114"/>
                  <a:pt x="804" y="301020"/>
                </a:cubicBezTo>
                <a:close/>
              </a:path>
            </a:pathLst>
          </a:custGeom>
          <a:solidFill>
            <a:srgbClr val="8F5C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g3b017e6a17f_1_101"/>
          <p:cNvSpPr/>
          <p:nvPr/>
        </p:nvSpPr>
        <p:spPr>
          <a:xfrm>
            <a:off x="2800950" y="5943600"/>
            <a:ext cx="20700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lang="en-US" sz="1500">
                <a:solidFill>
                  <a:srgbClr val="3C3542"/>
                </a:solidFill>
              </a:rPr>
              <a:t>Previous</a:t>
            </a:r>
            <a:r>
              <a:rPr b="1" i="0" lang="en-US" sz="1500" u="none" cap="none" strike="noStrike">
                <a:solidFill>
                  <a:srgbClr val="3C3542"/>
                </a:solidFill>
                <a:latin typeface="Arial"/>
                <a:ea typeface="Arial"/>
                <a:cs typeface="Arial"/>
                <a:sym typeface="Arial"/>
              </a:rPr>
              <a:t> Dataset</a:t>
            </a:r>
            <a:endParaRPr b="0" i="0" sz="1500" u="none" cap="none" strike="noStrike"/>
          </a:p>
        </p:txBody>
      </p:sp>
      <p:sp>
        <p:nvSpPr>
          <p:cNvPr id="279" name="Google Shape;279;g3b017e6a17f_1_101"/>
          <p:cNvSpPr/>
          <p:nvPr/>
        </p:nvSpPr>
        <p:spPr>
          <a:xfrm>
            <a:off x="5394283" y="6324600"/>
            <a:ext cx="1244700" cy="2031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0" i="0" lang="en-US" sz="1200" u="none" cap="none" strike="noStrike">
                <a:solidFill>
                  <a:srgbClr val="3C3542"/>
                </a:solidFill>
                <a:latin typeface="Arial"/>
                <a:ea typeface="Arial"/>
                <a:cs typeface="Arial"/>
                <a:sym typeface="Arial"/>
              </a:rPr>
              <a:t>Undersampling</a:t>
            </a:r>
            <a:endParaRPr b="0" i="0" sz="1600" u="none" cap="none" strike="noStrike"/>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sp>
        <p:nvSpPr>
          <p:cNvPr id="285" name="Google Shape;285;p6"/>
          <p:cNvSpPr/>
          <p:nvPr/>
        </p:nvSpPr>
        <p:spPr>
          <a:xfrm rot="5940000">
            <a:off x="367665" y="335915"/>
            <a:ext cx="558800" cy="594995"/>
          </a:xfrm>
          <a:prstGeom prst="donut">
            <a:avLst>
              <a:gd fmla="val 25000" name="adj"/>
            </a:avLst>
          </a:prstGeom>
          <a:gradFill>
            <a:gsLst>
              <a:gs pos="0">
                <a:srgbClr val="402E7F"/>
              </a:gs>
              <a:gs pos="54000">
                <a:srgbClr val="BC7DB7">
                  <a:alpha val="2745"/>
                </a:srgbClr>
              </a:gs>
              <a:gs pos="100000">
                <a:srgbClr val="BC7DB7">
                  <a:alpha val="2745"/>
                </a:srgbClr>
              </a:gs>
            </a:gsLst>
            <a:lin ang="189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6"/>
          <p:cNvSpPr/>
          <p:nvPr/>
        </p:nvSpPr>
        <p:spPr>
          <a:xfrm rot="5940000">
            <a:off x="367665" y="335915"/>
            <a:ext cx="558800" cy="594995"/>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287" name="Google Shape;287;p6"/>
          <p:cNvSpPr/>
          <p:nvPr/>
        </p:nvSpPr>
        <p:spPr>
          <a:xfrm>
            <a:off x="4445" y="0"/>
            <a:ext cx="12187555" cy="6875780"/>
          </a:xfrm>
          <a:prstGeom prst="rect">
            <a:avLst/>
          </a:prstGeom>
          <a:gradFill>
            <a:gsLst>
              <a:gs pos="0">
                <a:srgbClr val="D7B1D4"/>
              </a:gs>
              <a:gs pos="34000">
                <a:srgbClr val="BC7DB7"/>
              </a:gs>
              <a:gs pos="100000">
                <a:srgbClr val="30225F"/>
              </a:gs>
            </a:gsLst>
            <a:lin ang="135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6"/>
          <p:cNvSpPr/>
          <p:nvPr/>
        </p:nvSpPr>
        <p:spPr>
          <a:xfrm>
            <a:off x="4445" y="0"/>
            <a:ext cx="12187555" cy="68757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289" name="Google Shape;289;p6"/>
          <p:cNvSpPr/>
          <p:nvPr/>
        </p:nvSpPr>
        <p:spPr>
          <a:xfrm>
            <a:off x="85280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6"/>
          <p:cNvSpPr/>
          <p:nvPr/>
        </p:nvSpPr>
        <p:spPr>
          <a:xfrm>
            <a:off x="85280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291" name="Google Shape;291;p6"/>
          <p:cNvSpPr/>
          <p:nvPr/>
        </p:nvSpPr>
        <p:spPr>
          <a:xfrm>
            <a:off x="113665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6"/>
          <p:cNvSpPr/>
          <p:nvPr/>
        </p:nvSpPr>
        <p:spPr>
          <a:xfrm>
            <a:off x="113665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293" name="Google Shape;293;p6"/>
          <p:cNvSpPr/>
          <p:nvPr/>
        </p:nvSpPr>
        <p:spPr>
          <a:xfrm>
            <a:off x="142049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6"/>
          <p:cNvSpPr/>
          <p:nvPr/>
        </p:nvSpPr>
        <p:spPr>
          <a:xfrm>
            <a:off x="142049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295" name="Google Shape;295;p6"/>
          <p:cNvSpPr/>
          <p:nvPr/>
        </p:nvSpPr>
        <p:spPr>
          <a:xfrm>
            <a:off x="170434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6"/>
          <p:cNvSpPr/>
          <p:nvPr/>
        </p:nvSpPr>
        <p:spPr>
          <a:xfrm>
            <a:off x="170434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297" name="Google Shape;297;p6"/>
          <p:cNvSpPr/>
          <p:nvPr/>
        </p:nvSpPr>
        <p:spPr>
          <a:xfrm>
            <a:off x="198818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6"/>
          <p:cNvSpPr/>
          <p:nvPr/>
        </p:nvSpPr>
        <p:spPr>
          <a:xfrm>
            <a:off x="198818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299" name="Google Shape;299;p6"/>
          <p:cNvSpPr/>
          <p:nvPr/>
        </p:nvSpPr>
        <p:spPr>
          <a:xfrm>
            <a:off x="227203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6"/>
          <p:cNvSpPr/>
          <p:nvPr/>
        </p:nvSpPr>
        <p:spPr>
          <a:xfrm>
            <a:off x="227203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301" name="Google Shape;301;p6"/>
          <p:cNvSpPr/>
          <p:nvPr/>
        </p:nvSpPr>
        <p:spPr>
          <a:xfrm>
            <a:off x="11456035" y="381635"/>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6"/>
          <p:cNvSpPr/>
          <p:nvPr/>
        </p:nvSpPr>
        <p:spPr>
          <a:xfrm>
            <a:off x="11456035" y="381635"/>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303" name="Google Shape;303;p6"/>
          <p:cNvSpPr/>
          <p:nvPr/>
        </p:nvSpPr>
        <p:spPr>
          <a:xfrm>
            <a:off x="11456035" y="501650"/>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6"/>
          <p:cNvSpPr/>
          <p:nvPr/>
        </p:nvSpPr>
        <p:spPr>
          <a:xfrm>
            <a:off x="11456035" y="501650"/>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305" name="Google Shape;305;p6"/>
          <p:cNvSpPr/>
          <p:nvPr/>
        </p:nvSpPr>
        <p:spPr>
          <a:xfrm>
            <a:off x="11456035" y="621665"/>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6"/>
          <p:cNvSpPr/>
          <p:nvPr/>
        </p:nvSpPr>
        <p:spPr>
          <a:xfrm>
            <a:off x="11456035" y="621665"/>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cxnSp>
        <p:nvCxnSpPr>
          <p:cNvPr id="307" name="Google Shape;307;p6"/>
          <p:cNvCxnSpPr/>
          <p:nvPr/>
        </p:nvCxnSpPr>
        <p:spPr>
          <a:xfrm>
            <a:off x="1727190" y="6306820"/>
            <a:ext cx="10080000" cy="0"/>
          </a:xfrm>
          <a:prstGeom prst="straightConnector1">
            <a:avLst/>
          </a:prstGeom>
          <a:noFill/>
          <a:ln cap="flat" cmpd="sng" w="19050">
            <a:solidFill>
              <a:srgbClr val="FFFFFF"/>
            </a:solidFill>
            <a:prstDash val="solid"/>
            <a:round/>
            <a:headEnd len="sm" w="sm" type="none"/>
            <a:tailEnd len="sm" w="sm" type="none"/>
          </a:ln>
        </p:spPr>
      </p:cxnSp>
      <p:sp>
        <p:nvSpPr>
          <p:cNvPr id="308" name="Google Shape;308;p6"/>
          <p:cNvSpPr/>
          <p:nvPr/>
        </p:nvSpPr>
        <p:spPr>
          <a:xfrm>
            <a:off x="852805" y="6177280"/>
            <a:ext cx="259080" cy="2590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6"/>
          <p:cNvSpPr/>
          <p:nvPr/>
        </p:nvSpPr>
        <p:spPr>
          <a:xfrm>
            <a:off x="852805" y="6177280"/>
            <a:ext cx="259080" cy="2590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310" name="Google Shape;310;p6"/>
          <p:cNvSpPr/>
          <p:nvPr/>
        </p:nvSpPr>
        <p:spPr>
          <a:xfrm>
            <a:off x="979805" y="6177280"/>
            <a:ext cx="259080" cy="2590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6"/>
          <p:cNvSpPr/>
          <p:nvPr/>
        </p:nvSpPr>
        <p:spPr>
          <a:xfrm>
            <a:off x="979805" y="6177280"/>
            <a:ext cx="259080" cy="2590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312" name="Google Shape;312;p6"/>
          <p:cNvSpPr/>
          <p:nvPr/>
        </p:nvSpPr>
        <p:spPr>
          <a:xfrm>
            <a:off x="541655" y="2687320"/>
            <a:ext cx="11172825" cy="2306955"/>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6"/>
          <p:cNvSpPr/>
          <p:nvPr/>
        </p:nvSpPr>
        <p:spPr>
          <a:xfrm>
            <a:off x="541655" y="2687320"/>
            <a:ext cx="11172825" cy="2306955"/>
          </a:xfrm>
          <a:prstGeom prst="rect">
            <a:avLst/>
          </a:prstGeom>
          <a:noFill/>
          <a:ln>
            <a:noFill/>
          </a:ln>
        </p:spPr>
        <p:txBody>
          <a:bodyPr anchorCtr="0" anchor="t" bIns="45700" lIns="45700" spcFirstLastPara="1" rIns="91425" wrap="square" tIns="91425">
            <a:noAutofit/>
          </a:bodyPr>
          <a:lstStyle/>
          <a:p>
            <a:pPr indent="0" lvl="0" marL="0" marR="0" rtl="0" algn="ctr">
              <a:lnSpc>
                <a:spcPct val="100000"/>
              </a:lnSpc>
              <a:spcBef>
                <a:spcPts val="0"/>
              </a:spcBef>
              <a:spcAft>
                <a:spcPts val="0"/>
              </a:spcAft>
              <a:buNone/>
            </a:pPr>
            <a:r>
              <a:rPr b="1" lang="en-US" sz="7200">
                <a:solidFill>
                  <a:srgbClr val="FFFFFF"/>
                </a:solidFill>
              </a:rPr>
              <a:t>Feature Engineering</a:t>
            </a:r>
            <a:endParaRPr b="0" i="0" sz="1600" u="none" cap="none" strike="noStrike"/>
          </a:p>
        </p:txBody>
      </p:sp>
      <p:sp>
        <p:nvSpPr>
          <p:cNvPr id="314" name="Google Shape;314;p6"/>
          <p:cNvSpPr/>
          <p:nvPr/>
        </p:nvSpPr>
        <p:spPr>
          <a:xfrm>
            <a:off x="2515235" y="1350010"/>
            <a:ext cx="7161530" cy="1198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200" u="none" cap="none" strike="noStrike">
                <a:solidFill>
                  <a:srgbClr val="FFFFFF"/>
                </a:solidFill>
                <a:latin typeface="Arial"/>
                <a:ea typeface="Arial"/>
                <a:cs typeface="Arial"/>
                <a:sym typeface="Arial"/>
              </a:rPr>
              <a:t>0</a:t>
            </a:r>
            <a:r>
              <a:rPr lang="en-US" sz="7200">
                <a:solidFill>
                  <a:srgbClr val="FFFFFF"/>
                </a:solidFill>
              </a:rPr>
              <a:t>3</a:t>
            </a:r>
            <a:endParaRPr b="0" i="0" sz="1600" u="none" cap="none" strike="noStrike"/>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319" name="Shape 319"/>
        <p:cNvGrpSpPr/>
        <p:nvPr/>
      </p:nvGrpSpPr>
      <p:grpSpPr>
        <a:xfrm>
          <a:off x="0" y="0"/>
          <a:ext cx="0" cy="0"/>
          <a:chOff x="0" y="0"/>
          <a:chExt cx="0" cy="0"/>
        </a:xfrm>
      </p:grpSpPr>
      <p:sp>
        <p:nvSpPr>
          <p:cNvPr id="320" name="Google Shape;320;p7"/>
          <p:cNvSpPr/>
          <p:nvPr/>
        </p:nvSpPr>
        <p:spPr>
          <a:xfrm rot="5940000">
            <a:off x="367665" y="335915"/>
            <a:ext cx="558800" cy="594995"/>
          </a:xfrm>
          <a:prstGeom prst="donut">
            <a:avLst>
              <a:gd fmla="val 25000" name="adj"/>
            </a:avLst>
          </a:prstGeom>
          <a:gradFill>
            <a:gsLst>
              <a:gs pos="0">
                <a:srgbClr val="402E7F"/>
              </a:gs>
              <a:gs pos="54000">
                <a:srgbClr val="BC7DB7">
                  <a:alpha val="2745"/>
                </a:srgbClr>
              </a:gs>
              <a:gs pos="100000">
                <a:srgbClr val="BC7DB7">
                  <a:alpha val="2745"/>
                </a:srgbClr>
              </a:gs>
            </a:gsLst>
            <a:lin ang="189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7"/>
          <p:cNvSpPr/>
          <p:nvPr/>
        </p:nvSpPr>
        <p:spPr>
          <a:xfrm rot="5940000">
            <a:off x="367665" y="335915"/>
            <a:ext cx="558800" cy="594995"/>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pic>
        <p:nvPicPr>
          <p:cNvPr descr="https://kimi-img.moonshot.cn/pub/slides/slides_tmpl/image/25-09-08-15:08:29-d2v81rdnfo2stf9dkdb0.jpg" id="322" name="Google Shape;322;p7"/>
          <p:cNvPicPr preferRelativeResize="0"/>
          <p:nvPr/>
        </p:nvPicPr>
        <p:blipFill rotWithShape="1">
          <a:blip r:embed="rId3">
            <a:alphaModFix/>
          </a:blip>
          <a:srcRect b="0" l="0" r="0" t="0"/>
          <a:stretch/>
        </p:blipFill>
        <p:spPr>
          <a:xfrm>
            <a:off x="-158750" y="-6350"/>
            <a:ext cx="12350749" cy="6960235"/>
          </a:xfrm>
          <a:prstGeom prst="rect">
            <a:avLst/>
          </a:prstGeom>
          <a:noFill/>
          <a:ln>
            <a:noFill/>
          </a:ln>
        </p:spPr>
      </p:pic>
      <p:sp>
        <p:nvSpPr>
          <p:cNvPr id="323" name="Google Shape;323;p7"/>
          <p:cNvSpPr/>
          <p:nvPr/>
        </p:nvSpPr>
        <p:spPr>
          <a:xfrm>
            <a:off x="2520897" y="726650"/>
            <a:ext cx="715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8F5C9A"/>
                </a:solidFill>
                <a:latin typeface="Noto Sans SC"/>
                <a:ea typeface="Noto Sans SC"/>
                <a:cs typeface="Noto Sans SC"/>
                <a:sym typeface="Noto Sans SC"/>
              </a:rPr>
              <a:t>From SMILES to Mathematical Objects</a:t>
            </a:r>
            <a:endParaRPr b="0" i="0" sz="1600" u="none" cap="none" strike="noStrike"/>
          </a:p>
        </p:txBody>
      </p:sp>
      <p:sp>
        <p:nvSpPr>
          <p:cNvPr id="324" name="Google Shape;324;p7"/>
          <p:cNvSpPr/>
          <p:nvPr/>
        </p:nvSpPr>
        <p:spPr>
          <a:xfrm>
            <a:off x="7515037" y="3657600"/>
            <a:ext cx="1841400" cy="2541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400" u="none" cap="none" strike="noStrike">
                <a:solidFill>
                  <a:srgbClr val="3C3542"/>
                </a:solidFill>
                <a:latin typeface="Arial"/>
                <a:ea typeface="Arial"/>
                <a:cs typeface="Arial"/>
                <a:sym typeface="Arial"/>
              </a:rPr>
              <a:t>RDKit Fingerprinting</a:t>
            </a:r>
            <a:endParaRPr b="0" i="0" sz="1600" u="none" cap="none" strike="noStrike"/>
          </a:p>
        </p:txBody>
      </p:sp>
      <p:sp>
        <p:nvSpPr>
          <p:cNvPr id="325" name="Google Shape;325;p7"/>
          <p:cNvSpPr/>
          <p:nvPr/>
        </p:nvSpPr>
        <p:spPr>
          <a:xfrm>
            <a:off x="5584230" y="2387600"/>
            <a:ext cx="1625600" cy="1625600"/>
          </a:xfrm>
          <a:custGeom>
            <a:rect b="b" l="l" r="r" t="t"/>
            <a:pathLst>
              <a:path extrusionOk="0" h="1625600" w="1625600">
                <a:moveTo>
                  <a:pt x="101600" y="0"/>
                </a:moveTo>
                <a:lnTo>
                  <a:pt x="1524000" y="0"/>
                </a:lnTo>
                <a:cubicBezTo>
                  <a:pt x="1580075" y="0"/>
                  <a:pt x="1625600" y="45525"/>
                  <a:pt x="1625600" y="101600"/>
                </a:cubicBezTo>
                <a:lnTo>
                  <a:pt x="1625600" y="1524000"/>
                </a:lnTo>
                <a:cubicBezTo>
                  <a:pt x="1625600" y="1580075"/>
                  <a:pt x="1580075" y="1625600"/>
                  <a:pt x="1524000" y="1625600"/>
                </a:cubicBezTo>
                <a:lnTo>
                  <a:pt x="101600" y="1625600"/>
                </a:lnTo>
                <a:cubicBezTo>
                  <a:pt x="45525" y="1625600"/>
                  <a:pt x="0" y="1580075"/>
                  <a:pt x="0" y="1524000"/>
                </a:cubicBezTo>
                <a:lnTo>
                  <a:pt x="0" y="101600"/>
                </a:lnTo>
                <a:cubicBezTo>
                  <a:pt x="0" y="45525"/>
                  <a:pt x="45525" y="0"/>
                  <a:pt x="101600" y="0"/>
                </a:cubicBezTo>
                <a:close/>
              </a:path>
            </a:pathLst>
          </a:custGeom>
          <a:solidFill>
            <a:srgbClr val="D3B9D7">
              <a:alpha val="2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7"/>
          <p:cNvSpPr/>
          <p:nvPr/>
        </p:nvSpPr>
        <p:spPr>
          <a:xfrm>
            <a:off x="6016030" y="2819400"/>
            <a:ext cx="762000" cy="762000"/>
          </a:xfrm>
          <a:custGeom>
            <a:rect b="b" l="l" r="r" t="t"/>
            <a:pathLst>
              <a:path extrusionOk="0" h="762000" w="762000">
                <a:moveTo>
                  <a:pt x="0" y="142875"/>
                </a:moveTo>
                <a:cubicBezTo>
                  <a:pt x="0" y="116532"/>
                  <a:pt x="21282" y="95250"/>
                  <a:pt x="47625" y="95250"/>
                </a:cubicBezTo>
                <a:lnTo>
                  <a:pt x="619125" y="95250"/>
                </a:lnTo>
                <a:cubicBezTo>
                  <a:pt x="645468" y="95250"/>
                  <a:pt x="666750" y="116532"/>
                  <a:pt x="666750" y="142875"/>
                </a:cubicBezTo>
                <a:cubicBezTo>
                  <a:pt x="666750" y="169218"/>
                  <a:pt x="645468" y="190500"/>
                  <a:pt x="619125" y="190500"/>
                </a:cubicBezTo>
                <a:lnTo>
                  <a:pt x="47625" y="190500"/>
                </a:lnTo>
                <a:cubicBezTo>
                  <a:pt x="21282" y="190500"/>
                  <a:pt x="0" y="169218"/>
                  <a:pt x="0" y="142875"/>
                </a:cubicBezTo>
                <a:close/>
                <a:moveTo>
                  <a:pt x="95250" y="381000"/>
                </a:moveTo>
                <a:cubicBezTo>
                  <a:pt x="95250" y="354657"/>
                  <a:pt x="116532" y="333375"/>
                  <a:pt x="142875" y="333375"/>
                </a:cubicBezTo>
                <a:lnTo>
                  <a:pt x="714375" y="333375"/>
                </a:lnTo>
                <a:cubicBezTo>
                  <a:pt x="740718" y="333375"/>
                  <a:pt x="762000" y="354657"/>
                  <a:pt x="762000" y="381000"/>
                </a:cubicBezTo>
                <a:cubicBezTo>
                  <a:pt x="762000" y="407343"/>
                  <a:pt x="740718" y="428625"/>
                  <a:pt x="714375" y="428625"/>
                </a:cubicBezTo>
                <a:lnTo>
                  <a:pt x="142875" y="428625"/>
                </a:lnTo>
                <a:cubicBezTo>
                  <a:pt x="116532" y="428625"/>
                  <a:pt x="95250" y="407343"/>
                  <a:pt x="95250" y="381000"/>
                </a:cubicBezTo>
                <a:close/>
                <a:moveTo>
                  <a:pt x="666750" y="619125"/>
                </a:moveTo>
                <a:cubicBezTo>
                  <a:pt x="666750" y="645468"/>
                  <a:pt x="645468" y="666750"/>
                  <a:pt x="619125" y="666750"/>
                </a:cubicBezTo>
                <a:lnTo>
                  <a:pt x="47625" y="666750"/>
                </a:lnTo>
                <a:cubicBezTo>
                  <a:pt x="21282" y="666750"/>
                  <a:pt x="0" y="645468"/>
                  <a:pt x="0" y="619125"/>
                </a:cubicBezTo>
                <a:cubicBezTo>
                  <a:pt x="0" y="592782"/>
                  <a:pt x="21282" y="571500"/>
                  <a:pt x="47625" y="571500"/>
                </a:cubicBezTo>
                <a:lnTo>
                  <a:pt x="619125" y="571500"/>
                </a:lnTo>
                <a:cubicBezTo>
                  <a:pt x="645468" y="571500"/>
                  <a:pt x="666750" y="592782"/>
                  <a:pt x="666750" y="619125"/>
                </a:cubicBezTo>
                <a:close/>
              </a:path>
            </a:pathLst>
          </a:custGeom>
          <a:solidFill>
            <a:srgbClr val="8F5C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7"/>
          <p:cNvSpPr/>
          <p:nvPr/>
        </p:nvSpPr>
        <p:spPr>
          <a:xfrm>
            <a:off x="9744223" y="4368800"/>
            <a:ext cx="1460400" cy="2031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lang="en-US" sz="1200">
                <a:solidFill>
                  <a:srgbClr val="3C3542"/>
                </a:solidFill>
              </a:rPr>
              <a:t>1024-bit Vector</a:t>
            </a:r>
            <a:endParaRPr b="0" i="0" sz="1600" u="none" cap="none" strike="noStrike"/>
          </a:p>
        </p:txBody>
      </p:sp>
      <p:sp>
        <p:nvSpPr>
          <p:cNvPr id="328" name="Google Shape;328;p7"/>
          <p:cNvSpPr/>
          <p:nvPr/>
        </p:nvSpPr>
        <p:spPr>
          <a:xfrm>
            <a:off x="9490925" y="5522525"/>
            <a:ext cx="1966976" cy="491744"/>
          </a:xfrm>
          <a:custGeom>
            <a:rect b="b" l="l" r="r" t="t"/>
            <a:pathLst>
              <a:path extrusionOk="0" h="1625600" w="1625600">
                <a:moveTo>
                  <a:pt x="101600" y="0"/>
                </a:moveTo>
                <a:lnTo>
                  <a:pt x="1524000" y="0"/>
                </a:lnTo>
                <a:cubicBezTo>
                  <a:pt x="1580075" y="0"/>
                  <a:pt x="1625600" y="45525"/>
                  <a:pt x="1625600" y="101600"/>
                </a:cubicBezTo>
                <a:lnTo>
                  <a:pt x="1625600" y="1524000"/>
                </a:lnTo>
                <a:cubicBezTo>
                  <a:pt x="1625600" y="1580075"/>
                  <a:pt x="1580075" y="1625600"/>
                  <a:pt x="1524000" y="1625600"/>
                </a:cubicBezTo>
                <a:lnTo>
                  <a:pt x="101600" y="1625600"/>
                </a:lnTo>
                <a:cubicBezTo>
                  <a:pt x="45525" y="1625600"/>
                  <a:pt x="0" y="1580075"/>
                  <a:pt x="0" y="1524000"/>
                </a:cubicBezTo>
                <a:lnTo>
                  <a:pt x="0" y="101600"/>
                </a:lnTo>
                <a:cubicBezTo>
                  <a:pt x="0" y="45525"/>
                  <a:pt x="45525" y="0"/>
                  <a:pt x="101600" y="0"/>
                </a:cubicBezTo>
                <a:close/>
              </a:path>
            </a:pathLst>
          </a:custGeom>
          <a:solidFill>
            <a:srgbClr val="D3B9D7">
              <a:alpha val="2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7"/>
          <p:cNvSpPr/>
          <p:nvPr/>
        </p:nvSpPr>
        <p:spPr>
          <a:xfrm>
            <a:off x="8092777" y="3048000"/>
            <a:ext cx="685800" cy="609600"/>
          </a:xfrm>
          <a:custGeom>
            <a:rect b="b" l="l" r="r" t="t"/>
            <a:pathLst>
              <a:path extrusionOk="0" h="609600" w="685800">
                <a:moveTo>
                  <a:pt x="674608" y="331708"/>
                </a:moveTo>
                <a:cubicBezTo>
                  <a:pt x="689491" y="316825"/>
                  <a:pt x="689491" y="292656"/>
                  <a:pt x="674608" y="277773"/>
                </a:cubicBezTo>
                <a:lnTo>
                  <a:pt x="522208" y="125373"/>
                </a:lnTo>
                <a:cubicBezTo>
                  <a:pt x="507325" y="110490"/>
                  <a:pt x="483156" y="110490"/>
                  <a:pt x="468273" y="125373"/>
                </a:cubicBezTo>
                <a:cubicBezTo>
                  <a:pt x="453390" y="140256"/>
                  <a:pt x="453390" y="164425"/>
                  <a:pt x="468273" y="179308"/>
                </a:cubicBezTo>
                <a:lnTo>
                  <a:pt x="555665" y="266700"/>
                </a:lnTo>
                <a:lnTo>
                  <a:pt x="38100" y="266700"/>
                </a:lnTo>
                <a:cubicBezTo>
                  <a:pt x="17026" y="266700"/>
                  <a:pt x="0" y="283726"/>
                  <a:pt x="0" y="304800"/>
                </a:cubicBezTo>
                <a:cubicBezTo>
                  <a:pt x="0" y="325874"/>
                  <a:pt x="17026" y="342900"/>
                  <a:pt x="38100" y="342900"/>
                </a:cubicBezTo>
                <a:lnTo>
                  <a:pt x="555665" y="342900"/>
                </a:lnTo>
                <a:lnTo>
                  <a:pt x="468273" y="430292"/>
                </a:lnTo>
                <a:cubicBezTo>
                  <a:pt x="453390" y="445175"/>
                  <a:pt x="453390" y="469344"/>
                  <a:pt x="468273" y="484227"/>
                </a:cubicBezTo>
                <a:cubicBezTo>
                  <a:pt x="483156" y="499110"/>
                  <a:pt x="507325" y="499110"/>
                  <a:pt x="522208" y="484227"/>
                </a:cubicBezTo>
                <a:lnTo>
                  <a:pt x="674608" y="331827"/>
                </a:lnTo>
                <a:close/>
              </a:path>
            </a:pathLst>
          </a:custGeom>
          <a:solidFill>
            <a:srgbClr val="A95E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7"/>
          <p:cNvSpPr/>
          <p:nvPr/>
        </p:nvSpPr>
        <p:spPr>
          <a:xfrm>
            <a:off x="9336523" y="5641338"/>
            <a:ext cx="2275800" cy="2541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US">
                <a:solidFill>
                  <a:srgbClr val="8F5B9A"/>
                </a:solidFill>
              </a:rPr>
              <a:t>Actual training data</a:t>
            </a:r>
            <a:endParaRPr b="1" i="0" sz="1600" u="none" cap="none" strike="noStrike">
              <a:solidFill>
                <a:srgbClr val="8F5B9A"/>
              </a:solidFill>
            </a:endParaRPr>
          </a:p>
        </p:txBody>
      </p:sp>
      <p:sp>
        <p:nvSpPr>
          <p:cNvPr id="331" name="Google Shape;331;p7"/>
          <p:cNvSpPr/>
          <p:nvPr/>
        </p:nvSpPr>
        <p:spPr>
          <a:xfrm>
            <a:off x="9661624" y="2387600"/>
            <a:ext cx="1625600" cy="1625600"/>
          </a:xfrm>
          <a:custGeom>
            <a:rect b="b" l="l" r="r" t="t"/>
            <a:pathLst>
              <a:path extrusionOk="0" h="1625600" w="1625600">
                <a:moveTo>
                  <a:pt x="101600" y="0"/>
                </a:moveTo>
                <a:lnTo>
                  <a:pt x="1524000" y="0"/>
                </a:lnTo>
                <a:cubicBezTo>
                  <a:pt x="1580075" y="0"/>
                  <a:pt x="1625600" y="45525"/>
                  <a:pt x="1625600" y="101600"/>
                </a:cubicBezTo>
                <a:lnTo>
                  <a:pt x="1625600" y="1524000"/>
                </a:lnTo>
                <a:cubicBezTo>
                  <a:pt x="1625600" y="1580075"/>
                  <a:pt x="1580075" y="1625600"/>
                  <a:pt x="1524000" y="1625600"/>
                </a:cubicBezTo>
                <a:lnTo>
                  <a:pt x="101600" y="1625600"/>
                </a:lnTo>
                <a:cubicBezTo>
                  <a:pt x="45525" y="1625600"/>
                  <a:pt x="0" y="1580075"/>
                  <a:pt x="0" y="1524000"/>
                </a:cubicBezTo>
                <a:lnTo>
                  <a:pt x="0" y="101600"/>
                </a:lnTo>
                <a:cubicBezTo>
                  <a:pt x="0" y="45525"/>
                  <a:pt x="45525" y="0"/>
                  <a:pt x="101600" y="0"/>
                </a:cubicBezTo>
                <a:close/>
              </a:path>
            </a:pathLst>
          </a:custGeom>
          <a:solidFill>
            <a:srgbClr val="8F5C9A">
              <a:alpha val="2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7"/>
          <p:cNvSpPr/>
          <p:nvPr/>
        </p:nvSpPr>
        <p:spPr>
          <a:xfrm>
            <a:off x="296550" y="1369875"/>
            <a:ext cx="115989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600" u="none" cap="none" strike="noStrike">
                <a:solidFill>
                  <a:srgbClr val="3C3542"/>
                </a:solidFill>
                <a:latin typeface="Arial"/>
                <a:ea typeface="Arial"/>
                <a:cs typeface="Arial"/>
                <a:sym typeface="Arial"/>
              </a:rPr>
              <a:t>This process translates chemistry into a fixed-length vector,</a:t>
            </a:r>
            <a:r>
              <a:rPr lang="en-US" sz="1600">
                <a:solidFill>
                  <a:srgbClr val="3C3542"/>
                </a:solidFill>
              </a:rPr>
              <a:t> </a:t>
            </a:r>
            <a:r>
              <a:rPr lang="en-US" sz="1600">
                <a:solidFill>
                  <a:schemeClr val="dk1"/>
                </a:solidFill>
              </a:rPr>
              <a:t>so that classic Machine Learning algorithms can understand them</a:t>
            </a:r>
            <a:endParaRPr sz="1600">
              <a:solidFill>
                <a:srgbClr val="3C3542"/>
              </a:solidFill>
            </a:endParaRPr>
          </a:p>
        </p:txBody>
      </p:sp>
      <p:sp>
        <p:nvSpPr>
          <p:cNvPr id="333" name="Google Shape;333;p7"/>
          <p:cNvSpPr/>
          <p:nvPr/>
        </p:nvSpPr>
        <p:spPr>
          <a:xfrm>
            <a:off x="10136662" y="2819212"/>
            <a:ext cx="675513" cy="762381"/>
          </a:xfrm>
          <a:custGeom>
            <a:rect b="b" l="l" r="r" t="t"/>
            <a:pathLst>
              <a:path extrusionOk="0" h="457200" w="457200">
                <a:moveTo>
                  <a:pt x="42863" y="228600"/>
                </a:moveTo>
                <a:cubicBezTo>
                  <a:pt x="42863" y="125998"/>
                  <a:pt x="125998" y="42863"/>
                  <a:pt x="228600" y="42863"/>
                </a:cubicBezTo>
                <a:cubicBezTo>
                  <a:pt x="284946" y="42863"/>
                  <a:pt x="335399" y="67955"/>
                  <a:pt x="369510" y="107603"/>
                </a:cubicBezTo>
                <a:cubicBezTo>
                  <a:pt x="377190" y="116622"/>
                  <a:pt x="390763" y="117604"/>
                  <a:pt x="399693" y="109924"/>
                </a:cubicBezTo>
                <a:cubicBezTo>
                  <a:pt x="408623" y="102245"/>
                  <a:pt x="409694" y="88672"/>
                  <a:pt x="402015" y="79742"/>
                </a:cubicBezTo>
                <a:cubicBezTo>
                  <a:pt x="360134" y="30897"/>
                  <a:pt x="297984" y="0"/>
                  <a:pt x="228600" y="0"/>
                </a:cubicBezTo>
                <a:cubicBezTo>
                  <a:pt x="102334" y="0"/>
                  <a:pt x="0" y="102334"/>
                  <a:pt x="0" y="228600"/>
                </a:cubicBezTo>
                <a:lnTo>
                  <a:pt x="0" y="264319"/>
                </a:lnTo>
                <a:cubicBezTo>
                  <a:pt x="0" y="276195"/>
                  <a:pt x="9555" y="285750"/>
                  <a:pt x="21431" y="285750"/>
                </a:cubicBezTo>
                <a:cubicBezTo>
                  <a:pt x="33308" y="285750"/>
                  <a:pt x="42863" y="276195"/>
                  <a:pt x="42863" y="264319"/>
                </a:cubicBezTo>
                <a:lnTo>
                  <a:pt x="42863" y="228600"/>
                </a:lnTo>
                <a:close/>
                <a:moveTo>
                  <a:pt x="452289" y="181362"/>
                </a:moveTo>
                <a:cubicBezTo>
                  <a:pt x="449878" y="169753"/>
                  <a:pt x="438448" y="162342"/>
                  <a:pt x="426928" y="164842"/>
                </a:cubicBezTo>
                <a:cubicBezTo>
                  <a:pt x="415409" y="167342"/>
                  <a:pt x="407908" y="178683"/>
                  <a:pt x="410408" y="190202"/>
                </a:cubicBezTo>
                <a:cubicBezTo>
                  <a:pt x="412998" y="202615"/>
                  <a:pt x="414427" y="215473"/>
                  <a:pt x="414427" y="228689"/>
                </a:cubicBezTo>
                <a:lnTo>
                  <a:pt x="414427" y="264408"/>
                </a:lnTo>
                <a:cubicBezTo>
                  <a:pt x="414427" y="276285"/>
                  <a:pt x="423982" y="285839"/>
                  <a:pt x="435858" y="285839"/>
                </a:cubicBezTo>
                <a:cubicBezTo>
                  <a:pt x="447735" y="285839"/>
                  <a:pt x="457289" y="276285"/>
                  <a:pt x="457289" y="264408"/>
                </a:cubicBezTo>
                <a:lnTo>
                  <a:pt x="457289" y="228689"/>
                </a:lnTo>
                <a:cubicBezTo>
                  <a:pt x="457289" y="212527"/>
                  <a:pt x="455593" y="196721"/>
                  <a:pt x="452378" y="181451"/>
                </a:cubicBezTo>
                <a:close/>
                <a:moveTo>
                  <a:pt x="228600" y="71438"/>
                </a:moveTo>
                <a:cubicBezTo>
                  <a:pt x="211634" y="71438"/>
                  <a:pt x="195203" y="74116"/>
                  <a:pt x="179933" y="79117"/>
                </a:cubicBezTo>
                <a:cubicBezTo>
                  <a:pt x="166360" y="83582"/>
                  <a:pt x="163235" y="100280"/>
                  <a:pt x="172522" y="111175"/>
                </a:cubicBezTo>
                <a:cubicBezTo>
                  <a:pt x="178862" y="118586"/>
                  <a:pt x="189309" y="120819"/>
                  <a:pt x="198775" y="118229"/>
                </a:cubicBezTo>
                <a:cubicBezTo>
                  <a:pt x="208240" y="115639"/>
                  <a:pt x="218242" y="114300"/>
                  <a:pt x="228600" y="114300"/>
                </a:cubicBezTo>
                <a:cubicBezTo>
                  <a:pt x="291733" y="114300"/>
                  <a:pt x="342900" y="165467"/>
                  <a:pt x="342900" y="228600"/>
                </a:cubicBezTo>
                <a:lnTo>
                  <a:pt x="342900" y="250835"/>
                </a:lnTo>
                <a:cubicBezTo>
                  <a:pt x="342900" y="273338"/>
                  <a:pt x="341561" y="295751"/>
                  <a:pt x="338971" y="318075"/>
                </a:cubicBezTo>
                <a:cubicBezTo>
                  <a:pt x="337453" y="331113"/>
                  <a:pt x="347365" y="342900"/>
                  <a:pt x="360581" y="342900"/>
                </a:cubicBezTo>
                <a:cubicBezTo>
                  <a:pt x="371118" y="342900"/>
                  <a:pt x="380137" y="335220"/>
                  <a:pt x="381387" y="324773"/>
                </a:cubicBezTo>
                <a:cubicBezTo>
                  <a:pt x="384334" y="300305"/>
                  <a:pt x="385852" y="275659"/>
                  <a:pt x="385852" y="250924"/>
                </a:cubicBezTo>
                <a:lnTo>
                  <a:pt x="385852" y="228689"/>
                </a:lnTo>
                <a:cubicBezTo>
                  <a:pt x="385852" y="141893"/>
                  <a:pt x="315486" y="71527"/>
                  <a:pt x="228689" y="71527"/>
                </a:cubicBezTo>
                <a:close/>
                <a:moveTo>
                  <a:pt x="134570" y="132784"/>
                </a:moveTo>
                <a:cubicBezTo>
                  <a:pt x="126444" y="123319"/>
                  <a:pt x="111978" y="122605"/>
                  <a:pt x="104299" y="132427"/>
                </a:cubicBezTo>
                <a:cubicBezTo>
                  <a:pt x="83671" y="159038"/>
                  <a:pt x="71437" y="192345"/>
                  <a:pt x="71437" y="228600"/>
                </a:cubicBezTo>
                <a:lnTo>
                  <a:pt x="71437" y="250835"/>
                </a:lnTo>
                <a:cubicBezTo>
                  <a:pt x="71437" y="272445"/>
                  <a:pt x="69116" y="294055"/>
                  <a:pt x="64472" y="315039"/>
                </a:cubicBezTo>
                <a:cubicBezTo>
                  <a:pt x="61436" y="328970"/>
                  <a:pt x="71527" y="342811"/>
                  <a:pt x="85814" y="342811"/>
                </a:cubicBezTo>
                <a:cubicBezTo>
                  <a:pt x="95190" y="342811"/>
                  <a:pt x="103584" y="336560"/>
                  <a:pt x="105638" y="327362"/>
                </a:cubicBezTo>
                <a:cubicBezTo>
                  <a:pt x="111353" y="302270"/>
                  <a:pt x="114300" y="276642"/>
                  <a:pt x="114300" y="250746"/>
                </a:cubicBezTo>
                <a:lnTo>
                  <a:pt x="114300" y="228511"/>
                </a:lnTo>
                <a:cubicBezTo>
                  <a:pt x="114300" y="204222"/>
                  <a:pt x="121890" y="181719"/>
                  <a:pt x="134749" y="163235"/>
                </a:cubicBezTo>
                <a:cubicBezTo>
                  <a:pt x="141178" y="153948"/>
                  <a:pt x="141893" y="141268"/>
                  <a:pt x="134570" y="132695"/>
                </a:cubicBezTo>
                <a:close/>
                <a:moveTo>
                  <a:pt x="228600" y="142875"/>
                </a:moveTo>
                <a:cubicBezTo>
                  <a:pt x="181273" y="142875"/>
                  <a:pt x="142875" y="181273"/>
                  <a:pt x="142875" y="228600"/>
                </a:cubicBezTo>
                <a:lnTo>
                  <a:pt x="142875" y="250835"/>
                </a:lnTo>
                <a:cubicBezTo>
                  <a:pt x="142875" y="282892"/>
                  <a:pt x="138767" y="314682"/>
                  <a:pt x="130552" y="345579"/>
                </a:cubicBezTo>
                <a:cubicBezTo>
                  <a:pt x="127159" y="358348"/>
                  <a:pt x="136535" y="371475"/>
                  <a:pt x="149751" y="371475"/>
                </a:cubicBezTo>
                <a:cubicBezTo>
                  <a:pt x="158234" y="371475"/>
                  <a:pt x="165735" y="365939"/>
                  <a:pt x="167967" y="357723"/>
                </a:cubicBezTo>
                <a:cubicBezTo>
                  <a:pt x="177344" y="322898"/>
                  <a:pt x="182166" y="287000"/>
                  <a:pt x="182166" y="250835"/>
                </a:cubicBezTo>
                <a:lnTo>
                  <a:pt x="182166" y="228600"/>
                </a:lnTo>
                <a:cubicBezTo>
                  <a:pt x="182166" y="202972"/>
                  <a:pt x="202972" y="182166"/>
                  <a:pt x="228600" y="182166"/>
                </a:cubicBezTo>
                <a:cubicBezTo>
                  <a:pt x="254228" y="182166"/>
                  <a:pt x="275034" y="202972"/>
                  <a:pt x="275034" y="228600"/>
                </a:cubicBezTo>
                <a:lnTo>
                  <a:pt x="275034" y="250835"/>
                </a:lnTo>
                <a:cubicBezTo>
                  <a:pt x="275034" y="283250"/>
                  <a:pt x="271909" y="315486"/>
                  <a:pt x="265748" y="347186"/>
                </a:cubicBezTo>
                <a:cubicBezTo>
                  <a:pt x="263336" y="359599"/>
                  <a:pt x="272623" y="371475"/>
                  <a:pt x="285214" y="371475"/>
                </a:cubicBezTo>
                <a:cubicBezTo>
                  <a:pt x="294323" y="371475"/>
                  <a:pt x="302181" y="365224"/>
                  <a:pt x="303967" y="356295"/>
                </a:cubicBezTo>
                <a:cubicBezTo>
                  <a:pt x="310842" y="321647"/>
                  <a:pt x="314325" y="286375"/>
                  <a:pt x="314325" y="250835"/>
                </a:cubicBezTo>
                <a:lnTo>
                  <a:pt x="314325" y="228600"/>
                </a:lnTo>
                <a:cubicBezTo>
                  <a:pt x="314325" y="181273"/>
                  <a:pt x="275927" y="142875"/>
                  <a:pt x="228600" y="142875"/>
                </a:cubicBezTo>
                <a:close/>
                <a:moveTo>
                  <a:pt x="250031" y="228600"/>
                </a:moveTo>
                <a:cubicBezTo>
                  <a:pt x="250031" y="216724"/>
                  <a:pt x="240476" y="207169"/>
                  <a:pt x="228600" y="207169"/>
                </a:cubicBezTo>
                <a:cubicBezTo>
                  <a:pt x="216724" y="207169"/>
                  <a:pt x="207169" y="216724"/>
                  <a:pt x="207169" y="228600"/>
                </a:cubicBezTo>
                <a:lnTo>
                  <a:pt x="207169" y="250835"/>
                </a:lnTo>
                <a:cubicBezTo>
                  <a:pt x="207169" y="304324"/>
                  <a:pt x="197346" y="357366"/>
                  <a:pt x="178147" y="407283"/>
                </a:cubicBezTo>
                <a:lnTo>
                  <a:pt x="172879" y="420945"/>
                </a:lnTo>
                <a:cubicBezTo>
                  <a:pt x="168592" y="432018"/>
                  <a:pt x="174129" y="444431"/>
                  <a:pt x="185202" y="448628"/>
                </a:cubicBezTo>
                <a:cubicBezTo>
                  <a:pt x="196275" y="452824"/>
                  <a:pt x="208687" y="447377"/>
                  <a:pt x="212884" y="436305"/>
                </a:cubicBezTo>
                <a:lnTo>
                  <a:pt x="218152" y="422642"/>
                </a:lnTo>
                <a:cubicBezTo>
                  <a:pt x="239226" y="367814"/>
                  <a:pt x="250031" y="309592"/>
                  <a:pt x="250031" y="250835"/>
                </a:cubicBezTo>
                <a:lnTo>
                  <a:pt x="250031" y="228600"/>
                </a:lnTo>
                <a:close/>
              </a:path>
            </a:pathLst>
          </a:custGeom>
          <a:solidFill>
            <a:srgbClr val="8F5B9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4" name="Google Shape;334;p7"/>
          <p:cNvSpPr/>
          <p:nvPr/>
        </p:nvSpPr>
        <p:spPr>
          <a:xfrm>
            <a:off x="5412715" y="4064000"/>
            <a:ext cx="19686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lang="en-US" sz="1600">
                <a:solidFill>
                  <a:srgbClr val="3C3542"/>
                </a:solidFill>
              </a:rPr>
              <a:t>SMILES String</a:t>
            </a:r>
            <a:endParaRPr b="0" i="0" sz="1600" u="none" cap="none" strike="noStrike"/>
          </a:p>
        </p:txBody>
      </p:sp>
      <p:sp>
        <p:nvSpPr>
          <p:cNvPr id="335" name="Google Shape;335;p7"/>
          <p:cNvSpPr/>
          <p:nvPr/>
        </p:nvSpPr>
        <p:spPr>
          <a:xfrm>
            <a:off x="9490115" y="4064000"/>
            <a:ext cx="19686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lang="en-US" sz="1600">
                <a:solidFill>
                  <a:srgbClr val="3C3542"/>
                </a:solidFill>
              </a:rPr>
              <a:t>Morgan Fingerprint</a:t>
            </a:r>
            <a:endParaRPr b="0" i="0" sz="1600" u="none" cap="none" strike="noStrike"/>
          </a:p>
        </p:txBody>
      </p:sp>
      <p:pic>
        <p:nvPicPr>
          <p:cNvPr id="336" name="Google Shape;336;p7" title="donepezil.jpg"/>
          <p:cNvPicPr preferRelativeResize="0"/>
          <p:nvPr/>
        </p:nvPicPr>
        <p:blipFill rotWithShape="1">
          <a:blip r:embed="rId4">
            <a:alphaModFix/>
          </a:blip>
          <a:srcRect b="9613" l="0" r="0" t="3233"/>
          <a:stretch/>
        </p:blipFill>
        <p:spPr>
          <a:xfrm>
            <a:off x="1220025" y="4419600"/>
            <a:ext cx="1625700" cy="1514700"/>
          </a:xfrm>
          <a:prstGeom prst="roundRect">
            <a:avLst>
              <a:gd fmla="val 6250" name="adj"/>
            </a:avLst>
          </a:prstGeom>
          <a:noFill/>
          <a:ln>
            <a:noFill/>
          </a:ln>
        </p:spPr>
      </p:pic>
      <p:sp>
        <p:nvSpPr>
          <p:cNvPr id="337" name="Google Shape;337;p7"/>
          <p:cNvSpPr/>
          <p:nvPr/>
        </p:nvSpPr>
        <p:spPr>
          <a:xfrm>
            <a:off x="3714155" y="3048000"/>
            <a:ext cx="685800" cy="609600"/>
          </a:xfrm>
          <a:custGeom>
            <a:rect b="b" l="l" r="r" t="t"/>
            <a:pathLst>
              <a:path extrusionOk="0" h="609600" w="685800">
                <a:moveTo>
                  <a:pt x="674608" y="331708"/>
                </a:moveTo>
                <a:cubicBezTo>
                  <a:pt x="689491" y="316825"/>
                  <a:pt x="689491" y="292656"/>
                  <a:pt x="674608" y="277773"/>
                </a:cubicBezTo>
                <a:lnTo>
                  <a:pt x="522208" y="125373"/>
                </a:lnTo>
                <a:cubicBezTo>
                  <a:pt x="507325" y="110490"/>
                  <a:pt x="483156" y="110490"/>
                  <a:pt x="468273" y="125373"/>
                </a:cubicBezTo>
                <a:cubicBezTo>
                  <a:pt x="453390" y="140256"/>
                  <a:pt x="453390" y="164425"/>
                  <a:pt x="468273" y="179308"/>
                </a:cubicBezTo>
                <a:lnTo>
                  <a:pt x="555665" y="266700"/>
                </a:lnTo>
                <a:lnTo>
                  <a:pt x="38100" y="266700"/>
                </a:lnTo>
                <a:cubicBezTo>
                  <a:pt x="17026" y="266700"/>
                  <a:pt x="0" y="283726"/>
                  <a:pt x="0" y="304800"/>
                </a:cubicBezTo>
                <a:cubicBezTo>
                  <a:pt x="0" y="325874"/>
                  <a:pt x="17026" y="342900"/>
                  <a:pt x="38100" y="342900"/>
                </a:cubicBezTo>
                <a:lnTo>
                  <a:pt x="555665" y="342900"/>
                </a:lnTo>
                <a:lnTo>
                  <a:pt x="468273" y="430292"/>
                </a:lnTo>
                <a:cubicBezTo>
                  <a:pt x="453390" y="445175"/>
                  <a:pt x="453390" y="469344"/>
                  <a:pt x="468273" y="484227"/>
                </a:cubicBezTo>
                <a:cubicBezTo>
                  <a:pt x="483156" y="499110"/>
                  <a:pt x="507325" y="499110"/>
                  <a:pt x="522208" y="484227"/>
                </a:cubicBezTo>
                <a:lnTo>
                  <a:pt x="674608" y="331827"/>
                </a:lnTo>
                <a:close/>
              </a:path>
            </a:pathLst>
          </a:custGeom>
          <a:solidFill>
            <a:srgbClr val="A95E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7"/>
          <p:cNvSpPr/>
          <p:nvPr/>
        </p:nvSpPr>
        <p:spPr>
          <a:xfrm>
            <a:off x="1048565" y="4064000"/>
            <a:ext cx="19686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600" u="none" cap="none" strike="noStrike">
                <a:solidFill>
                  <a:srgbClr val="3C3542"/>
                </a:solidFill>
                <a:latin typeface="Arial"/>
                <a:ea typeface="Arial"/>
                <a:cs typeface="Arial"/>
                <a:sym typeface="Arial"/>
              </a:rPr>
              <a:t>Chemical Structure</a:t>
            </a:r>
            <a:endParaRPr b="0" i="0" sz="1600" u="none" cap="none" strike="noStrike"/>
          </a:p>
        </p:txBody>
      </p:sp>
      <p:sp>
        <p:nvSpPr>
          <p:cNvPr id="339" name="Google Shape;339;p7"/>
          <p:cNvSpPr/>
          <p:nvPr/>
        </p:nvSpPr>
        <p:spPr>
          <a:xfrm>
            <a:off x="3842375" y="4368800"/>
            <a:ext cx="5109300" cy="203100"/>
          </a:xfrm>
          <a:prstGeom prst="rect">
            <a:avLst/>
          </a:prstGeom>
          <a:noFill/>
          <a:ln>
            <a:noFill/>
          </a:ln>
        </p:spPr>
        <p:txBody>
          <a:bodyPr anchorCtr="0" anchor="ctr" bIns="0" lIns="0" spcFirstLastPara="1" rIns="0" wrap="square" tIns="0">
            <a:noAutofit/>
          </a:bodyPr>
          <a:lstStyle/>
          <a:p>
            <a:pPr indent="0" lvl="0" marL="0" rtl="0" algn="ctr">
              <a:lnSpc>
                <a:spcPct val="110000"/>
              </a:lnSpc>
              <a:spcBef>
                <a:spcPts val="0"/>
              </a:spcBef>
              <a:spcAft>
                <a:spcPts val="0"/>
              </a:spcAft>
              <a:buNone/>
            </a:pPr>
            <a:r>
              <a:rPr lang="en-US" sz="1200"/>
              <a:t>COC1=C(C=C2C(=C1)CC(C2=O)CC3CCN(CC3)CC4=CC=CC=C4)OC</a:t>
            </a:r>
            <a:endParaRPr sz="1200">
              <a:solidFill>
                <a:srgbClr val="3C3542"/>
              </a:solidFill>
            </a:endParaRPr>
          </a:p>
        </p:txBody>
      </p:sp>
      <p:sp>
        <p:nvSpPr>
          <p:cNvPr id="340" name="Google Shape;340;p7"/>
          <p:cNvSpPr/>
          <p:nvPr/>
        </p:nvSpPr>
        <p:spPr>
          <a:xfrm>
            <a:off x="1220080" y="2387600"/>
            <a:ext cx="1625600" cy="1625600"/>
          </a:xfrm>
          <a:custGeom>
            <a:rect b="b" l="l" r="r" t="t"/>
            <a:pathLst>
              <a:path extrusionOk="0" h="1625600" w="1625600">
                <a:moveTo>
                  <a:pt x="101600" y="0"/>
                </a:moveTo>
                <a:lnTo>
                  <a:pt x="1524000" y="0"/>
                </a:lnTo>
                <a:cubicBezTo>
                  <a:pt x="1580075" y="0"/>
                  <a:pt x="1625600" y="45525"/>
                  <a:pt x="1625600" y="101600"/>
                </a:cubicBezTo>
                <a:lnTo>
                  <a:pt x="1625600" y="1524000"/>
                </a:lnTo>
                <a:cubicBezTo>
                  <a:pt x="1625600" y="1580075"/>
                  <a:pt x="1580075" y="1625600"/>
                  <a:pt x="1524000" y="1625600"/>
                </a:cubicBezTo>
                <a:lnTo>
                  <a:pt x="101600" y="1625600"/>
                </a:lnTo>
                <a:cubicBezTo>
                  <a:pt x="45525" y="1625600"/>
                  <a:pt x="0" y="1580075"/>
                  <a:pt x="0" y="1524000"/>
                </a:cubicBezTo>
                <a:lnTo>
                  <a:pt x="0" y="101600"/>
                </a:lnTo>
                <a:cubicBezTo>
                  <a:pt x="0" y="45525"/>
                  <a:pt x="45525" y="0"/>
                  <a:pt x="101600" y="0"/>
                </a:cubicBezTo>
                <a:close/>
              </a:path>
            </a:pathLst>
          </a:custGeom>
          <a:solidFill>
            <a:srgbClr val="D3B9D7">
              <a:alpha val="2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7"/>
          <p:cNvSpPr/>
          <p:nvPr/>
        </p:nvSpPr>
        <p:spPr>
          <a:xfrm>
            <a:off x="1651823" y="2819213"/>
            <a:ext cx="762095" cy="762381"/>
          </a:xfrm>
          <a:custGeom>
            <a:rect b="b" l="l" r="r" t="t"/>
            <a:pathLst>
              <a:path extrusionOk="0" h="457200" w="400050">
                <a:moveTo>
                  <a:pt x="200025" y="356116"/>
                </a:moveTo>
                <a:cubicBezTo>
                  <a:pt x="189488" y="360670"/>
                  <a:pt x="179130" y="364778"/>
                  <a:pt x="168860" y="368171"/>
                </a:cubicBezTo>
                <a:cubicBezTo>
                  <a:pt x="183773" y="398353"/>
                  <a:pt x="196542" y="400050"/>
                  <a:pt x="200025" y="400050"/>
                </a:cubicBezTo>
                <a:cubicBezTo>
                  <a:pt x="203508" y="400050"/>
                  <a:pt x="216188" y="398353"/>
                  <a:pt x="231190" y="368171"/>
                </a:cubicBezTo>
                <a:cubicBezTo>
                  <a:pt x="221010" y="364688"/>
                  <a:pt x="210562" y="360670"/>
                  <a:pt x="200025" y="356116"/>
                </a:cubicBezTo>
                <a:close/>
                <a:moveTo>
                  <a:pt x="369689" y="228600"/>
                </a:moveTo>
                <a:cubicBezTo>
                  <a:pt x="399157" y="268962"/>
                  <a:pt x="409248" y="309771"/>
                  <a:pt x="390763" y="342900"/>
                </a:cubicBezTo>
                <a:cubicBezTo>
                  <a:pt x="372725" y="375315"/>
                  <a:pt x="334953" y="386923"/>
                  <a:pt x="287893" y="381476"/>
                </a:cubicBezTo>
                <a:cubicBezTo>
                  <a:pt x="268248" y="428000"/>
                  <a:pt x="238155" y="457200"/>
                  <a:pt x="200025" y="457200"/>
                </a:cubicBezTo>
                <a:cubicBezTo>
                  <a:pt x="161895" y="457200"/>
                  <a:pt x="131802" y="428000"/>
                  <a:pt x="112157" y="381476"/>
                </a:cubicBezTo>
                <a:cubicBezTo>
                  <a:pt x="65097" y="386923"/>
                  <a:pt x="27325" y="375315"/>
                  <a:pt x="9287" y="342900"/>
                </a:cubicBezTo>
                <a:cubicBezTo>
                  <a:pt x="-9198" y="309771"/>
                  <a:pt x="893" y="268962"/>
                  <a:pt x="30361" y="228600"/>
                </a:cubicBezTo>
                <a:cubicBezTo>
                  <a:pt x="893" y="188238"/>
                  <a:pt x="-9198" y="147429"/>
                  <a:pt x="9287" y="114300"/>
                </a:cubicBezTo>
                <a:cubicBezTo>
                  <a:pt x="27325" y="81885"/>
                  <a:pt x="65097" y="70277"/>
                  <a:pt x="112157" y="75724"/>
                </a:cubicBezTo>
                <a:cubicBezTo>
                  <a:pt x="131802" y="29200"/>
                  <a:pt x="161806" y="0"/>
                  <a:pt x="200025" y="0"/>
                </a:cubicBezTo>
                <a:cubicBezTo>
                  <a:pt x="238244" y="0"/>
                  <a:pt x="268248" y="29200"/>
                  <a:pt x="287893" y="75724"/>
                </a:cubicBezTo>
                <a:cubicBezTo>
                  <a:pt x="334953" y="70277"/>
                  <a:pt x="372725" y="81796"/>
                  <a:pt x="390763" y="114300"/>
                </a:cubicBezTo>
                <a:cubicBezTo>
                  <a:pt x="409248" y="147429"/>
                  <a:pt x="399157" y="188238"/>
                  <a:pt x="369689" y="228600"/>
                </a:cubicBezTo>
                <a:close/>
                <a:moveTo>
                  <a:pt x="310932" y="288786"/>
                </a:moveTo>
                <a:cubicBezTo>
                  <a:pt x="309414" y="301466"/>
                  <a:pt x="307449" y="313789"/>
                  <a:pt x="304949" y="325576"/>
                </a:cubicBezTo>
                <a:cubicBezTo>
                  <a:pt x="333345" y="326827"/>
                  <a:pt x="339417" y="317808"/>
                  <a:pt x="340846" y="315129"/>
                </a:cubicBezTo>
                <a:cubicBezTo>
                  <a:pt x="342900" y="311378"/>
                  <a:pt x="347097" y="299145"/>
                  <a:pt x="330220" y="272177"/>
                </a:cubicBezTo>
                <a:cubicBezTo>
                  <a:pt x="324148" y="277803"/>
                  <a:pt x="317718" y="283339"/>
                  <a:pt x="310932" y="288786"/>
                </a:cubicBezTo>
                <a:close/>
                <a:moveTo>
                  <a:pt x="304949" y="131713"/>
                </a:moveTo>
                <a:cubicBezTo>
                  <a:pt x="307449" y="143411"/>
                  <a:pt x="309414" y="155734"/>
                  <a:pt x="310932" y="168503"/>
                </a:cubicBezTo>
                <a:cubicBezTo>
                  <a:pt x="317718" y="173950"/>
                  <a:pt x="324148" y="179487"/>
                  <a:pt x="330220" y="185112"/>
                </a:cubicBezTo>
                <a:cubicBezTo>
                  <a:pt x="347097" y="158145"/>
                  <a:pt x="342900" y="145822"/>
                  <a:pt x="340846" y="142161"/>
                </a:cubicBezTo>
                <a:cubicBezTo>
                  <a:pt x="339417" y="139571"/>
                  <a:pt x="333345" y="130552"/>
                  <a:pt x="304949" y="131713"/>
                </a:cubicBezTo>
                <a:close/>
                <a:moveTo>
                  <a:pt x="231190" y="89029"/>
                </a:moveTo>
                <a:cubicBezTo>
                  <a:pt x="216188" y="58847"/>
                  <a:pt x="203508" y="57150"/>
                  <a:pt x="200025" y="57150"/>
                </a:cubicBezTo>
                <a:cubicBezTo>
                  <a:pt x="196542" y="57150"/>
                  <a:pt x="183862" y="58847"/>
                  <a:pt x="168860" y="89029"/>
                </a:cubicBezTo>
                <a:cubicBezTo>
                  <a:pt x="179040" y="92512"/>
                  <a:pt x="189488" y="96530"/>
                  <a:pt x="200025" y="101084"/>
                </a:cubicBezTo>
                <a:cubicBezTo>
                  <a:pt x="210562" y="96530"/>
                  <a:pt x="220920" y="92422"/>
                  <a:pt x="231190" y="89029"/>
                </a:cubicBezTo>
                <a:close/>
                <a:moveTo>
                  <a:pt x="89208" y="168414"/>
                </a:moveTo>
                <a:cubicBezTo>
                  <a:pt x="90726" y="155644"/>
                  <a:pt x="92690" y="143411"/>
                  <a:pt x="95190" y="131624"/>
                </a:cubicBezTo>
                <a:cubicBezTo>
                  <a:pt x="66794" y="130373"/>
                  <a:pt x="60722" y="139392"/>
                  <a:pt x="59293" y="142071"/>
                </a:cubicBezTo>
                <a:cubicBezTo>
                  <a:pt x="57239" y="145822"/>
                  <a:pt x="53042" y="158055"/>
                  <a:pt x="69919" y="185023"/>
                </a:cubicBezTo>
                <a:cubicBezTo>
                  <a:pt x="75992" y="179397"/>
                  <a:pt x="82421" y="173861"/>
                  <a:pt x="89208" y="168414"/>
                </a:cubicBezTo>
                <a:close/>
                <a:moveTo>
                  <a:pt x="69830" y="272177"/>
                </a:moveTo>
                <a:cubicBezTo>
                  <a:pt x="52953" y="299145"/>
                  <a:pt x="57150" y="311468"/>
                  <a:pt x="59204" y="315129"/>
                </a:cubicBezTo>
                <a:cubicBezTo>
                  <a:pt x="60633" y="317718"/>
                  <a:pt x="66705" y="326737"/>
                  <a:pt x="95101" y="325576"/>
                </a:cubicBezTo>
                <a:cubicBezTo>
                  <a:pt x="92601" y="313879"/>
                  <a:pt x="90636" y="301556"/>
                  <a:pt x="89118" y="288786"/>
                </a:cubicBezTo>
                <a:cubicBezTo>
                  <a:pt x="82332" y="283339"/>
                  <a:pt x="75902" y="277803"/>
                  <a:pt x="69830" y="272177"/>
                </a:cubicBezTo>
                <a:close/>
                <a:moveTo>
                  <a:pt x="271463" y="228600"/>
                </a:moveTo>
                <a:cubicBezTo>
                  <a:pt x="271463" y="189173"/>
                  <a:pt x="239452" y="157163"/>
                  <a:pt x="200025" y="157163"/>
                </a:cubicBezTo>
                <a:cubicBezTo>
                  <a:pt x="160598" y="157163"/>
                  <a:pt x="128588" y="189173"/>
                  <a:pt x="128588" y="228600"/>
                </a:cubicBezTo>
                <a:cubicBezTo>
                  <a:pt x="128588" y="268027"/>
                  <a:pt x="160598" y="300038"/>
                  <a:pt x="200025" y="300038"/>
                </a:cubicBezTo>
                <a:cubicBezTo>
                  <a:pt x="239452" y="300038"/>
                  <a:pt x="271463" y="268027"/>
                  <a:pt x="271463" y="228600"/>
                </a:cubicBezTo>
                <a:close/>
                <a:moveTo>
                  <a:pt x="200025" y="200025"/>
                </a:moveTo>
                <a:cubicBezTo>
                  <a:pt x="215796" y="200025"/>
                  <a:pt x="228600" y="212829"/>
                  <a:pt x="228600" y="228600"/>
                </a:cubicBezTo>
                <a:cubicBezTo>
                  <a:pt x="228600" y="244371"/>
                  <a:pt x="215796" y="257175"/>
                  <a:pt x="200025" y="257175"/>
                </a:cubicBezTo>
                <a:cubicBezTo>
                  <a:pt x="184254" y="257175"/>
                  <a:pt x="171450" y="244371"/>
                  <a:pt x="171450" y="228600"/>
                </a:cubicBezTo>
                <a:cubicBezTo>
                  <a:pt x="171450" y="212829"/>
                  <a:pt x="184254" y="200025"/>
                  <a:pt x="200025" y="200025"/>
                </a:cubicBezTo>
                <a:close/>
              </a:path>
            </a:pathLst>
          </a:custGeom>
          <a:solidFill>
            <a:srgbClr val="8F5B9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2" name="Google Shape;342;p7"/>
          <p:cNvSpPr/>
          <p:nvPr/>
        </p:nvSpPr>
        <p:spPr>
          <a:xfrm rot="5400000">
            <a:off x="10131527" y="4764225"/>
            <a:ext cx="685800" cy="609600"/>
          </a:xfrm>
          <a:custGeom>
            <a:rect b="b" l="l" r="r" t="t"/>
            <a:pathLst>
              <a:path extrusionOk="0" h="609600" w="685800">
                <a:moveTo>
                  <a:pt x="674608" y="331708"/>
                </a:moveTo>
                <a:cubicBezTo>
                  <a:pt x="689491" y="316825"/>
                  <a:pt x="689491" y="292656"/>
                  <a:pt x="674608" y="277773"/>
                </a:cubicBezTo>
                <a:lnTo>
                  <a:pt x="522208" y="125373"/>
                </a:lnTo>
                <a:cubicBezTo>
                  <a:pt x="507325" y="110490"/>
                  <a:pt x="483156" y="110490"/>
                  <a:pt x="468273" y="125373"/>
                </a:cubicBezTo>
                <a:cubicBezTo>
                  <a:pt x="453390" y="140256"/>
                  <a:pt x="453390" y="164425"/>
                  <a:pt x="468273" y="179308"/>
                </a:cubicBezTo>
                <a:lnTo>
                  <a:pt x="555665" y="266700"/>
                </a:lnTo>
                <a:lnTo>
                  <a:pt x="38100" y="266700"/>
                </a:lnTo>
                <a:cubicBezTo>
                  <a:pt x="17026" y="266700"/>
                  <a:pt x="0" y="283726"/>
                  <a:pt x="0" y="304800"/>
                </a:cubicBezTo>
                <a:cubicBezTo>
                  <a:pt x="0" y="325874"/>
                  <a:pt x="17026" y="342900"/>
                  <a:pt x="38100" y="342900"/>
                </a:cubicBezTo>
                <a:lnTo>
                  <a:pt x="555665" y="342900"/>
                </a:lnTo>
                <a:lnTo>
                  <a:pt x="468273" y="430292"/>
                </a:lnTo>
                <a:cubicBezTo>
                  <a:pt x="453390" y="445175"/>
                  <a:pt x="453390" y="469344"/>
                  <a:pt x="468273" y="484227"/>
                </a:cubicBezTo>
                <a:cubicBezTo>
                  <a:pt x="483156" y="499110"/>
                  <a:pt x="507325" y="499110"/>
                  <a:pt x="522208" y="484227"/>
                </a:cubicBezTo>
                <a:lnTo>
                  <a:pt x="674608" y="331827"/>
                </a:lnTo>
                <a:close/>
              </a:path>
            </a:pathLst>
          </a:custGeom>
          <a:solidFill>
            <a:srgbClr val="A95E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347" name="Shape 347"/>
        <p:cNvGrpSpPr/>
        <p:nvPr/>
      </p:nvGrpSpPr>
      <p:grpSpPr>
        <a:xfrm>
          <a:off x="0" y="0"/>
          <a:ext cx="0" cy="0"/>
          <a:chOff x="0" y="0"/>
          <a:chExt cx="0" cy="0"/>
        </a:xfrm>
      </p:grpSpPr>
      <p:sp>
        <p:nvSpPr>
          <p:cNvPr id="348" name="Google Shape;348;g3b017e6a17f_1_81"/>
          <p:cNvSpPr/>
          <p:nvPr/>
        </p:nvSpPr>
        <p:spPr>
          <a:xfrm rot="5939221">
            <a:off x="367677" y="335985"/>
            <a:ext cx="558861" cy="595013"/>
          </a:xfrm>
          <a:prstGeom prst="donut">
            <a:avLst>
              <a:gd fmla="val 25000" name="adj"/>
            </a:avLst>
          </a:prstGeom>
          <a:gradFill>
            <a:gsLst>
              <a:gs pos="0">
                <a:srgbClr val="402E7F"/>
              </a:gs>
              <a:gs pos="54000">
                <a:srgbClr val="BC7DB7">
                  <a:alpha val="2745"/>
                </a:srgbClr>
              </a:gs>
              <a:gs pos="100000">
                <a:srgbClr val="BC7DB7">
                  <a:alpha val="2745"/>
                </a:srgbClr>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g3b017e6a17f_1_81"/>
          <p:cNvSpPr/>
          <p:nvPr/>
        </p:nvSpPr>
        <p:spPr>
          <a:xfrm rot="5939221">
            <a:off x="367677" y="335985"/>
            <a:ext cx="558861" cy="595013"/>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pic>
        <p:nvPicPr>
          <p:cNvPr descr="https://kimi-img.moonshot.cn/pub/slides/slides_tmpl/image/25-09-08-15:08:29-d2v81rdnfo2stf9dkdb0.jpg" id="350" name="Google Shape;350;g3b017e6a17f_1_81"/>
          <p:cNvPicPr preferRelativeResize="0"/>
          <p:nvPr/>
        </p:nvPicPr>
        <p:blipFill rotWithShape="1">
          <a:blip r:embed="rId3">
            <a:alphaModFix/>
          </a:blip>
          <a:srcRect b="0" l="0" r="0" t="0"/>
          <a:stretch/>
        </p:blipFill>
        <p:spPr>
          <a:xfrm>
            <a:off x="-158750" y="-6350"/>
            <a:ext cx="12350749" cy="6960235"/>
          </a:xfrm>
          <a:prstGeom prst="rect">
            <a:avLst/>
          </a:prstGeom>
          <a:noFill/>
          <a:ln>
            <a:noFill/>
          </a:ln>
        </p:spPr>
      </p:pic>
      <p:sp>
        <p:nvSpPr>
          <p:cNvPr id="351" name="Google Shape;351;g3b017e6a17f_1_81"/>
          <p:cNvSpPr/>
          <p:nvPr/>
        </p:nvSpPr>
        <p:spPr>
          <a:xfrm>
            <a:off x="158750" y="254000"/>
            <a:ext cx="11874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3000" u="none" cap="none" strike="noStrike">
                <a:solidFill>
                  <a:srgbClr val="8F5C9A"/>
                </a:solidFill>
                <a:latin typeface="Noto Sans SC"/>
                <a:ea typeface="Noto Sans SC"/>
                <a:cs typeface="Noto Sans SC"/>
                <a:sym typeface="Noto Sans SC"/>
              </a:rPr>
              <a:t>Finding the Optimal Feature Set</a:t>
            </a:r>
            <a:endParaRPr b="0" i="0" sz="1600" u="none" cap="none" strike="noStrike"/>
          </a:p>
        </p:txBody>
      </p:sp>
      <p:sp>
        <p:nvSpPr>
          <p:cNvPr id="352" name="Google Shape;352;g3b017e6a17f_1_81"/>
          <p:cNvSpPr/>
          <p:nvPr/>
        </p:nvSpPr>
        <p:spPr>
          <a:xfrm>
            <a:off x="123875" y="1849088"/>
            <a:ext cx="117855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600" u="none" cap="none" strike="noStrike">
                <a:solidFill>
                  <a:srgbClr val="3C3542"/>
                </a:solidFill>
                <a:latin typeface="Arial"/>
                <a:ea typeface="Arial"/>
                <a:cs typeface="Arial"/>
                <a:sym typeface="Arial"/>
              </a:rPr>
              <a:t>ANOVA F-score ranking reveals a point of diminishing returns. </a:t>
            </a:r>
            <a:endParaRPr b="0" i="0" sz="1600" u="none" cap="none" strike="noStrike"/>
          </a:p>
        </p:txBody>
      </p:sp>
      <p:sp>
        <p:nvSpPr>
          <p:cNvPr id="353" name="Google Shape;353;g3b017e6a17f_1_81"/>
          <p:cNvSpPr/>
          <p:nvPr/>
        </p:nvSpPr>
        <p:spPr>
          <a:xfrm>
            <a:off x="2514350" y="1023174"/>
            <a:ext cx="7004558" cy="462280"/>
          </a:xfrm>
          <a:custGeom>
            <a:rect b="b" l="l" r="r" t="t"/>
            <a:pathLst>
              <a:path extrusionOk="0" h="5283200" w="5537200">
                <a:moveTo>
                  <a:pt x="101596" y="0"/>
                </a:moveTo>
                <a:lnTo>
                  <a:pt x="5435604" y="0"/>
                </a:lnTo>
                <a:cubicBezTo>
                  <a:pt x="5491714" y="0"/>
                  <a:pt x="5537200" y="45486"/>
                  <a:pt x="5537200" y="101596"/>
                </a:cubicBezTo>
                <a:lnTo>
                  <a:pt x="5537200" y="5181604"/>
                </a:lnTo>
                <a:cubicBezTo>
                  <a:pt x="5537200" y="5237714"/>
                  <a:pt x="5491714" y="5283200"/>
                  <a:pt x="5435604" y="5283200"/>
                </a:cubicBezTo>
                <a:lnTo>
                  <a:pt x="101596" y="5283200"/>
                </a:lnTo>
                <a:cubicBezTo>
                  <a:pt x="45486" y="5283200"/>
                  <a:pt x="0" y="5237714"/>
                  <a:pt x="0" y="5181604"/>
                </a:cubicBezTo>
                <a:lnTo>
                  <a:pt x="0" y="101596"/>
                </a:lnTo>
                <a:cubicBezTo>
                  <a:pt x="0" y="45486"/>
                  <a:pt x="45486" y="0"/>
                  <a:pt x="101596" y="0"/>
                </a:cubicBezTo>
                <a:close/>
              </a:path>
            </a:pathLst>
          </a:custGeom>
          <a:solidFill>
            <a:srgbClr val="8F5C9A">
              <a:alpha val="1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4" name="Google Shape;354;g3b017e6a17f_1_81" title="grafica.png"/>
          <p:cNvPicPr preferRelativeResize="0"/>
          <p:nvPr/>
        </p:nvPicPr>
        <p:blipFill>
          <a:blip r:embed="rId4">
            <a:alphaModFix/>
          </a:blip>
          <a:stretch>
            <a:fillRect/>
          </a:stretch>
        </p:blipFill>
        <p:spPr>
          <a:xfrm>
            <a:off x="0" y="2518401"/>
            <a:ext cx="7162324" cy="3878975"/>
          </a:xfrm>
          <a:prstGeom prst="rect">
            <a:avLst/>
          </a:prstGeom>
          <a:noFill/>
          <a:ln>
            <a:noFill/>
          </a:ln>
        </p:spPr>
      </p:pic>
      <p:pic>
        <p:nvPicPr>
          <p:cNvPr id="355" name="Google Shape;355;g3b017e6a17f_1_81" title="Gemini_Generated_Image_pdefjvpdefjvpdef.png"/>
          <p:cNvPicPr preferRelativeResize="0"/>
          <p:nvPr/>
        </p:nvPicPr>
        <p:blipFill>
          <a:blip r:embed="rId5">
            <a:alphaModFix/>
          </a:blip>
          <a:stretch>
            <a:fillRect/>
          </a:stretch>
        </p:blipFill>
        <p:spPr>
          <a:xfrm>
            <a:off x="7427276" y="3266175"/>
            <a:ext cx="4369951" cy="2383424"/>
          </a:xfrm>
          <a:prstGeom prst="rect">
            <a:avLst/>
          </a:prstGeom>
          <a:noFill/>
          <a:ln>
            <a:noFill/>
          </a:ln>
        </p:spPr>
      </p:pic>
      <p:sp>
        <p:nvSpPr>
          <p:cNvPr id="356" name="Google Shape;356;g3b017e6a17f_1_81"/>
          <p:cNvSpPr txBox="1"/>
          <p:nvPr/>
        </p:nvSpPr>
        <p:spPr>
          <a:xfrm>
            <a:off x="2517275" y="1053488"/>
            <a:ext cx="6998700" cy="431100"/>
          </a:xfrm>
          <a:prstGeom prst="rect">
            <a:avLst/>
          </a:prstGeom>
          <a:noFill/>
          <a:ln>
            <a:noFill/>
          </a:ln>
        </p:spPr>
        <p:txBody>
          <a:bodyPr anchorCtr="0" anchor="t" bIns="91425" lIns="91425" spcFirstLastPara="1" rIns="91425" wrap="square" tIns="91425">
            <a:spAutoFit/>
          </a:bodyPr>
          <a:lstStyle/>
          <a:p>
            <a:pPr indent="0" lvl="0" marL="152400" marR="152400" rtl="0" algn="just">
              <a:lnSpc>
                <a:spcPct val="115000"/>
              </a:lnSpc>
              <a:spcBef>
                <a:spcPts val="0"/>
              </a:spcBef>
              <a:spcAft>
                <a:spcPts val="0"/>
              </a:spcAft>
              <a:buNone/>
            </a:pPr>
            <a:r>
              <a:rPr b="1" lang="en-US" sz="1600">
                <a:solidFill>
                  <a:srgbClr val="8F5B9A"/>
                </a:solidFill>
              </a:rPr>
              <a:t>Sensitivity Analisis</a:t>
            </a:r>
            <a:r>
              <a:rPr lang="en-US" sz="1600">
                <a:solidFill>
                  <a:schemeClr val="dk1"/>
                </a:solidFill>
              </a:rPr>
              <a:t> with different k-values: 20, 50, 300, 700 and all.</a:t>
            </a:r>
            <a:endParaRPr sz="1600">
              <a:solidFill>
                <a:srgbClr val="E8E8E8"/>
              </a:solidFill>
              <a:highlight>
                <a:srgbClr val="303134"/>
              </a:highlight>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361" name="Shape 361"/>
        <p:cNvGrpSpPr/>
        <p:nvPr/>
      </p:nvGrpSpPr>
      <p:grpSpPr>
        <a:xfrm>
          <a:off x="0" y="0"/>
          <a:ext cx="0" cy="0"/>
          <a:chOff x="0" y="0"/>
          <a:chExt cx="0" cy="0"/>
        </a:xfrm>
      </p:grpSpPr>
      <p:sp>
        <p:nvSpPr>
          <p:cNvPr id="362" name="Google Shape;362;g3b017e6a17f_1_61"/>
          <p:cNvSpPr/>
          <p:nvPr/>
        </p:nvSpPr>
        <p:spPr>
          <a:xfrm rot="5939221">
            <a:off x="367677" y="335985"/>
            <a:ext cx="558861" cy="595013"/>
          </a:xfrm>
          <a:prstGeom prst="donut">
            <a:avLst>
              <a:gd fmla="val 25000" name="adj"/>
            </a:avLst>
          </a:prstGeom>
          <a:gradFill>
            <a:gsLst>
              <a:gs pos="0">
                <a:srgbClr val="402E7F"/>
              </a:gs>
              <a:gs pos="54000">
                <a:srgbClr val="BC7DB7">
                  <a:alpha val="2745"/>
                </a:srgbClr>
              </a:gs>
              <a:gs pos="100000">
                <a:srgbClr val="BC7DB7">
                  <a:alpha val="2745"/>
                </a:srgbClr>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g3b017e6a17f_1_61"/>
          <p:cNvSpPr/>
          <p:nvPr/>
        </p:nvSpPr>
        <p:spPr>
          <a:xfrm rot="5939221">
            <a:off x="367677" y="335985"/>
            <a:ext cx="558861" cy="595013"/>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pic>
        <p:nvPicPr>
          <p:cNvPr descr="https://kimi-img.moonshot.cn/pub/slides/slides_tmpl/image/25-09-08-15:08:29-d2v81rdnfo2stf9dkdb0.jpg" id="364" name="Google Shape;364;g3b017e6a17f_1_61"/>
          <p:cNvPicPr preferRelativeResize="0"/>
          <p:nvPr/>
        </p:nvPicPr>
        <p:blipFill rotWithShape="1">
          <a:blip r:embed="rId3">
            <a:alphaModFix/>
          </a:blip>
          <a:srcRect b="0" l="0" r="0" t="0"/>
          <a:stretch/>
        </p:blipFill>
        <p:spPr>
          <a:xfrm>
            <a:off x="-158750" y="-6350"/>
            <a:ext cx="12350749" cy="6960235"/>
          </a:xfrm>
          <a:prstGeom prst="rect">
            <a:avLst/>
          </a:prstGeom>
          <a:noFill/>
          <a:ln>
            <a:noFill/>
          </a:ln>
        </p:spPr>
      </p:pic>
      <p:sp>
        <p:nvSpPr>
          <p:cNvPr id="365" name="Google Shape;365;g3b017e6a17f_1_61"/>
          <p:cNvSpPr/>
          <p:nvPr/>
        </p:nvSpPr>
        <p:spPr>
          <a:xfrm>
            <a:off x="158750" y="254000"/>
            <a:ext cx="11874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3000" u="none" cap="none" strike="noStrike">
                <a:solidFill>
                  <a:srgbClr val="8F5C9A"/>
                </a:solidFill>
                <a:latin typeface="Noto Sans SC"/>
                <a:ea typeface="Noto Sans SC"/>
                <a:cs typeface="Noto Sans SC"/>
                <a:sym typeface="Noto Sans SC"/>
              </a:rPr>
              <a:t>Finding the Optimal Feature Set</a:t>
            </a:r>
            <a:endParaRPr b="0" i="0" sz="1600" u="none" cap="none" strike="noStrike"/>
          </a:p>
        </p:txBody>
      </p:sp>
      <p:sp>
        <p:nvSpPr>
          <p:cNvPr id="366" name="Google Shape;366;g3b017e6a17f_1_61"/>
          <p:cNvSpPr/>
          <p:nvPr/>
        </p:nvSpPr>
        <p:spPr>
          <a:xfrm>
            <a:off x="203200" y="812800"/>
            <a:ext cx="117855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600" u="none" cap="none" strike="noStrike">
                <a:solidFill>
                  <a:srgbClr val="3C3542"/>
                </a:solidFill>
                <a:latin typeface="Arial"/>
                <a:ea typeface="Arial"/>
                <a:cs typeface="Arial"/>
                <a:sym typeface="Arial"/>
              </a:rPr>
              <a:t>We strategically selected the parsimonious 300-bit subset.</a:t>
            </a:r>
            <a:endParaRPr b="0" i="0" sz="1600" u="none" cap="none" strike="noStrike"/>
          </a:p>
        </p:txBody>
      </p:sp>
      <p:sp>
        <p:nvSpPr>
          <p:cNvPr id="367" name="Google Shape;367;g3b017e6a17f_1_61"/>
          <p:cNvSpPr/>
          <p:nvPr/>
        </p:nvSpPr>
        <p:spPr>
          <a:xfrm>
            <a:off x="3248025" y="1382325"/>
            <a:ext cx="5537200" cy="3843528"/>
          </a:xfrm>
          <a:custGeom>
            <a:rect b="b" l="l" r="r" t="t"/>
            <a:pathLst>
              <a:path extrusionOk="0" h="5283200" w="5537200">
                <a:moveTo>
                  <a:pt x="101596" y="0"/>
                </a:moveTo>
                <a:lnTo>
                  <a:pt x="5435604" y="0"/>
                </a:lnTo>
                <a:cubicBezTo>
                  <a:pt x="5491714" y="0"/>
                  <a:pt x="5537200" y="45486"/>
                  <a:pt x="5537200" y="101596"/>
                </a:cubicBezTo>
                <a:lnTo>
                  <a:pt x="5537200" y="5181604"/>
                </a:lnTo>
                <a:cubicBezTo>
                  <a:pt x="5537200" y="5237714"/>
                  <a:pt x="5491714" y="5283200"/>
                  <a:pt x="5435604" y="5283200"/>
                </a:cubicBezTo>
                <a:lnTo>
                  <a:pt x="101596" y="5283200"/>
                </a:lnTo>
                <a:cubicBezTo>
                  <a:pt x="45486" y="5283200"/>
                  <a:pt x="0" y="5237714"/>
                  <a:pt x="0" y="5181604"/>
                </a:cubicBezTo>
                <a:lnTo>
                  <a:pt x="0" y="101596"/>
                </a:lnTo>
                <a:cubicBezTo>
                  <a:pt x="0" y="45486"/>
                  <a:pt x="45486" y="0"/>
                  <a:pt x="101596" y="0"/>
                </a:cubicBezTo>
                <a:close/>
              </a:path>
            </a:pathLst>
          </a:custGeom>
          <a:solidFill>
            <a:srgbClr val="8F5C9A">
              <a:alpha val="1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g3b017e6a17f_1_61"/>
          <p:cNvSpPr/>
          <p:nvPr/>
        </p:nvSpPr>
        <p:spPr>
          <a:xfrm>
            <a:off x="3556100" y="1427525"/>
            <a:ext cx="5079900" cy="4065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2400" u="none" cap="none" strike="noStrike">
                <a:solidFill>
                  <a:srgbClr val="8F5C9A"/>
                </a:solidFill>
                <a:latin typeface="Noto Sans SC"/>
                <a:ea typeface="Noto Sans SC"/>
                <a:cs typeface="Noto Sans SC"/>
                <a:sym typeface="Noto Sans SC"/>
              </a:rPr>
              <a:t>Strategic Decision</a:t>
            </a:r>
            <a:endParaRPr b="0" i="0" sz="1600" u="none" cap="none" strike="noStrike"/>
          </a:p>
        </p:txBody>
      </p:sp>
      <p:sp>
        <p:nvSpPr>
          <p:cNvPr id="369" name="Google Shape;369;g3b017e6a17f_1_61"/>
          <p:cNvSpPr/>
          <p:nvPr/>
        </p:nvSpPr>
        <p:spPr>
          <a:xfrm>
            <a:off x="3581450" y="1960925"/>
            <a:ext cx="5029200" cy="7113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600" u="none" cap="none" strike="noStrike">
                <a:solidFill>
                  <a:srgbClr val="3C3542"/>
                </a:solidFill>
                <a:latin typeface="Arial"/>
                <a:ea typeface="Arial"/>
                <a:cs typeface="Arial"/>
                <a:sym typeface="Arial"/>
              </a:rPr>
              <a:t>We selected </a:t>
            </a:r>
            <a:r>
              <a:rPr b="1" i="0" lang="en-US" sz="2400" u="none" cap="none" strike="noStrike">
                <a:solidFill>
                  <a:srgbClr val="A95EAF"/>
                </a:solidFill>
                <a:latin typeface="Noto Sans SC"/>
                <a:ea typeface="Noto Sans SC"/>
                <a:cs typeface="Noto Sans SC"/>
                <a:sym typeface="Noto Sans SC"/>
              </a:rPr>
              <a:t>k = 300</a:t>
            </a:r>
            <a:r>
              <a:rPr b="0" i="0" lang="en-US" sz="1600" u="none" cap="none" strike="noStrike">
                <a:solidFill>
                  <a:srgbClr val="3C3542"/>
                </a:solidFill>
                <a:latin typeface="Arial"/>
                <a:ea typeface="Arial"/>
                <a:cs typeface="Arial"/>
                <a:sym typeface="Arial"/>
              </a:rPr>
              <a:t> because it marks the start of the performance plateau.</a:t>
            </a:r>
            <a:endParaRPr b="0" i="0" sz="1600" u="none" cap="none" strike="noStrike"/>
          </a:p>
        </p:txBody>
      </p:sp>
      <p:sp>
        <p:nvSpPr>
          <p:cNvPr id="370" name="Google Shape;370;g3b017e6a17f_1_61"/>
          <p:cNvSpPr/>
          <p:nvPr/>
        </p:nvSpPr>
        <p:spPr>
          <a:xfrm>
            <a:off x="3556100" y="2913380"/>
            <a:ext cx="203200" cy="203200"/>
          </a:xfrm>
          <a:custGeom>
            <a:rect b="b" l="l" r="r" t="t"/>
            <a:pathLst>
              <a:path extrusionOk="0" h="203200" w="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8F5C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g3b017e6a17f_1_61"/>
          <p:cNvSpPr/>
          <p:nvPr/>
        </p:nvSpPr>
        <p:spPr>
          <a:xfrm>
            <a:off x="3886105" y="2850000"/>
            <a:ext cx="4749900" cy="609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600" u="none" cap="none" strike="noStrike">
                <a:solidFill>
                  <a:srgbClr val="3C3542"/>
                </a:solidFill>
                <a:latin typeface="Arial"/>
                <a:ea typeface="Arial"/>
                <a:cs typeface="Arial"/>
                <a:sym typeface="Arial"/>
              </a:rPr>
              <a:t>Same Accuracy:</a:t>
            </a:r>
            <a:r>
              <a:rPr b="0" i="0" lang="en-US" sz="1600" u="none" cap="none" strike="noStrike">
                <a:solidFill>
                  <a:srgbClr val="3C3542"/>
                </a:solidFill>
                <a:latin typeface="Arial"/>
                <a:ea typeface="Arial"/>
                <a:cs typeface="Arial"/>
                <a:sym typeface="Arial"/>
              </a:rPr>
              <a:t> Performance is nearly identical to using 700+ features.</a:t>
            </a:r>
            <a:endParaRPr b="0" i="0" sz="1600" u="none" cap="none" strike="noStrike"/>
          </a:p>
        </p:txBody>
      </p:sp>
      <p:sp>
        <p:nvSpPr>
          <p:cNvPr id="372" name="Google Shape;372;g3b017e6a17f_1_61"/>
          <p:cNvSpPr/>
          <p:nvPr/>
        </p:nvSpPr>
        <p:spPr>
          <a:xfrm>
            <a:off x="3556100" y="3688559"/>
            <a:ext cx="203200" cy="203200"/>
          </a:xfrm>
          <a:custGeom>
            <a:rect b="b" l="l" r="r" t="t"/>
            <a:pathLst>
              <a:path extrusionOk="0" h="203200" w="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8F5C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g3b017e6a17f_1_61"/>
          <p:cNvSpPr/>
          <p:nvPr/>
        </p:nvSpPr>
        <p:spPr>
          <a:xfrm>
            <a:off x="3886108" y="3637375"/>
            <a:ext cx="4724400" cy="609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600" u="none" cap="none" strike="noStrike">
                <a:solidFill>
                  <a:srgbClr val="3C3542"/>
                </a:solidFill>
                <a:latin typeface="Arial"/>
                <a:ea typeface="Arial"/>
                <a:cs typeface="Arial"/>
                <a:sym typeface="Arial"/>
              </a:rPr>
              <a:t>Faster Training:</a:t>
            </a:r>
            <a:r>
              <a:rPr b="0" i="0" lang="en-US" sz="1600" u="none" cap="none" strike="noStrike">
                <a:solidFill>
                  <a:srgbClr val="3C3542"/>
                </a:solidFill>
                <a:latin typeface="Arial"/>
                <a:ea typeface="Arial"/>
                <a:cs typeface="Arial"/>
                <a:sym typeface="Arial"/>
              </a:rPr>
              <a:t> Reduces computational load and complexity.</a:t>
            </a:r>
            <a:endParaRPr b="0" i="0" sz="1600" u="none" cap="none" strike="noStrike"/>
          </a:p>
        </p:txBody>
      </p:sp>
      <p:sp>
        <p:nvSpPr>
          <p:cNvPr id="374" name="Google Shape;374;g3b017e6a17f_1_61"/>
          <p:cNvSpPr/>
          <p:nvPr/>
        </p:nvSpPr>
        <p:spPr>
          <a:xfrm>
            <a:off x="3556100" y="4425354"/>
            <a:ext cx="203200" cy="203200"/>
          </a:xfrm>
          <a:custGeom>
            <a:rect b="b" l="l" r="r" t="t"/>
            <a:pathLst>
              <a:path extrusionOk="0" h="203200" w="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8F5C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g3b017e6a17f_1_61"/>
          <p:cNvSpPr/>
          <p:nvPr/>
        </p:nvSpPr>
        <p:spPr>
          <a:xfrm>
            <a:off x="3879812" y="4374175"/>
            <a:ext cx="4762500" cy="609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600" u="none" cap="none" strike="noStrike">
                <a:solidFill>
                  <a:srgbClr val="3C3542"/>
                </a:solidFill>
                <a:latin typeface="Arial"/>
                <a:ea typeface="Arial"/>
                <a:cs typeface="Arial"/>
                <a:sym typeface="Arial"/>
              </a:rPr>
              <a:t>Simpler Model:</a:t>
            </a:r>
            <a:r>
              <a:rPr b="0" i="0" lang="en-US" sz="1600" u="none" cap="none" strike="noStrike">
                <a:solidFill>
                  <a:srgbClr val="3C3542"/>
                </a:solidFill>
                <a:latin typeface="Arial"/>
                <a:ea typeface="Arial"/>
                <a:cs typeface="Arial"/>
                <a:sym typeface="Arial"/>
              </a:rPr>
              <a:t> Adheres to the principle of parsimony, improving interpretability.</a:t>
            </a:r>
            <a:endParaRPr b="0" i="0" sz="1600" u="none" cap="none" strike="noStrike"/>
          </a:p>
        </p:txBody>
      </p:sp>
      <p:sp>
        <p:nvSpPr>
          <p:cNvPr id="376" name="Google Shape;376;g3b017e6a17f_1_61"/>
          <p:cNvSpPr/>
          <p:nvPr/>
        </p:nvSpPr>
        <p:spPr>
          <a:xfrm>
            <a:off x="936250" y="5692798"/>
            <a:ext cx="10160762" cy="713232"/>
          </a:xfrm>
          <a:custGeom>
            <a:rect b="b" l="l" r="r" t="t"/>
            <a:pathLst>
              <a:path extrusionOk="0" h="5283200" w="5537200">
                <a:moveTo>
                  <a:pt x="101596" y="0"/>
                </a:moveTo>
                <a:lnTo>
                  <a:pt x="5435604" y="0"/>
                </a:lnTo>
                <a:cubicBezTo>
                  <a:pt x="5491714" y="0"/>
                  <a:pt x="5537200" y="45486"/>
                  <a:pt x="5537200" y="101596"/>
                </a:cubicBezTo>
                <a:lnTo>
                  <a:pt x="5537200" y="5181604"/>
                </a:lnTo>
                <a:cubicBezTo>
                  <a:pt x="5537200" y="5237714"/>
                  <a:pt x="5491714" y="5283200"/>
                  <a:pt x="5435604" y="5283200"/>
                </a:cubicBezTo>
                <a:lnTo>
                  <a:pt x="101596" y="5283200"/>
                </a:lnTo>
                <a:cubicBezTo>
                  <a:pt x="45486" y="5283200"/>
                  <a:pt x="0" y="5237714"/>
                  <a:pt x="0" y="5181604"/>
                </a:cubicBezTo>
                <a:lnTo>
                  <a:pt x="0" y="101596"/>
                </a:lnTo>
                <a:cubicBezTo>
                  <a:pt x="0" y="45486"/>
                  <a:pt x="45486" y="0"/>
                  <a:pt x="101596" y="0"/>
                </a:cubicBezTo>
                <a:close/>
              </a:path>
            </a:pathLst>
          </a:custGeom>
          <a:solidFill>
            <a:srgbClr val="8F5C9A">
              <a:alpha val="1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g3b017e6a17f_1_61"/>
          <p:cNvSpPr txBox="1"/>
          <p:nvPr/>
        </p:nvSpPr>
        <p:spPr>
          <a:xfrm>
            <a:off x="1748375" y="5822575"/>
            <a:ext cx="8536500" cy="431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n-US" sz="1600"/>
              <a:t>W</a:t>
            </a:r>
            <a:r>
              <a:rPr lang="en-US" sz="1600"/>
              <a:t>e have isolated the 300 most predictive substructures for </a:t>
            </a:r>
            <a:r>
              <a:rPr b="1" lang="en-US" sz="1600"/>
              <a:t>acetylcholinesterase inhibition</a:t>
            </a:r>
            <a:endParaRPr sz="160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2" name="Shape 382"/>
        <p:cNvGrpSpPr/>
        <p:nvPr/>
      </p:nvGrpSpPr>
      <p:grpSpPr>
        <a:xfrm>
          <a:off x="0" y="0"/>
          <a:ext cx="0" cy="0"/>
          <a:chOff x="0" y="0"/>
          <a:chExt cx="0" cy="0"/>
        </a:xfrm>
      </p:grpSpPr>
      <p:sp>
        <p:nvSpPr>
          <p:cNvPr id="383" name="Google Shape;383;p9"/>
          <p:cNvSpPr/>
          <p:nvPr/>
        </p:nvSpPr>
        <p:spPr>
          <a:xfrm rot="5940000">
            <a:off x="367665" y="335915"/>
            <a:ext cx="558800" cy="594995"/>
          </a:xfrm>
          <a:prstGeom prst="donut">
            <a:avLst>
              <a:gd fmla="val 25000" name="adj"/>
            </a:avLst>
          </a:prstGeom>
          <a:gradFill>
            <a:gsLst>
              <a:gs pos="0">
                <a:srgbClr val="402E7F"/>
              </a:gs>
              <a:gs pos="54000">
                <a:srgbClr val="BC7DB7">
                  <a:alpha val="2745"/>
                </a:srgbClr>
              </a:gs>
              <a:gs pos="100000">
                <a:srgbClr val="BC7DB7">
                  <a:alpha val="2745"/>
                </a:srgbClr>
              </a:gs>
            </a:gsLst>
            <a:lin ang="189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9"/>
          <p:cNvSpPr/>
          <p:nvPr/>
        </p:nvSpPr>
        <p:spPr>
          <a:xfrm rot="5940000">
            <a:off x="367665" y="335915"/>
            <a:ext cx="558800" cy="594995"/>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385" name="Google Shape;385;p9"/>
          <p:cNvSpPr/>
          <p:nvPr/>
        </p:nvSpPr>
        <p:spPr>
          <a:xfrm>
            <a:off x="4445" y="0"/>
            <a:ext cx="12187555" cy="6875780"/>
          </a:xfrm>
          <a:prstGeom prst="rect">
            <a:avLst/>
          </a:prstGeom>
          <a:gradFill>
            <a:gsLst>
              <a:gs pos="0">
                <a:srgbClr val="D7B1D4"/>
              </a:gs>
              <a:gs pos="34000">
                <a:srgbClr val="BC7DB7"/>
              </a:gs>
              <a:gs pos="100000">
                <a:srgbClr val="30225F"/>
              </a:gs>
            </a:gsLst>
            <a:lin ang="135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9"/>
          <p:cNvSpPr/>
          <p:nvPr/>
        </p:nvSpPr>
        <p:spPr>
          <a:xfrm>
            <a:off x="4445" y="0"/>
            <a:ext cx="12187555" cy="68757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387" name="Google Shape;387;p9"/>
          <p:cNvSpPr/>
          <p:nvPr/>
        </p:nvSpPr>
        <p:spPr>
          <a:xfrm>
            <a:off x="85280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9"/>
          <p:cNvSpPr/>
          <p:nvPr/>
        </p:nvSpPr>
        <p:spPr>
          <a:xfrm>
            <a:off x="85280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389" name="Google Shape;389;p9"/>
          <p:cNvSpPr/>
          <p:nvPr/>
        </p:nvSpPr>
        <p:spPr>
          <a:xfrm>
            <a:off x="113665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9"/>
          <p:cNvSpPr/>
          <p:nvPr/>
        </p:nvSpPr>
        <p:spPr>
          <a:xfrm>
            <a:off x="113665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391" name="Google Shape;391;p9"/>
          <p:cNvSpPr/>
          <p:nvPr/>
        </p:nvSpPr>
        <p:spPr>
          <a:xfrm>
            <a:off x="142049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9"/>
          <p:cNvSpPr/>
          <p:nvPr/>
        </p:nvSpPr>
        <p:spPr>
          <a:xfrm>
            <a:off x="142049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393" name="Google Shape;393;p9"/>
          <p:cNvSpPr/>
          <p:nvPr/>
        </p:nvSpPr>
        <p:spPr>
          <a:xfrm>
            <a:off x="170434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9"/>
          <p:cNvSpPr/>
          <p:nvPr/>
        </p:nvSpPr>
        <p:spPr>
          <a:xfrm>
            <a:off x="170434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395" name="Google Shape;395;p9"/>
          <p:cNvSpPr/>
          <p:nvPr/>
        </p:nvSpPr>
        <p:spPr>
          <a:xfrm>
            <a:off x="198818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9"/>
          <p:cNvSpPr/>
          <p:nvPr/>
        </p:nvSpPr>
        <p:spPr>
          <a:xfrm>
            <a:off x="198818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397" name="Google Shape;397;p9"/>
          <p:cNvSpPr/>
          <p:nvPr/>
        </p:nvSpPr>
        <p:spPr>
          <a:xfrm>
            <a:off x="227203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9"/>
          <p:cNvSpPr/>
          <p:nvPr/>
        </p:nvSpPr>
        <p:spPr>
          <a:xfrm>
            <a:off x="227203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399" name="Google Shape;399;p9"/>
          <p:cNvSpPr/>
          <p:nvPr/>
        </p:nvSpPr>
        <p:spPr>
          <a:xfrm>
            <a:off x="11456035" y="381635"/>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9"/>
          <p:cNvSpPr/>
          <p:nvPr/>
        </p:nvSpPr>
        <p:spPr>
          <a:xfrm>
            <a:off x="11456035" y="381635"/>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401" name="Google Shape;401;p9"/>
          <p:cNvSpPr/>
          <p:nvPr/>
        </p:nvSpPr>
        <p:spPr>
          <a:xfrm>
            <a:off x="11456035" y="501650"/>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9"/>
          <p:cNvSpPr/>
          <p:nvPr/>
        </p:nvSpPr>
        <p:spPr>
          <a:xfrm>
            <a:off x="11456035" y="501650"/>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403" name="Google Shape;403;p9"/>
          <p:cNvSpPr/>
          <p:nvPr/>
        </p:nvSpPr>
        <p:spPr>
          <a:xfrm>
            <a:off x="11456035" y="621665"/>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9"/>
          <p:cNvSpPr/>
          <p:nvPr/>
        </p:nvSpPr>
        <p:spPr>
          <a:xfrm>
            <a:off x="11456035" y="621665"/>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cxnSp>
        <p:nvCxnSpPr>
          <p:cNvPr id="405" name="Google Shape;405;p9"/>
          <p:cNvCxnSpPr/>
          <p:nvPr/>
        </p:nvCxnSpPr>
        <p:spPr>
          <a:xfrm>
            <a:off x="1727190" y="6306820"/>
            <a:ext cx="10080000" cy="0"/>
          </a:xfrm>
          <a:prstGeom prst="straightConnector1">
            <a:avLst/>
          </a:prstGeom>
          <a:noFill/>
          <a:ln cap="flat" cmpd="sng" w="19050">
            <a:solidFill>
              <a:srgbClr val="FFFFFF"/>
            </a:solidFill>
            <a:prstDash val="solid"/>
            <a:round/>
            <a:headEnd len="sm" w="sm" type="none"/>
            <a:tailEnd len="sm" w="sm" type="none"/>
          </a:ln>
        </p:spPr>
      </p:cxnSp>
      <p:sp>
        <p:nvSpPr>
          <p:cNvPr id="406" name="Google Shape;406;p9"/>
          <p:cNvSpPr/>
          <p:nvPr/>
        </p:nvSpPr>
        <p:spPr>
          <a:xfrm>
            <a:off x="852805" y="6177280"/>
            <a:ext cx="259080" cy="2590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9"/>
          <p:cNvSpPr/>
          <p:nvPr/>
        </p:nvSpPr>
        <p:spPr>
          <a:xfrm>
            <a:off x="852805" y="6177280"/>
            <a:ext cx="259080" cy="2590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408" name="Google Shape;408;p9"/>
          <p:cNvSpPr/>
          <p:nvPr/>
        </p:nvSpPr>
        <p:spPr>
          <a:xfrm>
            <a:off x="979805" y="6177280"/>
            <a:ext cx="259080" cy="2590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9"/>
          <p:cNvSpPr/>
          <p:nvPr/>
        </p:nvSpPr>
        <p:spPr>
          <a:xfrm>
            <a:off x="979805" y="6177280"/>
            <a:ext cx="259080" cy="2590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410" name="Google Shape;410;p9"/>
          <p:cNvSpPr/>
          <p:nvPr/>
        </p:nvSpPr>
        <p:spPr>
          <a:xfrm>
            <a:off x="541655" y="2687320"/>
            <a:ext cx="11172825" cy="2306955"/>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9"/>
          <p:cNvSpPr/>
          <p:nvPr/>
        </p:nvSpPr>
        <p:spPr>
          <a:xfrm>
            <a:off x="541655" y="2687320"/>
            <a:ext cx="11172825" cy="2306955"/>
          </a:xfrm>
          <a:prstGeom prst="rect">
            <a:avLst/>
          </a:prstGeom>
          <a:noFill/>
          <a:ln>
            <a:noFill/>
          </a:ln>
        </p:spPr>
        <p:txBody>
          <a:bodyPr anchorCtr="0" anchor="t" bIns="45700" lIns="45700" spcFirstLastPara="1" rIns="91425" wrap="square" tIns="91425">
            <a:noAutofit/>
          </a:bodyPr>
          <a:lstStyle/>
          <a:p>
            <a:pPr indent="0" lvl="0" marL="0" marR="0" rtl="0" algn="ctr">
              <a:lnSpc>
                <a:spcPct val="100000"/>
              </a:lnSpc>
              <a:spcBef>
                <a:spcPts val="0"/>
              </a:spcBef>
              <a:spcAft>
                <a:spcPts val="0"/>
              </a:spcAft>
              <a:buNone/>
            </a:pPr>
            <a:r>
              <a:rPr b="1" lang="en-US" sz="7200">
                <a:solidFill>
                  <a:srgbClr val="FFFFFF"/>
                </a:solidFill>
              </a:rPr>
              <a:t>Internal Validation</a:t>
            </a:r>
            <a:endParaRPr b="0" i="0" sz="1600" u="none" cap="none" strike="noStrike"/>
          </a:p>
        </p:txBody>
      </p:sp>
      <p:sp>
        <p:nvSpPr>
          <p:cNvPr id="412" name="Google Shape;412;p9"/>
          <p:cNvSpPr/>
          <p:nvPr/>
        </p:nvSpPr>
        <p:spPr>
          <a:xfrm>
            <a:off x="2515235" y="1350010"/>
            <a:ext cx="7161530" cy="1198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200" u="none" cap="none" strike="noStrike">
                <a:solidFill>
                  <a:srgbClr val="FFFFFF"/>
                </a:solidFill>
                <a:latin typeface="Arial"/>
                <a:ea typeface="Arial"/>
                <a:cs typeface="Arial"/>
                <a:sym typeface="Arial"/>
              </a:rPr>
              <a:t>0</a:t>
            </a:r>
            <a:r>
              <a:rPr lang="en-US" sz="7200">
                <a:solidFill>
                  <a:srgbClr val="FFFFFF"/>
                </a:solidFill>
              </a:rPr>
              <a:t>4</a:t>
            </a:r>
            <a:endParaRPr b="0" i="0" sz="1600" u="none" cap="none" strike="noStrike"/>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417" name="Shape 417"/>
        <p:cNvGrpSpPr/>
        <p:nvPr/>
      </p:nvGrpSpPr>
      <p:grpSpPr>
        <a:xfrm>
          <a:off x="0" y="0"/>
          <a:ext cx="0" cy="0"/>
          <a:chOff x="0" y="0"/>
          <a:chExt cx="0" cy="0"/>
        </a:xfrm>
      </p:grpSpPr>
      <p:sp>
        <p:nvSpPr>
          <p:cNvPr id="418" name="Google Shape;418;g3b07f1a5d36_0_0"/>
          <p:cNvSpPr/>
          <p:nvPr/>
        </p:nvSpPr>
        <p:spPr>
          <a:xfrm rot="5939221">
            <a:off x="367677" y="335985"/>
            <a:ext cx="558861" cy="595013"/>
          </a:xfrm>
          <a:prstGeom prst="donut">
            <a:avLst>
              <a:gd fmla="val 25000" name="adj"/>
            </a:avLst>
          </a:prstGeom>
          <a:gradFill>
            <a:gsLst>
              <a:gs pos="0">
                <a:srgbClr val="402E7F"/>
              </a:gs>
              <a:gs pos="54000">
                <a:srgbClr val="BC7DB7">
                  <a:alpha val="2745"/>
                </a:srgbClr>
              </a:gs>
              <a:gs pos="100000">
                <a:srgbClr val="BC7DB7">
                  <a:alpha val="2745"/>
                </a:srgbClr>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g3b07f1a5d36_0_0"/>
          <p:cNvSpPr/>
          <p:nvPr/>
        </p:nvSpPr>
        <p:spPr>
          <a:xfrm rot="5939221">
            <a:off x="367677" y="335985"/>
            <a:ext cx="558861" cy="595013"/>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pic>
        <p:nvPicPr>
          <p:cNvPr descr="https://kimi-img.moonshot.cn/pub/slides/slides_tmpl/image/25-09-08-15:08:29-d2v81rdnfo2stf9dkdb0.jpg" id="420" name="Google Shape;420;g3b07f1a5d36_0_0"/>
          <p:cNvPicPr preferRelativeResize="0"/>
          <p:nvPr/>
        </p:nvPicPr>
        <p:blipFill rotWithShape="1">
          <a:blip r:embed="rId3">
            <a:alphaModFix/>
          </a:blip>
          <a:srcRect b="0" l="0" r="0" t="0"/>
          <a:stretch/>
        </p:blipFill>
        <p:spPr>
          <a:xfrm>
            <a:off x="-158750" y="-6350"/>
            <a:ext cx="12350749" cy="6960235"/>
          </a:xfrm>
          <a:prstGeom prst="rect">
            <a:avLst/>
          </a:prstGeom>
          <a:noFill/>
          <a:ln>
            <a:noFill/>
          </a:ln>
        </p:spPr>
      </p:pic>
      <p:sp>
        <p:nvSpPr>
          <p:cNvPr id="421" name="Google Shape;421;g3b07f1a5d36_0_0"/>
          <p:cNvSpPr/>
          <p:nvPr/>
        </p:nvSpPr>
        <p:spPr>
          <a:xfrm>
            <a:off x="158750" y="1955800"/>
            <a:ext cx="11874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3000" u="none" cap="none" strike="noStrike">
                <a:solidFill>
                  <a:srgbClr val="8F5C9A"/>
                </a:solidFill>
                <a:latin typeface="Noto Sans SC"/>
                <a:ea typeface="Noto Sans SC"/>
                <a:cs typeface="Noto Sans SC"/>
                <a:sym typeface="Noto Sans SC"/>
              </a:rPr>
              <a:t>Four-Algorithm Benchmarking Pipeline</a:t>
            </a:r>
            <a:endParaRPr b="0" i="0" sz="1600" u="none" cap="none" strike="noStrike"/>
          </a:p>
        </p:txBody>
      </p:sp>
      <p:sp>
        <p:nvSpPr>
          <p:cNvPr id="422" name="Google Shape;422;g3b07f1a5d36_0_0"/>
          <p:cNvSpPr/>
          <p:nvPr/>
        </p:nvSpPr>
        <p:spPr>
          <a:xfrm>
            <a:off x="446361" y="2588900"/>
            <a:ext cx="1790319" cy="1680210"/>
          </a:xfrm>
          <a:custGeom>
            <a:rect b="b" l="l" r="r" t="t"/>
            <a:pathLst>
              <a:path extrusionOk="0" h="1524000" w="1612900">
                <a:moveTo>
                  <a:pt x="101605" y="0"/>
                </a:moveTo>
                <a:lnTo>
                  <a:pt x="1511295" y="0"/>
                </a:lnTo>
                <a:cubicBezTo>
                  <a:pt x="1567410" y="0"/>
                  <a:pt x="1612900" y="45490"/>
                  <a:pt x="1612900" y="101605"/>
                </a:cubicBezTo>
                <a:lnTo>
                  <a:pt x="1612900" y="1422395"/>
                </a:lnTo>
                <a:cubicBezTo>
                  <a:pt x="1612900" y="1478510"/>
                  <a:pt x="1567410" y="1524000"/>
                  <a:pt x="1511295" y="1524000"/>
                </a:cubicBezTo>
                <a:lnTo>
                  <a:pt x="101605" y="1524000"/>
                </a:lnTo>
                <a:cubicBezTo>
                  <a:pt x="45490" y="1524000"/>
                  <a:pt x="0" y="1478510"/>
                  <a:pt x="0" y="1422395"/>
                </a:cubicBezTo>
                <a:lnTo>
                  <a:pt x="0" y="101605"/>
                </a:lnTo>
                <a:cubicBezTo>
                  <a:pt x="0" y="45528"/>
                  <a:pt x="45528" y="0"/>
                  <a:pt x="101605" y="0"/>
                </a:cubicBezTo>
                <a:close/>
              </a:path>
            </a:pathLst>
          </a:custGeom>
          <a:solidFill>
            <a:srgbClr val="D3B9D7">
              <a:alpha val="2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g3b07f1a5d36_0_0"/>
          <p:cNvSpPr/>
          <p:nvPr/>
        </p:nvSpPr>
        <p:spPr>
          <a:xfrm>
            <a:off x="1141115" y="2921000"/>
            <a:ext cx="400050" cy="457200"/>
          </a:xfrm>
          <a:custGeom>
            <a:rect b="b" l="l" r="r" t="t"/>
            <a:pathLst>
              <a:path extrusionOk="0" h="457200" w="400050">
                <a:moveTo>
                  <a:pt x="400050" y="183773"/>
                </a:moveTo>
                <a:cubicBezTo>
                  <a:pt x="386834" y="192524"/>
                  <a:pt x="371654" y="199579"/>
                  <a:pt x="355848" y="205204"/>
                </a:cubicBezTo>
                <a:cubicBezTo>
                  <a:pt x="313879" y="220206"/>
                  <a:pt x="258782" y="228600"/>
                  <a:pt x="200025" y="228600"/>
                </a:cubicBezTo>
                <a:cubicBezTo>
                  <a:pt x="141268" y="228600"/>
                  <a:pt x="86082" y="220117"/>
                  <a:pt x="44202" y="205204"/>
                </a:cubicBezTo>
                <a:cubicBezTo>
                  <a:pt x="28486" y="199579"/>
                  <a:pt x="13216" y="192524"/>
                  <a:pt x="0" y="183773"/>
                </a:cubicBezTo>
                <a:lnTo>
                  <a:pt x="0" y="257175"/>
                </a:lnTo>
                <a:cubicBezTo>
                  <a:pt x="0" y="296644"/>
                  <a:pt x="89565" y="328613"/>
                  <a:pt x="200025" y="328613"/>
                </a:cubicBezTo>
                <a:cubicBezTo>
                  <a:pt x="310485" y="328613"/>
                  <a:pt x="400050" y="296644"/>
                  <a:pt x="400050" y="257175"/>
                </a:cubicBezTo>
                <a:lnTo>
                  <a:pt x="400050" y="183773"/>
                </a:lnTo>
                <a:close/>
                <a:moveTo>
                  <a:pt x="400050" y="114300"/>
                </a:moveTo>
                <a:lnTo>
                  <a:pt x="400050" y="71438"/>
                </a:lnTo>
                <a:cubicBezTo>
                  <a:pt x="400050" y="31968"/>
                  <a:pt x="310485" y="0"/>
                  <a:pt x="200025" y="0"/>
                </a:cubicBezTo>
                <a:cubicBezTo>
                  <a:pt x="89565" y="0"/>
                  <a:pt x="0" y="31968"/>
                  <a:pt x="0" y="71438"/>
                </a:cubicBezTo>
                <a:lnTo>
                  <a:pt x="0" y="114300"/>
                </a:lnTo>
                <a:cubicBezTo>
                  <a:pt x="0" y="153769"/>
                  <a:pt x="89565" y="185738"/>
                  <a:pt x="200025" y="185738"/>
                </a:cubicBezTo>
                <a:cubicBezTo>
                  <a:pt x="310485" y="185738"/>
                  <a:pt x="400050" y="153769"/>
                  <a:pt x="400050" y="114300"/>
                </a:cubicBezTo>
                <a:close/>
                <a:moveTo>
                  <a:pt x="355848" y="348079"/>
                </a:moveTo>
                <a:cubicBezTo>
                  <a:pt x="313968" y="362992"/>
                  <a:pt x="258872" y="371475"/>
                  <a:pt x="200025" y="371475"/>
                </a:cubicBezTo>
                <a:cubicBezTo>
                  <a:pt x="141178" y="371475"/>
                  <a:pt x="86082" y="362992"/>
                  <a:pt x="44202" y="348079"/>
                </a:cubicBezTo>
                <a:cubicBezTo>
                  <a:pt x="28486" y="342454"/>
                  <a:pt x="13216" y="335399"/>
                  <a:pt x="0" y="326648"/>
                </a:cubicBezTo>
                <a:lnTo>
                  <a:pt x="0" y="385763"/>
                </a:lnTo>
                <a:cubicBezTo>
                  <a:pt x="0" y="425232"/>
                  <a:pt x="89565" y="457200"/>
                  <a:pt x="200025" y="457200"/>
                </a:cubicBezTo>
                <a:cubicBezTo>
                  <a:pt x="310485" y="457200"/>
                  <a:pt x="400050" y="425232"/>
                  <a:pt x="400050" y="385763"/>
                </a:cubicBezTo>
                <a:lnTo>
                  <a:pt x="400050" y="326648"/>
                </a:lnTo>
                <a:cubicBezTo>
                  <a:pt x="386834" y="335399"/>
                  <a:pt x="371654" y="342454"/>
                  <a:pt x="355848" y="348079"/>
                </a:cubicBezTo>
                <a:close/>
              </a:path>
            </a:pathLst>
          </a:custGeom>
          <a:solidFill>
            <a:srgbClr val="A95E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g3b07f1a5d36_0_0"/>
          <p:cNvSpPr/>
          <p:nvPr/>
        </p:nvSpPr>
        <p:spPr>
          <a:xfrm>
            <a:off x="687487" y="3479800"/>
            <a:ext cx="13080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600" u="none" cap="none" strike="noStrike">
                <a:solidFill>
                  <a:srgbClr val="3C3542"/>
                </a:solidFill>
                <a:latin typeface="Arial"/>
                <a:ea typeface="Arial"/>
                <a:cs typeface="Arial"/>
                <a:sym typeface="Arial"/>
              </a:rPr>
              <a:t>Data</a:t>
            </a:r>
            <a:endParaRPr b="0" i="0" sz="1600" u="none" cap="none" strike="noStrike"/>
          </a:p>
        </p:txBody>
      </p:sp>
      <p:sp>
        <p:nvSpPr>
          <p:cNvPr id="425" name="Google Shape;425;g3b07f1a5d36_0_0"/>
          <p:cNvSpPr/>
          <p:nvPr/>
        </p:nvSpPr>
        <p:spPr>
          <a:xfrm>
            <a:off x="693837" y="3784600"/>
            <a:ext cx="1295400" cy="2541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1400" u="none" cap="none" strike="noStrike">
                <a:solidFill>
                  <a:srgbClr val="3C3542"/>
                </a:solidFill>
                <a:latin typeface="Arial"/>
                <a:ea typeface="Arial"/>
                <a:cs typeface="Arial"/>
                <a:sym typeface="Arial"/>
              </a:rPr>
              <a:t>X, y (300 feats)</a:t>
            </a:r>
            <a:endParaRPr b="0" i="0" sz="1600" u="none" cap="none" strike="noStrike"/>
          </a:p>
        </p:txBody>
      </p:sp>
      <p:sp>
        <p:nvSpPr>
          <p:cNvPr id="426" name="Google Shape;426;g3b07f1a5d36_0_0"/>
          <p:cNvSpPr/>
          <p:nvPr/>
        </p:nvSpPr>
        <p:spPr>
          <a:xfrm>
            <a:off x="2766616" y="3251200"/>
            <a:ext cx="457200" cy="457200"/>
          </a:xfrm>
          <a:custGeom>
            <a:rect b="b" l="l" r="r" t="t"/>
            <a:pathLst>
              <a:path extrusionOk="0" h="457200" w="457200">
                <a:moveTo>
                  <a:pt x="448806" y="248781"/>
                </a:moveTo>
                <a:cubicBezTo>
                  <a:pt x="459968" y="237619"/>
                  <a:pt x="459968" y="219492"/>
                  <a:pt x="448806" y="208330"/>
                </a:cubicBezTo>
                <a:lnTo>
                  <a:pt x="305931" y="65455"/>
                </a:lnTo>
                <a:cubicBezTo>
                  <a:pt x="294769" y="54293"/>
                  <a:pt x="276642" y="54293"/>
                  <a:pt x="265480" y="65455"/>
                </a:cubicBezTo>
                <a:cubicBezTo>
                  <a:pt x="254318" y="76617"/>
                  <a:pt x="254318" y="94744"/>
                  <a:pt x="265480" y="105906"/>
                </a:cubicBezTo>
                <a:lnTo>
                  <a:pt x="359599" y="200025"/>
                </a:lnTo>
                <a:lnTo>
                  <a:pt x="28575" y="200025"/>
                </a:lnTo>
                <a:cubicBezTo>
                  <a:pt x="12769" y="200025"/>
                  <a:pt x="0" y="212794"/>
                  <a:pt x="0" y="228600"/>
                </a:cubicBezTo>
                <a:cubicBezTo>
                  <a:pt x="0" y="244406"/>
                  <a:pt x="12769" y="257175"/>
                  <a:pt x="28575" y="257175"/>
                </a:cubicBezTo>
                <a:lnTo>
                  <a:pt x="359599" y="257175"/>
                </a:lnTo>
                <a:lnTo>
                  <a:pt x="265480" y="351294"/>
                </a:lnTo>
                <a:cubicBezTo>
                  <a:pt x="254317" y="362456"/>
                  <a:pt x="254317" y="380583"/>
                  <a:pt x="265480" y="391745"/>
                </a:cubicBezTo>
                <a:cubicBezTo>
                  <a:pt x="276642" y="402908"/>
                  <a:pt x="294769" y="402908"/>
                  <a:pt x="305931" y="391745"/>
                </a:cubicBezTo>
                <a:lnTo>
                  <a:pt x="448806" y="248870"/>
                </a:lnTo>
                <a:close/>
              </a:path>
            </a:pathLst>
          </a:custGeom>
          <a:solidFill>
            <a:srgbClr val="8F5C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g3b07f1a5d36_0_0"/>
          <p:cNvSpPr/>
          <p:nvPr/>
        </p:nvSpPr>
        <p:spPr>
          <a:xfrm>
            <a:off x="3729486" y="2588900"/>
            <a:ext cx="1790319" cy="1680210"/>
          </a:xfrm>
          <a:custGeom>
            <a:rect b="b" l="l" r="r" t="t"/>
            <a:pathLst>
              <a:path extrusionOk="0" h="1524000" w="1612900">
                <a:moveTo>
                  <a:pt x="101605" y="0"/>
                </a:moveTo>
                <a:lnTo>
                  <a:pt x="1511295" y="0"/>
                </a:lnTo>
                <a:cubicBezTo>
                  <a:pt x="1567410" y="0"/>
                  <a:pt x="1612900" y="45490"/>
                  <a:pt x="1612900" y="101605"/>
                </a:cubicBezTo>
                <a:lnTo>
                  <a:pt x="1612900" y="1422395"/>
                </a:lnTo>
                <a:cubicBezTo>
                  <a:pt x="1612900" y="1478510"/>
                  <a:pt x="1567410" y="1524000"/>
                  <a:pt x="1511295" y="1524000"/>
                </a:cubicBezTo>
                <a:lnTo>
                  <a:pt x="101605" y="1524000"/>
                </a:lnTo>
                <a:cubicBezTo>
                  <a:pt x="45490" y="1524000"/>
                  <a:pt x="0" y="1478510"/>
                  <a:pt x="0" y="1422395"/>
                </a:cubicBezTo>
                <a:lnTo>
                  <a:pt x="0" y="101605"/>
                </a:lnTo>
                <a:cubicBezTo>
                  <a:pt x="0" y="45528"/>
                  <a:pt x="45528" y="0"/>
                  <a:pt x="101605" y="0"/>
                </a:cubicBezTo>
                <a:close/>
              </a:path>
            </a:pathLst>
          </a:custGeom>
          <a:solidFill>
            <a:srgbClr val="D3B9D7">
              <a:alpha val="2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g3b07f1a5d36_0_0"/>
          <p:cNvSpPr/>
          <p:nvPr/>
        </p:nvSpPr>
        <p:spPr>
          <a:xfrm>
            <a:off x="4338836" y="2921000"/>
            <a:ext cx="571500" cy="457200"/>
          </a:xfrm>
          <a:custGeom>
            <a:rect b="b" l="l" r="r" t="t"/>
            <a:pathLst>
              <a:path extrusionOk="0" h="457200" w="571500">
                <a:moveTo>
                  <a:pt x="371386" y="187970"/>
                </a:moveTo>
                <a:cubicBezTo>
                  <a:pt x="382280" y="185023"/>
                  <a:pt x="393710" y="190202"/>
                  <a:pt x="398621" y="200293"/>
                </a:cubicBezTo>
                <a:lnTo>
                  <a:pt x="415230" y="233869"/>
                </a:lnTo>
                <a:cubicBezTo>
                  <a:pt x="424428" y="235119"/>
                  <a:pt x="433447" y="237619"/>
                  <a:pt x="441930" y="241102"/>
                </a:cubicBezTo>
                <a:lnTo>
                  <a:pt x="473184" y="220295"/>
                </a:lnTo>
                <a:cubicBezTo>
                  <a:pt x="482560" y="214045"/>
                  <a:pt x="494973" y="215295"/>
                  <a:pt x="502920" y="223242"/>
                </a:cubicBezTo>
                <a:lnTo>
                  <a:pt x="520065" y="240387"/>
                </a:lnTo>
                <a:cubicBezTo>
                  <a:pt x="528012" y="248335"/>
                  <a:pt x="529263" y="260836"/>
                  <a:pt x="523012" y="270123"/>
                </a:cubicBezTo>
                <a:lnTo>
                  <a:pt x="502206" y="301288"/>
                </a:lnTo>
                <a:cubicBezTo>
                  <a:pt x="503902" y="305485"/>
                  <a:pt x="505420" y="309860"/>
                  <a:pt x="506670" y="314414"/>
                </a:cubicBezTo>
                <a:cubicBezTo>
                  <a:pt x="507921" y="318968"/>
                  <a:pt x="508724" y="323433"/>
                  <a:pt x="509349" y="327987"/>
                </a:cubicBezTo>
                <a:lnTo>
                  <a:pt x="543014" y="344597"/>
                </a:lnTo>
                <a:cubicBezTo>
                  <a:pt x="553105" y="349597"/>
                  <a:pt x="558284" y="361027"/>
                  <a:pt x="555337" y="371832"/>
                </a:cubicBezTo>
                <a:lnTo>
                  <a:pt x="549086" y="395228"/>
                </a:lnTo>
                <a:cubicBezTo>
                  <a:pt x="546140" y="406033"/>
                  <a:pt x="536049" y="413355"/>
                  <a:pt x="524798" y="412641"/>
                </a:cubicBezTo>
                <a:lnTo>
                  <a:pt x="487293" y="410230"/>
                </a:lnTo>
                <a:cubicBezTo>
                  <a:pt x="481667" y="417463"/>
                  <a:pt x="475149" y="424160"/>
                  <a:pt x="467737" y="429875"/>
                </a:cubicBezTo>
                <a:lnTo>
                  <a:pt x="470148" y="467291"/>
                </a:lnTo>
                <a:cubicBezTo>
                  <a:pt x="470862" y="478542"/>
                  <a:pt x="463540" y="488722"/>
                  <a:pt x="452735" y="491579"/>
                </a:cubicBezTo>
                <a:lnTo>
                  <a:pt x="429339" y="497830"/>
                </a:lnTo>
                <a:cubicBezTo>
                  <a:pt x="418445" y="500777"/>
                  <a:pt x="407104" y="495598"/>
                  <a:pt x="402104" y="485507"/>
                </a:cubicBezTo>
                <a:lnTo>
                  <a:pt x="385495" y="451931"/>
                </a:lnTo>
                <a:cubicBezTo>
                  <a:pt x="376297" y="450681"/>
                  <a:pt x="367278" y="448181"/>
                  <a:pt x="358795" y="444698"/>
                </a:cubicBezTo>
                <a:lnTo>
                  <a:pt x="327541" y="465505"/>
                </a:lnTo>
                <a:cubicBezTo>
                  <a:pt x="318165" y="471755"/>
                  <a:pt x="305753" y="470505"/>
                  <a:pt x="297805" y="462558"/>
                </a:cubicBezTo>
                <a:lnTo>
                  <a:pt x="280660" y="445413"/>
                </a:lnTo>
                <a:cubicBezTo>
                  <a:pt x="272713" y="437465"/>
                  <a:pt x="271463" y="425053"/>
                  <a:pt x="277713" y="415677"/>
                </a:cubicBezTo>
                <a:lnTo>
                  <a:pt x="298519" y="384423"/>
                </a:lnTo>
                <a:cubicBezTo>
                  <a:pt x="296823" y="380226"/>
                  <a:pt x="295305" y="375851"/>
                  <a:pt x="294055" y="371296"/>
                </a:cubicBezTo>
                <a:cubicBezTo>
                  <a:pt x="292804" y="366742"/>
                  <a:pt x="292001" y="362188"/>
                  <a:pt x="291376" y="357723"/>
                </a:cubicBezTo>
                <a:lnTo>
                  <a:pt x="257711" y="341114"/>
                </a:lnTo>
                <a:cubicBezTo>
                  <a:pt x="247620" y="336113"/>
                  <a:pt x="242530" y="324683"/>
                  <a:pt x="245388" y="313879"/>
                </a:cubicBezTo>
                <a:lnTo>
                  <a:pt x="251639" y="290483"/>
                </a:lnTo>
                <a:cubicBezTo>
                  <a:pt x="254585" y="279678"/>
                  <a:pt x="264676" y="272355"/>
                  <a:pt x="275927" y="273070"/>
                </a:cubicBezTo>
                <a:lnTo>
                  <a:pt x="313343" y="275481"/>
                </a:lnTo>
                <a:cubicBezTo>
                  <a:pt x="318968" y="268248"/>
                  <a:pt x="325487" y="261551"/>
                  <a:pt x="332899" y="255836"/>
                </a:cubicBezTo>
                <a:lnTo>
                  <a:pt x="330488" y="218509"/>
                </a:lnTo>
                <a:cubicBezTo>
                  <a:pt x="329773" y="207258"/>
                  <a:pt x="337096" y="197078"/>
                  <a:pt x="347901" y="194221"/>
                </a:cubicBezTo>
                <a:lnTo>
                  <a:pt x="371296" y="187970"/>
                </a:lnTo>
                <a:close/>
                <a:moveTo>
                  <a:pt x="400407" y="303609"/>
                </a:moveTo>
                <a:cubicBezTo>
                  <a:pt x="378722" y="303634"/>
                  <a:pt x="361137" y="321260"/>
                  <a:pt x="361161" y="342945"/>
                </a:cubicBezTo>
                <a:cubicBezTo>
                  <a:pt x="361186" y="364630"/>
                  <a:pt x="378811" y="382215"/>
                  <a:pt x="400496" y="382191"/>
                </a:cubicBezTo>
                <a:cubicBezTo>
                  <a:pt x="422182" y="382166"/>
                  <a:pt x="439767" y="364540"/>
                  <a:pt x="439742" y="342855"/>
                </a:cubicBezTo>
                <a:cubicBezTo>
                  <a:pt x="439718" y="321170"/>
                  <a:pt x="422092" y="303585"/>
                  <a:pt x="400407" y="303609"/>
                </a:cubicBezTo>
                <a:close/>
                <a:moveTo>
                  <a:pt x="200829" y="-40630"/>
                </a:moveTo>
                <a:lnTo>
                  <a:pt x="224224" y="-34379"/>
                </a:lnTo>
                <a:cubicBezTo>
                  <a:pt x="235029" y="-31433"/>
                  <a:pt x="242352" y="-21253"/>
                  <a:pt x="241637" y="-10091"/>
                </a:cubicBezTo>
                <a:lnTo>
                  <a:pt x="239226" y="27236"/>
                </a:lnTo>
                <a:cubicBezTo>
                  <a:pt x="246638" y="32951"/>
                  <a:pt x="253157" y="39559"/>
                  <a:pt x="258782" y="46881"/>
                </a:cubicBezTo>
                <a:lnTo>
                  <a:pt x="296287" y="44470"/>
                </a:lnTo>
                <a:cubicBezTo>
                  <a:pt x="307449" y="43755"/>
                  <a:pt x="317629" y="51078"/>
                  <a:pt x="320576" y="61883"/>
                </a:cubicBezTo>
                <a:lnTo>
                  <a:pt x="326827" y="85279"/>
                </a:lnTo>
                <a:cubicBezTo>
                  <a:pt x="329684" y="96083"/>
                  <a:pt x="324594" y="107513"/>
                  <a:pt x="314504" y="112514"/>
                </a:cubicBezTo>
                <a:lnTo>
                  <a:pt x="280839" y="129123"/>
                </a:lnTo>
                <a:cubicBezTo>
                  <a:pt x="280214" y="133677"/>
                  <a:pt x="279321" y="138232"/>
                  <a:pt x="278160" y="142696"/>
                </a:cubicBezTo>
                <a:cubicBezTo>
                  <a:pt x="276999" y="147161"/>
                  <a:pt x="275392" y="151626"/>
                  <a:pt x="273695" y="155823"/>
                </a:cubicBezTo>
                <a:lnTo>
                  <a:pt x="294501" y="187077"/>
                </a:lnTo>
                <a:cubicBezTo>
                  <a:pt x="300752" y="196453"/>
                  <a:pt x="299502" y="208865"/>
                  <a:pt x="291554" y="216813"/>
                </a:cubicBezTo>
                <a:lnTo>
                  <a:pt x="274409" y="233958"/>
                </a:lnTo>
                <a:cubicBezTo>
                  <a:pt x="266462" y="241905"/>
                  <a:pt x="254050" y="243155"/>
                  <a:pt x="244673" y="236905"/>
                </a:cubicBezTo>
                <a:lnTo>
                  <a:pt x="213420" y="216098"/>
                </a:lnTo>
                <a:cubicBezTo>
                  <a:pt x="204936" y="219581"/>
                  <a:pt x="195917" y="222081"/>
                  <a:pt x="186720" y="223331"/>
                </a:cubicBezTo>
                <a:lnTo>
                  <a:pt x="170111" y="256907"/>
                </a:lnTo>
                <a:cubicBezTo>
                  <a:pt x="165110" y="266998"/>
                  <a:pt x="153680" y="272088"/>
                  <a:pt x="142875" y="269230"/>
                </a:cubicBezTo>
                <a:lnTo>
                  <a:pt x="119479" y="262979"/>
                </a:lnTo>
                <a:cubicBezTo>
                  <a:pt x="108585" y="260033"/>
                  <a:pt x="101352" y="249853"/>
                  <a:pt x="102066" y="238691"/>
                </a:cubicBezTo>
                <a:lnTo>
                  <a:pt x="104477" y="201275"/>
                </a:lnTo>
                <a:cubicBezTo>
                  <a:pt x="97066" y="195560"/>
                  <a:pt x="90547" y="188952"/>
                  <a:pt x="84921" y="181630"/>
                </a:cubicBezTo>
                <a:lnTo>
                  <a:pt x="47417" y="184041"/>
                </a:lnTo>
                <a:cubicBezTo>
                  <a:pt x="36255" y="184755"/>
                  <a:pt x="26075" y="177433"/>
                  <a:pt x="23128" y="166628"/>
                </a:cubicBezTo>
                <a:lnTo>
                  <a:pt x="16877" y="143232"/>
                </a:lnTo>
                <a:cubicBezTo>
                  <a:pt x="14020" y="132427"/>
                  <a:pt x="19110" y="120997"/>
                  <a:pt x="29200" y="115997"/>
                </a:cubicBezTo>
                <a:lnTo>
                  <a:pt x="62865" y="99387"/>
                </a:lnTo>
                <a:cubicBezTo>
                  <a:pt x="63490" y="94833"/>
                  <a:pt x="64383" y="90368"/>
                  <a:pt x="65544" y="85814"/>
                </a:cubicBezTo>
                <a:cubicBezTo>
                  <a:pt x="66794" y="81260"/>
                  <a:pt x="68223" y="76885"/>
                  <a:pt x="70009" y="72688"/>
                </a:cubicBezTo>
                <a:lnTo>
                  <a:pt x="49203" y="41523"/>
                </a:lnTo>
                <a:cubicBezTo>
                  <a:pt x="42952" y="32147"/>
                  <a:pt x="44202" y="19735"/>
                  <a:pt x="52149" y="11787"/>
                </a:cubicBezTo>
                <a:lnTo>
                  <a:pt x="69294" y="-5358"/>
                </a:lnTo>
                <a:cubicBezTo>
                  <a:pt x="77242" y="-13305"/>
                  <a:pt x="89654" y="-14555"/>
                  <a:pt x="99030" y="-8305"/>
                </a:cubicBezTo>
                <a:lnTo>
                  <a:pt x="130284" y="12502"/>
                </a:lnTo>
                <a:cubicBezTo>
                  <a:pt x="138767" y="9019"/>
                  <a:pt x="147786" y="6519"/>
                  <a:pt x="156984" y="5269"/>
                </a:cubicBezTo>
                <a:lnTo>
                  <a:pt x="173593" y="-28307"/>
                </a:lnTo>
                <a:cubicBezTo>
                  <a:pt x="178594" y="-38398"/>
                  <a:pt x="189934" y="-43488"/>
                  <a:pt x="200829" y="-40630"/>
                </a:cubicBezTo>
                <a:close/>
                <a:moveTo>
                  <a:pt x="171807" y="75009"/>
                </a:moveTo>
                <a:cubicBezTo>
                  <a:pt x="150122" y="75009"/>
                  <a:pt x="132517" y="92615"/>
                  <a:pt x="132517" y="114300"/>
                </a:cubicBezTo>
                <a:cubicBezTo>
                  <a:pt x="132517" y="135985"/>
                  <a:pt x="150122" y="153591"/>
                  <a:pt x="171807" y="153591"/>
                </a:cubicBezTo>
                <a:cubicBezTo>
                  <a:pt x="193492" y="153591"/>
                  <a:pt x="211098" y="135985"/>
                  <a:pt x="211098" y="114300"/>
                </a:cubicBezTo>
                <a:cubicBezTo>
                  <a:pt x="211098" y="92615"/>
                  <a:pt x="193492" y="75009"/>
                  <a:pt x="171807" y="75009"/>
                </a:cubicBezTo>
                <a:close/>
              </a:path>
            </a:pathLst>
          </a:custGeom>
          <a:solidFill>
            <a:srgbClr val="A95E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g3b07f1a5d36_0_0"/>
          <p:cNvSpPr/>
          <p:nvPr/>
        </p:nvSpPr>
        <p:spPr>
          <a:xfrm>
            <a:off x="3995638" y="3479800"/>
            <a:ext cx="12573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600" u="none" cap="none" strike="noStrike">
                <a:solidFill>
                  <a:srgbClr val="3C3542"/>
                </a:solidFill>
                <a:latin typeface="Arial"/>
                <a:ea typeface="Arial"/>
                <a:cs typeface="Arial"/>
                <a:sym typeface="Arial"/>
              </a:rPr>
              <a:t>Pipeline</a:t>
            </a:r>
            <a:endParaRPr b="0" i="0" sz="1600" u="none" cap="none" strike="noStrike"/>
          </a:p>
        </p:txBody>
      </p:sp>
      <p:sp>
        <p:nvSpPr>
          <p:cNvPr id="430" name="Google Shape;430;g3b07f1a5d36_0_0"/>
          <p:cNvSpPr/>
          <p:nvPr/>
        </p:nvSpPr>
        <p:spPr>
          <a:xfrm>
            <a:off x="4001988" y="3784600"/>
            <a:ext cx="1244700" cy="2541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1400" u="none" cap="none" strike="noStrike">
                <a:solidFill>
                  <a:srgbClr val="3C3542"/>
                </a:solidFill>
                <a:latin typeface="Arial"/>
                <a:ea typeface="Arial"/>
                <a:cs typeface="Arial"/>
                <a:sym typeface="Arial"/>
              </a:rPr>
              <a:t>Scale &amp; Select</a:t>
            </a:r>
            <a:endParaRPr b="0" i="0" sz="1600" u="none" cap="none" strike="noStrike"/>
          </a:p>
        </p:txBody>
      </p:sp>
      <p:sp>
        <p:nvSpPr>
          <p:cNvPr id="431" name="Google Shape;431;g3b07f1a5d36_0_0"/>
          <p:cNvSpPr/>
          <p:nvPr/>
        </p:nvSpPr>
        <p:spPr>
          <a:xfrm>
            <a:off x="6025455" y="3251200"/>
            <a:ext cx="457200" cy="457200"/>
          </a:xfrm>
          <a:custGeom>
            <a:rect b="b" l="l" r="r" t="t"/>
            <a:pathLst>
              <a:path extrusionOk="0" h="457200" w="457200">
                <a:moveTo>
                  <a:pt x="448806" y="248781"/>
                </a:moveTo>
                <a:cubicBezTo>
                  <a:pt x="459968" y="237619"/>
                  <a:pt x="459968" y="219492"/>
                  <a:pt x="448806" y="208330"/>
                </a:cubicBezTo>
                <a:lnTo>
                  <a:pt x="305931" y="65455"/>
                </a:lnTo>
                <a:cubicBezTo>
                  <a:pt x="294769" y="54293"/>
                  <a:pt x="276642" y="54293"/>
                  <a:pt x="265480" y="65455"/>
                </a:cubicBezTo>
                <a:cubicBezTo>
                  <a:pt x="254318" y="76617"/>
                  <a:pt x="254318" y="94744"/>
                  <a:pt x="265480" y="105906"/>
                </a:cubicBezTo>
                <a:lnTo>
                  <a:pt x="359599" y="200025"/>
                </a:lnTo>
                <a:lnTo>
                  <a:pt x="28575" y="200025"/>
                </a:lnTo>
                <a:cubicBezTo>
                  <a:pt x="12769" y="200025"/>
                  <a:pt x="0" y="212794"/>
                  <a:pt x="0" y="228600"/>
                </a:cubicBezTo>
                <a:cubicBezTo>
                  <a:pt x="0" y="244406"/>
                  <a:pt x="12769" y="257175"/>
                  <a:pt x="28575" y="257175"/>
                </a:cubicBezTo>
                <a:lnTo>
                  <a:pt x="359599" y="257175"/>
                </a:lnTo>
                <a:lnTo>
                  <a:pt x="265480" y="351294"/>
                </a:lnTo>
                <a:cubicBezTo>
                  <a:pt x="254317" y="362456"/>
                  <a:pt x="254317" y="380583"/>
                  <a:pt x="265480" y="391745"/>
                </a:cubicBezTo>
                <a:cubicBezTo>
                  <a:pt x="276642" y="402908"/>
                  <a:pt x="294769" y="402908"/>
                  <a:pt x="305931" y="391745"/>
                </a:cubicBezTo>
                <a:lnTo>
                  <a:pt x="448806" y="248870"/>
                </a:lnTo>
                <a:close/>
              </a:path>
            </a:pathLst>
          </a:custGeom>
          <a:solidFill>
            <a:srgbClr val="8F5C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g3b07f1a5d36_0_0"/>
          <p:cNvSpPr/>
          <p:nvPr/>
        </p:nvSpPr>
        <p:spPr>
          <a:xfrm>
            <a:off x="7032574" y="2588900"/>
            <a:ext cx="1790319" cy="1680210"/>
          </a:xfrm>
          <a:custGeom>
            <a:rect b="b" l="l" r="r" t="t"/>
            <a:pathLst>
              <a:path extrusionOk="0" h="1524000" w="1612900">
                <a:moveTo>
                  <a:pt x="101605" y="0"/>
                </a:moveTo>
                <a:lnTo>
                  <a:pt x="1511295" y="0"/>
                </a:lnTo>
                <a:cubicBezTo>
                  <a:pt x="1567410" y="0"/>
                  <a:pt x="1612900" y="45490"/>
                  <a:pt x="1612900" y="101605"/>
                </a:cubicBezTo>
                <a:lnTo>
                  <a:pt x="1612900" y="1422395"/>
                </a:lnTo>
                <a:cubicBezTo>
                  <a:pt x="1612900" y="1478510"/>
                  <a:pt x="1567410" y="1524000"/>
                  <a:pt x="1511295" y="1524000"/>
                </a:cubicBezTo>
                <a:lnTo>
                  <a:pt x="101605" y="1524000"/>
                </a:lnTo>
                <a:cubicBezTo>
                  <a:pt x="45490" y="1524000"/>
                  <a:pt x="0" y="1478510"/>
                  <a:pt x="0" y="1422395"/>
                </a:cubicBezTo>
                <a:lnTo>
                  <a:pt x="0" y="101605"/>
                </a:lnTo>
                <a:cubicBezTo>
                  <a:pt x="0" y="45528"/>
                  <a:pt x="45528" y="0"/>
                  <a:pt x="101605" y="0"/>
                </a:cubicBezTo>
                <a:close/>
              </a:path>
            </a:pathLst>
          </a:custGeom>
          <a:solidFill>
            <a:srgbClr val="D3B9D7">
              <a:alpha val="2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g3b07f1a5d36_0_0"/>
          <p:cNvSpPr/>
          <p:nvPr/>
        </p:nvSpPr>
        <p:spPr>
          <a:xfrm>
            <a:off x="7641927" y="2921000"/>
            <a:ext cx="571500" cy="457200"/>
          </a:xfrm>
          <a:custGeom>
            <a:rect b="b" l="l" r="r" t="t"/>
            <a:pathLst>
              <a:path extrusionOk="0" h="457200" w="571500">
                <a:moveTo>
                  <a:pt x="314325" y="0"/>
                </a:moveTo>
                <a:cubicBezTo>
                  <a:pt x="314325" y="-15806"/>
                  <a:pt x="301556" y="-28575"/>
                  <a:pt x="285750" y="-28575"/>
                </a:cubicBezTo>
                <a:cubicBezTo>
                  <a:pt x="269944" y="-28575"/>
                  <a:pt x="257175" y="-15806"/>
                  <a:pt x="257175" y="0"/>
                </a:cubicBezTo>
                <a:lnTo>
                  <a:pt x="257175" y="57150"/>
                </a:lnTo>
                <a:lnTo>
                  <a:pt x="171450" y="57150"/>
                </a:lnTo>
                <a:cubicBezTo>
                  <a:pt x="124123" y="57150"/>
                  <a:pt x="85725" y="95548"/>
                  <a:pt x="85725" y="142875"/>
                </a:cubicBezTo>
                <a:lnTo>
                  <a:pt x="85725" y="342900"/>
                </a:lnTo>
                <a:cubicBezTo>
                  <a:pt x="85725" y="390227"/>
                  <a:pt x="124123" y="428625"/>
                  <a:pt x="171450" y="428625"/>
                </a:cubicBezTo>
                <a:lnTo>
                  <a:pt x="400050" y="428625"/>
                </a:lnTo>
                <a:cubicBezTo>
                  <a:pt x="447377" y="428625"/>
                  <a:pt x="485775" y="390227"/>
                  <a:pt x="485775" y="342900"/>
                </a:cubicBezTo>
                <a:lnTo>
                  <a:pt x="485775" y="142875"/>
                </a:lnTo>
                <a:cubicBezTo>
                  <a:pt x="485775" y="95548"/>
                  <a:pt x="447377" y="57150"/>
                  <a:pt x="400050" y="57150"/>
                </a:cubicBezTo>
                <a:lnTo>
                  <a:pt x="314325" y="57150"/>
                </a:lnTo>
                <a:lnTo>
                  <a:pt x="314325" y="0"/>
                </a:lnTo>
                <a:close/>
                <a:moveTo>
                  <a:pt x="142875" y="328613"/>
                </a:moveTo>
                <a:cubicBezTo>
                  <a:pt x="142875" y="316736"/>
                  <a:pt x="152430" y="307181"/>
                  <a:pt x="164306" y="307181"/>
                </a:cubicBezTo>
                <a:lnTo>
                  <a:pt x="192881" y="307181"/>
                </a:lnTo>
                <a:cubicBezTo>
                  <a:pt x="204758" y="307181"/>
                  <a:pt x="214313" y="316736"/>
                  <a:pt x="214313" y="328613"/>
                </a:cubicBezTo>
                <a:cubicBezTo>
                  <a:pt x="214313" y="340489"/>
                  <a:pt x="204758" y="350044"/>
                  <a:pt x="192881" y="350044"/>
                </a:cubicBezTo>
                <a:lnTo>
                  <a:pt x="164306" y="350044"/>
                </a:lnTo>
                <a:cubicBezTo>
                  <a:pt x="152430" y="350044"/>
                  <a:pt x="142875" y="340489"/>
                  <a:pt x="142875" y="328613"/>
                </a:cubicBezTo>
                <a:close/>
                <a:moveTo>
                  <a:pt x="250031" y="328613"/>
                </a:moveTo>
                <a:cubicBezTo>
                  <a:pt x="250031" y="316736"/>
                  <a:pt x="259586" y="307181"/>
                  <a:pt x="271463" y="307181"/>
                </a:cubicBezTo>
                <a:lnTo>
                  <a:pt x="300038" y="307181"/>
                </a:lnTo>
                <a:cubicBezTo>
                  <a:pt x="311914" y="307181"/>
                  <a:pt x="321469" y="316736"/>
                  <a:pt x="321469" y="328613"/>
                </a:cubicBezTo>
                <a:cubicBezTo>
                  <a:pt x="321469" y="340489"/>
                  <a:pt x="311914" y="350044"/>
                  <a:pt x="300038" y="350044"/>
                </a:cubicBezTo>
                <a:lnTo>
                  <a:pt x="271463" y="350044"/>
                </a:lnTo>
                <a:cubicBezTo>
                  <a:pt x="259586" y="350044"/>
                  <a:pt x="250031" y="340489"/>
                  <a:pt x="250031" y="328613"/>
                </a:cubicBezTo>
                <a:close/>
                <a:moveTo>
                  <a:pt x="357188" y="328613"/>
                </a:moveTo>
                <a:cubicBezTo>
                  <a:pt x="357188" y="316736"/>
                  <a:pt x="366742" y="307181"/>
                  <a:pt x="378619" y="307181"/>
                </a:cubicBezTo>
                <a:lnTo>
                  <a:pt x="407194" y="307181"/>
                </a:lnTo>
                <a:cubicBezTo>
                  <a:pt x="419070" y="307181"/>
                  <a:pt x="428625" y="316736"/>
                  <a:pt x="428625" y="328613"/>
                </a:cubicBezTo>
                <a:cubicBezTo>
                  <a:pt x="428625" y="340489"/>
                  <a:pt x="419070" y="350044"/>
                  <a:pt x="407194" y="350044"/>
                </a:cubicBezTo>
                <a:lnTo>
                  <a:pt x="378619" y="350044"/>
                </a:lnTo>
                <a:cubicBezTo>
                  <a:pt x="366742" y="350044"/>
                  <a:pt x="357188" y="340489"/>
                  <a:pt x="357188" y="328613"/>
                </a:cubicBezTo>
                <a:close/>
                <a:moveTo>
                  <a:pt x="200025" y="157163"/>
                </a:moveTo>
                <a:cubicBezTo>
                  <a:pt x="223681" y="157163"/>
                  <a:pt x="242888" y="176369"/>
                  <a:pt x="242888" y="200025"/>
                </a:cubicBezTo>
                <a:cubicBezTo>
                  <a:pt x="242888" y="223681"/>
                  <a:pt x="223681" y="242888"/>
                  <a:pt x="200025" y="242888"/>
                </a:cubicBezTo>
                <a:cubicBezTo>
                  <a:pt x="176369" y="242888"/>
                  <a:pt x="157163" y="223681"/>
                  <a:pt x="157163" y="200025"/>
                </a:cubicBezTo>
                <a:cubicBezTo>
                  <a:pt x="157163" y="176369"/>
                  <a:pt x="176369" y="157163"/>
                  <a:pt x="200025" y="157163"/>
                </a:cubicBezTo>
                <a:close/>
                <a:moveTo>
                  <a:pt x="328613" y="200025"/>
                </a:moveTo>
                <a:cubicBezTo>
                  <a:pt x="328613" y="176369"/>
                  <a:pt x="347819" y="157163"/>
                  <a:pt x="371475" y="157163"/>
                </a:cubicBezTo>
                <a:cubicBezTo>
                  <a:pt x="395131" y="157163"/>
                  <a:pt x="414338" y="176369"/>
                  <a:pt x="414338" y="200025"/>
                </a:cubicBezTo>
                <a:cubicBezTo>
                  <a:pt x="414338" y="223681"/>
                  <a:pt x="395131" y="242888"/>
                  <a:pt x="371475" y="242888"/>
                </a:cubicBezTo>
                <a:cubicBezTo>
                  <a:pt x="347819" y="242888"/>
                  <a:pt x="328613" y="223681"/>
                  <a:pt x="328613" y="200025"/>
                </a:cubicBezTo>
                <a:close/>
                <a:moveTo>
                  <a:pt x="57150" y="200025"/>
                </a:moveTo>
                <a:cubicBezTo>
                  <a:pt x="57150" y="184219"/>
                  <a:pt x="44381" y="171450"/>
                  <a:pt x="28575" y="171450"/>
                </a:cubicBezTo>
                <a:cubicBezTo>
                  <a:pt x="12769" y="171450"/>
                  <a:pt x="0" y="184219"/>
                  <a:pt x="0" y="200025"/>
                </a:cubicBezTo>
                <a:lnTo>
                  <a:pt x="0" y="285750"/>
                </a:lnTo>
                <a:cubicBezTo>
                  <a:pt x="0" y="301556"/>
                  <a:pt x="12769" y="314325"/>
                  <a:pt x="28575" y="314325"/>
                </a:cubicBezTo>
                <a:cubicBezTo>
                  <a:pt x="44381" y="314325"/>
                  <a:pt x="57150" y="301556"/>
                  <a:pt x="57150" y="285750"/>
                </a:cubicBezTo>
                <a:lnTo>
                  <a:pt x="57150" y="200025"/>
                </a:lnTo>
                <a:close/>
                <a:moveTo>
                  <a:pt x="542925" y="171450"/>
                </a:moveTo>
                <a:cubicBezTo>
                  <a:pt x="527119" y="171450"/>
                  <a:pt x="514350" y="184219"/>
                  <a:pt x="514350" y="200025"/>
                </a:cubicBezTo>
                <a:lnTo>
                  <a:pt x="514350" y="285750"/>
                </a:lnTo>
                <a:cubicBezTo>
                  <a:pt x="514350" y="301556"/>
                  <a:pt x="527119" y="314325"/>
                  <a:pt x="542925" y="314325"/>
                </a:cubicBezTo>
                <a:cubicBezTo>
                  <a:pt x="558731" y="314325"/>
                  <a:pt x="571500" y="301556"/>
                  <a:pt x="571500" y="285750"/>
                </a:cubicBezTo>
                <a:lnTo>
                  <a:pt x="571500" y="200025"/>
                </a:lnTo>
                <a:cubicBezTo>
                  <a:pt x="571500" y="184219"/>
                  <a:pt x="558731" y="171450"/>
                  <a:pt x="542925" y="171450"/>
                </a:cubicBezTo>
                <a:close/>
              </a:path>
            </a:pathLst>
          </a:custGeom>
          <a:solidFill>
            <a:srgbClr val="A95E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g3b07f1a5d36_0_0"/>
          <p:cNvSpPr/>
          <p:nvPr/>
        </p:nvSpPr>
        <p:spPr>
          <a:xfrm>
            <a:off x="7254478" y="3461941"/>
            <a:ext cx="13461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600" u="none" cap="none" strike="noStrike">
                <a:solidFill>
                  <a:srgbClr val="3C3542"/>
                </a:solidFill>
                <a:latin typeface="Arial"/>
                <a:ea typeface="Arial"/>
                <a:cs typeface="Arial"/>
                <a:sym typeface="Arial"/>
              </a:rPr>
              <a:t>Model</a:t>
            </a:r>
            <a:endParaRPr b="0" i="0" sz="1600" u="none" cap="none" strike="noStrike"/>
          </a:p>
        </p:txBody>
      </p:sp>
      <p:sp>
        <p:nvSpPr>
          <p:cNvPr id="435" name="Google Shape;435;g3b07f1a5d36_0_0"/>
          <p:cNvSpPr/>
          <p:nvPr/>
        </p:nvSpPr>
        <p:spPr>
          <a:xfrm>
            <a:off x="7263813" y="3759244"/>
            <a:ext cx="1333500" cy="3048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lang="en-US">
                <a:solidFill>
                  <a:srgbClr val="3C3542"/>
                </a:solidFill>
              </a:rPr>
              <a:t>Classify</a:t>
            </a:r>
            <a:endParaRPr b="0" i="0" sz="1600" u="none" cap="none" strike="noStrike"/>
          </a:p>
        </p:txBody>
      </p:sp>
      <p:sp>
        <p:nvSpPr>
          <p:cNvPr id="436" name="Google Shape;436;g3b07f1a5d36_0_0"/>
          <p:cNvSpPr/>
          <p:nvPr/>
        </p:nvSpPr>
        <p:spPr>
          <a:xfrm>
            <a:off x="9261586" y="3251200"/>
            <a:ext cx="457200" cy="457200"/>
          </a:xfrm>
          <a:custGeom>
            <a:rect b="b" l="l" r="r" t="t"/>
            <a:pathLst>
              <a:path extrusionOk="0" h="457200" w="457200">
                <a:moveTo>
                  <a:pt x="448806" y="248781"/>
                </a:moveTo>
                <a:cubicBezTo>
                  <a:pt x="459968" y="237619"/>
                  <a:pt x="459968" y="219492"/>
                  <a:pt x="448806" y="208330"/>
                </a:cubicBezTo>
                <a:lnTo>
                  <a:pt x="305931" y="65455"/>
                </a:lnTo>
                <a:cubicBezTo>
                  <a:pt x="294769" y="54293"/>
                  <a:pt x="276642" y="54293"/>
                  <a:pt x="265480" y="65455"/>
                </a:cubicBezTo>
                <a:cubicBezTo>
                  <a:pt x="254318" y="76617"/>
                  <a:pt x="254318" y="94744"/>
                  <a:pt x="265480" y="105906"/>
                </a:cubicBezTo>
                <a:lnTo>
                  <a:pt x="359599" y="200025"/>
                </a:lnTo>
                <a:lnTo>
                  <a:pt x="28575" y="200025"/>
                </a:lnTo>
                <a:cubicBezTo>
                  <a:pt x="12769" y="200025"/>
                  <a:pt x="0" y="212794"/>
                  <a:pt x="0" y="228600"/>
                </a:cubicBezTo>
                <a:cubicBezTo>
                  <a:pt x="0" y="244406"/>
                  <a:pt x="12769" y="257175"/>
                  <a:pt x="28575" y="257175"/>
                </a:cubicBezTo>
                <a:lnTo>
                  <a:pt x="359599" y="257175"/>
                </a:lnTo>
                <a:lnTo>
                  <a:pt x="265480" y="351294"/>
                </a:lnTo>
                <a:cubicBezTo>
                  <a:pt x="254317" y="362456"/>
                  <a:pt x="254317" y="380583"/>
                  <a:pt x="265480" y="391745"/>
                </a:cubicBezTo>
                <a:cubicBezTo>
                  <a:pt x="276642" y="402908"/>
                  <a:pt x="294769" y="402908"/>
                  <a:pt x="305931" y="391745"/>
                </a:cubicBezTo>
                <a:lnTo>
                  <a:pt x="448806" y="248870"/>
                </a:lnTo>
                <a:close/>
              </a:path>
            </a:pathLst>
          </a:custGeom>
          <a:solidFill>
            <a:srgbClr val="8F5C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g3b07f1a5d36_0_0"/>
          <p:cNvSpPr/>
          <p:nvPr/>
        </p:nvSpPr>
        <p:spPr>
          <a:xfrm>
            <a:off x="10157474" y="2588894"/>
            <a:ext cx="1790319" cy="1680210"/>
          </a:xfrm>
          <a:custGeom>
            <a:rect b="b" l="l" r="r" t="t"/>
            <a:pathLst>
              <a:path extrusionOk="0" h="1524000" w="1612900">
                <a:moveTo>
                  <a:pt x="101605" y="0"/>
                </a:moveTo>
                <a:lnTo>
                  <a:pt x="1511295" y="0"/>
                </a:lnTo>
                <a:cubicBezTo>
                  <a:pt x="1567410" y="0"/>
                  <a:pt x="1612900" y="45490"/>
                  <a:pt x="1612900" y="101605"/>
                </a:cubicBezTo>
                <a:lnTo>
                  <a:pt x="1612900" y="1422395"/>
                </a:lnTo>
                <a:cubicBezTo>
                  <a:pt x="1612900" y="1478510"/>
                  <a:pt x="1567410" y="1524000"/>
                  <a:pt x="1511295" y="1524000"/>
                </a:cubicBezTo>
                <a:lnTo>
                  <a:pt x="101605" y="1524000"/>
                </a:lnTo>
                <a:cubicBezTo>
                  <a:pt x="45490" y="1524000"/>
                  <a:pt x="0" y="1478510"/>
                  <a:pt x="0" y="1422395"/>
                </a:cubicBezTo>
                <a:lnTo>
                  <a:pt x="0" y="101605"/>
                </a:lnTo>
                <a:cubicBezTo>
                  <a:pt x="0" y="45528"/>
                  <a:pt x="45528" y="0"/>
                  <a:pt x="101605" y="0"/>
                </a:cubicBezTo>
                <a:close/>
              </a:path>
            </a:pathLst>
          </a:custGeom>
          <a:solidFill>
            <a:srgbClr val="D3B9D7">
              <a:alpha val="2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g3b07f1a5d36_0_0"/>
          <p:cNvSpPr/>
          <p:nvPr/>
        </p:nvSpPr>
        <p:spPr>
          <a:xfrm>
            <a:off x="10824170" y="2921000"/>
            <a:ext cx="457200" cy="457200"/>
          </a:xfrm>
          <a:custGeom>
            <a:rect b="b" l="l" r="r" t="t"/>
            <a:pathLst>
              <a:path extrusionOk="0" h="457200" w="457200">
                <a:moveTo>
                  <a:pt x="28575" y="28575"/>
                </a:moveTo>
                <a:cubicBezTo>
                  <a:pt x="44381" y="28575"/>
                  <a:pt x="57150" y="41344"/>
                  <a:pt x="57150" y="57150"/>
                </a:cubicBezTo>
                <a:lnTo>
                  <a:pt x="57150" y="357188"/>
                </a:lnTo>
                <a:cubicBezTo>
                  <a:pt x="57150" y="365046"/>
                  <a:pt x="63579" y="371475"/>
                  <a:pt x="71438" y="371475"/>
                </a:cubicBezTo>
                <a:lnTo>
                  <a:pt x="428625" y="371475"/>
                </a:lnTo>
                <a:cubicBezTo>
                  <a:pt x="444431" y="371475"/>
                  <a:pt x="457200" y="384244"/>
                  <a:pt x="457200" y="400050"/>
                </a:cubicBezTo>
                <a:cubicBezTo>
                  <a:pt x="457200" y="415856"/>
                  <a:pt x="444431" y="428625"/>
                  <a:pt x="428625" y="428625"/>
                </a:cubicBezTo>
                <a:lnTo>
                  <a:pt x="71438" y="428625"/>
                </a:lnTo>
                <a:cubicBezTo>
                  <a:pt x="31968" y="428625"/>
                  <a:pt x="0" y="396657"/>
                  <a:pt x="0" y="357188"/>
                </a:cubicBezTo>
                <a:lnTo>
                  <a:pt x="0" y="57150"/>
                </a:lnTo>
                <a:cubicBezTo>
                  <a:pt x="0" y="41344"/>
                  <a:pt x="12769" y="28575"/>
                  <a:pt x="28575" y="28575"/>
                </a:cubicBezTo>
                <a:close/>
                <a:moveTo>
                  <a:pt x="114300" y="85725"/>
                </a:moveTo>
                <a:cubicBezTo>
                  <a:pt x="114300" y="69919"/>
                  <a:pt x="127069" y="57150"/>
                  <a:pt x="142875" y="57150"/>
                </a:cubicBezTo>
                <a:lnTo>
                  <a:pt x="314325" y="57150"/>
                </a:lnTo>
                <a:cubicBezTo>
                  <a:pt x="330131" y="57150"/>
                  <a:pt x="342900" y="69919"/>
                  <a:pt x="342900" y="85725"/>
                </a:cubicBezTo>
                <a:cubicBezTo>
                  <a:pt x="342900" y="101531"/>
                  <a:pt x="330131" y="114300"/>
                  <a:pt x="314325" y="114300"/>
                </a:cubicBezTo>
                <a:lnTo>
                  <a:pt x="142875" y="114300"/>
                </a:lnTo>
                <a:cubicBezTo>
                  <a:pt x="127069" y="114300"/>
                  <a:pt x="114300" y="101531"/>
                  <a:pt x="114300" y="85725"/>
                </a:cubicBezTo>
                <a:close/>
                <a:moveTo>
                  <a:pt x="142875" y="157163"/>
                </a:moveTo>
                <a:lnTo>
                  <a:pt x="257175" y="157163"/>
                </a:lnTo>
                <a:cubicBezTo>
                  <a:pt x="272981" y="157163"/>
                  <a:pt x="285750" y="169932"/>
                  <a:pt x="285750" y="185738"/>
                </a:cubicBezTo>
                <a:cubicBezTo>
                  <a:pt x="285750" y="201543"/>
                  <a:pt x="272981" y="214313"/>
                  <a:pt x="257175" y="214313"/>
                </a:cubicBezTo>
                <a:lnTo>
                  <a:pt x="142875" y="214313"/>
                </a:lnTo>
                <a:cubicBezTo>
                  <a:pt x="127069" y="214313"/>
                  <a:pt x="114300" y="201543"/>
                  <a:pt x="114300" y="185738"/>
                </a:cubicBezTo>
                <a:cubicBezTo>
                  <a:pt x="114300" y="169932"/>
                  <a:pt x="127069" y="157163"/>
                  <a:pt x="142875" y="157163"/>
                </a:cubicBezTo>
                <a:close/>
                <a:moveTo>
                  <a:pt x="142875" y="257175"/>
                </a:moveTo>
                <a:lnTo>
                  <a:pt x="371475" y="257175"/>
                </a:lnTo>
                <a:cubicBezTo>
                  <a:pt x="387281" y="257175"/>
                  <a:pt x="400050" y="269944"/>
                  <a:pt x="400050" y="285750"/>
                </a:cubicBezTo>
                <a:cubicBezTo>
                  <a:pt x="400050" y="301556"/>
                  <a:pt x="387281" y="314325"/>
                  <a:pt x="371475" y="314325"/>
                </a:cubicBezTo>
                <a:lnTo>
                  <a:pt x="142875" y="314325"/>
                </a:lnTo>
                <a:cubicBezTo>
                  <a:pt x="127069" y="314325"/>
                  <a:pt x="114300" y="301556"/>
                  <a:pt x="114300" y="285750"/>
                </a:cubicBezTo>
                <a:cubicBezTo>
                  <a:pt x="114300" y="269944"/>
                  <a:pt x="127069" y="257175"/>
                  <a:pt x="142875" y="257175"/>
                </a:cubicBezTo>
                <a:close/>
              </a:path>
            </a:pathLst>
          </a:custGeom>
          <a:solidFill>
            <a:srgbClr val="A95E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g3b07f1a5d36_0_0"/>
          <p:cNvSpPr/>
          <p:nvPr/>
        </p:nvSpPr>
        <p:spPr>
          <a:xfrm>
            <a:off x="10601821" y="3479800"/>
            <a:ext cx="9018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600" u="none" cap="none" strike="noStrike">
                <a:solidFill>
                  <a:srgbClr val="3C3542"/>
                </a:solidFill>
                <a:latin typeface="Arial"/>
                <a:ea typeface="Arial"/>
                <a:cs typeface="Arial"/>
                <a:sym typeface="Arial"/>
              </a:rPr>
              <a:t>Validate</a:t>
            </a:r>
            <a:endParaRPr b="0" i="0" sz="1600" u="none" cap="none" strike="noStrike"/>
          </a:p>
        </p:txBody>
      </p:sp>
      <p:sp>
        <p:nvSpPr>
          <p:cNvPr id="440" name="Google Shape;440;g3b07f1a5d36_0_0"/>
          <p:cNvSpPr/>
          <p:nvPr/>
        </p:nvSpPr>
        <p:spPr>
          <a:xfrm>
            <a:off x="10608171" y="3784600"/>
            <a:ext cx="888900" cy="2541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1400" u="none" cap="none" strike="noStrike">
                <a:solidFill>
                  <a:srgbClr val="3C3542"/>
                </a:solidFill>
                <a:latin typeface="Arial"/>
                <a:ea typeface="Arial"/>
                <a:cs typeface="Arial"/>
                <a:sym typeface="Arial"/>
              </a:rPr>
              <a:t>5-Fold CV</a:t>
            </a:r>
            <a:endParaRPr b="0" i="0" sz="1600" u="none" cap="none" strike="noStrike"/>
          </a:p>
        </p:txBody>
      </p:sp>
      <p:sp>
        <p:nvSpPr>
          <p:cNvPr id="441" name="Google Shape;441;g3b07f1a5d36_0_0"/>
          <p:cNvSpPr txBox="1"/>
          <p:nvPr/>
        </p:nvSpPr>
        <p:spPr>
          <a:xfrm>
            <a:off x="5826419" y="5436375"/>
            <a:ext cx="1071600" cy="7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t>Models </a:t>
            </a:r>
            <a:endParaRPr b="1" sz="1600"/>
          </a:p>
        </p:txBody>
      </p:sp>
      <p:sp>
        <p:nvSpPr>
          <p:cNvPr id="442" name="Google Shape;442;g3b07f1a5d36_0_0"/>
          <p:cNvSpPr/>
          <p:nvPr/>
        </p:nvSpPr>
        <p:spPr>
          <a:xfrm>
            <a:off x="6808000" y="4775600"/>
            <a:ext cx="224700" cy="1821600"/>
          </a:xfrm>
          <a:prstGeom prst="leftBrace">
            <a:avLst>
              <a:gd fmla="val 50000" name="adj1"/>
              <a:gd fmla="val 50000" name="adj2"/>
            </a:avLst>
          </a:prstGeom>
          <a:noFill/>
          <a:ln cap="flat" cmpd="sng" w="38100">
            <a:solidFill>
              <a:srgbClr val="8F5C9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p>
        </p:txBody>
      </p:sp>
      <p:sp>
        <p:nvSpPr>
          <p:cNvPr id="443" name="Google Shape;443;g3b07f1a5d36_0_0"/>
          <p:cNvSpPr txBox="1"/>
          <p:nvPr/>
        </p:nvSpPr>
        <p:spPr>
          <a:xfrm>
            <a:off x="7147319" y="4775600"/>
            <a:ext cx="3179100" cy="15894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US" sz="1500"/>
              <a:t>KNN</a:t>
            </a:r>
            <a:endParaRPr sz="1500"/>
          </a:p>
          <a:p>
            <a:pPr indent="0" lvl="0" marL="0" rtl="0" algn="l">
              <a:spcBef>
                <a:spcPts val="0"/>
              </a:spcBef>
              <a:spcAft>
                <a:spcPts val="0"/>
              </a:spcAft>
              <a:buNone/>
            </a:pPr>
            <a:r>
              <a:t/>
            </a:r>
            <a:endParaRPr sz="1500"/>
          </a:p>
          <a:p>
            <a:pPr indent="-323850" lvl="0" marL="457200" rtl="0" algn="l">
              <a:spcBef>
                <a:spcPts val="0"/>
              </a:spcBef>
              <a:spcAft>
                <a:spcPts val="0"/>
              </a:spcAft>
              <a:buSzPts val="1500"/>
              <a:buChar char="-"/>
            </a:pPr>
            <a:r>
              <a:rPr lang="en-US" sz="1500"/>
              <a:t>SVM</a:t>
            </a:r>
            <a:endParaRPr sz="1500"/>
          </a:p>
          <a:p>
            <a:pPr indent="0" lvl="0" marL="0" rtl="0" algn="l">
              <a:spcBef>
                <a:spcPts val="0"/>
              </a:spcBef>
              <a:spcAft>
                <a:spcPts val="0"/>
              </a:spcAft>
              <a:buNone/>
            </a:pPr>
            <a:r>
              <a:t/>
            </a:r>
            <a:endParaRPr sz="1500"/>
          </a:p>
          <a:p>
            <a:pPr indent="-323850" lvl="0" marL="457200" rtl="0" algn="l">
              <a:spcBef>
                <a:spcPts val="0"/>
              </a:spcBef>
              <a:spcAft>
                <a:spcPts val="0"/>
              </a:spcAft>
              <a:buSzPts val="1500"/>
              <a:buChar char="-"/>
            </a:pPr>
            <a:r>
              <a:rPr lang="en-US" sz="1500"/>
              <a:t>Random Forest</a:t>
            </a:r>
            <a:endParaRPr sz="1500"/>
          </a:p>
          <a:p>
            <a:pPr indent="0" lvl="0" marL="0" rtl="0" algn="l">
              <a:spcBef>
                <a:spcPts val="0"/>
              </a:spcBef>
              <a:spcAft>
                <a:spcPts val="0"/>
              </a:spcAft>
              <a:buNone/>
            </a:pPr>
            <a:r>
              <a:t/>
            </a:r>
            <a:endParaRPr sz="1500"/>
          </a:p>
          <a:p>
            <a:pPr indent="-323850" lvl="0" marL="457200" rtl="0" algn="l">
              <a:spcBef>
                <a:spcPts val="0"/>
              </a:spcBef>
              <a:spcAft>
                <a:spcPts val="0"/>
              </a:spcAft>
              <a:buSzPts val="1500"/>
              <a:buChar char="-"/>
            </a:pPr>
            <a:r>
              <a:rPr lang="en-US" sz="1500"/>
              <a:t>XGBoost</a:t>
            </a:r>
            <a:endParaRPr sz="150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448" name="Shape 448"/>
        <p:cNvGrpSpPr/>
        <p:nvPr/>
      </p:nvGrpSpPr>
      <p:grpSpPr>
        <a:xfrm>
          <a:off x="0" y="0"/>
          <a:ext cx="0" cy="0"/>
          <a:chOff x="0" y="0"/>
          <a:chExt cx="0" cy="0"/>
        </a:xfrm>
      </p:grpSpPr>
      <p:sp>
        <p:nvSpPr>
          <p:cNvPr id="449" name="Google Shape;449;g3b07f1a5d36_0_55"/>
          <p:cNvSpPr/>
          <p:nvPr/>
        </p:nvSpPr>
        <p:spPr>
          <a:xfrm rot="5939221">
            <a:off x="367677" y="335985"/>
            <a:ext cx="558861" cy="595013"/>
          </a:xfrm>
          <a:prstGeom prst="donut">
            <a:avLst>
              <a:gd fmla="val 25000" name="adj"/>
            </a:avLst>
          </a:prstGeom>
          <a:gradFill>
            <a:gsLst>
              <a:gs pos="0">
                <a:srgbClr val="402E7F"/>
              </a:gs>
              <a:gs pos="54000">
                <a:srgbClr val="BC7DB7">
                  <a:alpha val="2745"/>
                </a:srgbClr>
              </a:gs>
              <a:gs pos="100000">
                <a:srgbClr val="BC7DB7">
                  <a:alpha val="2745"/>
                </a:srgbClr>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g3b07f1a5d36_0_55"/>
          <p:cNvSpPr/>
          <p:nvPr/>
        </p:nvSpPr>
        <p:spPr>
          <a:xfrm rot="5939221">
            <a:off x="367677" y="335985"/>
            <a:ext cx="558861" cy="595013"/>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pic>
        <p:nvPicPr>
          <p:cNvPr descr="https://kimi-img.moonshot.cn/pub/slides/slides_tmpl/image/25-09-08-15:08:29-d2v81rdnfo2stf9dkdb0.jpg" id="451" name="Google Shape;451;g3b07f1a5d36_0_55"/>
          <p:cNvPicPr preferRelativeResize="0"/>
          <p:nvPr/>
        </p:nvPicPr>
        <p:blipFill rotWithShape="1">
          <a:blip r:embed="rId3">
            <a:alphaModFix/>
          </a:blip>
          <a:srcRect b="0" l="0" r="0" t="0"/>
          <a:stretch/>
        </p:blipFill>
        <p:spPr>
          <a:xfrm>
            <a:off x="-158750" y="-6350"/>
            <a:ext cx="12350749" cy="6960235"/>
          </a:xfrm>
          <a:prstGeom prst="rect">
            <a:avLst/>
          </a:prstGeom>
          <a:noFill/>
          <a:ln>
            <a:noFill/>
          </a:ln>
        </p:spPr>
      </p:pic>
      <p:sp>
        <p:nvSpPr>
          <p:cNvPr id="452" name="Google Shape;452;g3b07f1a5d36_0_55"/>
          <p:cNvSpPr/>
          <p:nvPr/>
        </p:nvSpPr>
        <p:spPr>
          <a:xfrm>
            <a:off x="3982551" y="2778761"/>
            <a:ext cx="342900" cy="304800"/>
          </a:xfrm>
          <a:custGeom>
            <a:rect b="b" l="l" r="r" t="t"/>
            <a:pathLst>
              <a:path extrusionOk="0" h="304800" w="342900">
                <a:moveTo>
                  <a:pt x="186333" y="51911"/>
                </a:moveTo>
                <a:cubicBezTo>
                  <a:pt x="191810" y="47565"/>
                  <a:pt x="195263" y="40838"/>
                  <a:pt x="195263" y="33338"/>
                </a:cubicBezTo>
                <a:cubicBezTo>
                  <a:pt x="195263" y="20181"/>
                  <a:pt x="184606" y="9525"/>
                  <a:pt x="171450" y="9525"/>
                </a:cubicBezTo>
                <a:cubicBezTo>
                  <a:pt x="158294" y="9525"/>
                  <a:pt x="147638" y="20181"/>
                  <a:pt x="147638" y="33338"/>
                </a:cubicBezTo>
                <a:cubicBezTo>
                  <a:pt x="147638" y="40838"/>
                  <a:pt x="151150" y="47565"/>
                  <a:pt x="156567" y="51911"/>
                </a:cubicBezTo>
                <a:lnTo>
                  <a:pt x="115848" y="115967"/>
                </a:lnTo>
                <a:cubicBezTo>
                  <a:pt x="109895" y="125313"/>
                  <a:pt x="97215" y="127635"/>
                  <a:pt x="88344" y="120968"/>
                </a:cubicBezTo>
                <a:lnTo>
                  <a:pt x="52923" y="94476"/>
                </a:lnTo>
                <a:cubicBezTo>
                  <a:pt x="55602" y="90666"/>
                  <a:pt x="57150" y="85963"/>
                  <a:pt x="57150" y="80962"/>
                </a:cubicBezTo>
                <a:cubicBezTo>
                  <a:pt x="57150" y="67806"/>
                  <a:pt x="46494" y="57150"/>
                  <a:pt x="33338" y="57150"/>
                </a:cubicBezTo>
                <a:cubicBezTo>
                  <a:pt x="20181" y="57150"/>
                  <a:pt x="9525" y="67806"/>
                  <a:pt x="9525" y="80962"/>
                </a:cubicBezTo>
                <a:cubicBezTo>
                  <a:pt x="9525" y="93940"/>
                  <a:pt x="19943" y="104537"/>
                  <a:pt x="32861" y="104775"/>
                </a:cubicBezTo>
                <a:lnTo>
                  <a:pt x="52268" y="234255"/>
                </a:lnTo>
                <a:cubicBezTo>
                  <a:pt x="55066" y="252889"/>
                  <a:pt x="71080" y="266700"/>
                  <a:pt x="89952" y="266700"/>
                </a:cubicBezTo>
                <a:lnTo>
                  <a:pt x="252948" y="266700"/>
                </a:lnTo>
                <a:cubicBezTo>
                  <a:pt x="271820" y="266700"/>
                  <a:pt x="287834" y="252889"/>
                  <a:pt x="290632" y="234255"/>
                </a:cubicBezTo>
                <a:lnTo>
                  <a:pt x="310039" y="104775"/>
                </a:lnTo>
                <a:cubicBezTo>
                  <a:pt x="322957" y="104537"/>
                  <a:pt x="333375" y="93940"/>
                  <a:pt x="333375" y="80962"/>
                </a:cubicBezTo>
                <a:cubicBezTo>
                  <a:pt x="333375" y="67806"/>
                  <a:pt x="322719" y="57150"/>
                  <a:pt x="309563" y="57150"/>
                </a:cubicBezTo>
                <a:cubicBezTo>
                  <a:pt x="296406" y="57150"/>
                  <a:pt x="285750" y="67806"/>
                  <a:pt x="285750" y="80962"/>
                </a:cubicBezTo>
                <a:cubicBezTo>
                  <a:pt x="285750" y="85963"/>
                  <a:pt x="287298" y="90666"/>
                  <a:pt x="289977" y="94476"/>
                </a:cubicBezTo>
                <a:lnTo>
                  <a:pt x="254615" y="121027"/>
                </a:lnTo>
                <a:cubicBezTo>
                  <a:pt x="245745" y="127695"/>
                  <a:pt x="233065" y="125373"/>
                  <a:pt x="227112" y="116026"/>
                </a:cubicBezTo>
                <a:lnTo>
                  <a:pt x="186333" y="5191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g3b07f1a5d36_0_55"/>
          <p:cNvSpPr/>
          <p:nvPr/>
        </p:nvSpPr>
        <p:spPr>
          <a:xfrm>
            <a:off x="174625" y="956000"/>
            <a:ext cx="11684000" cy="5334000"/>
          </a:xfrm>
          <a:custGeom>
            <a:rect b="b" l="l" r="r" t="t"/>
            <a:pathLst>
              <a:path extrusionOk="0" h="5334000" w="11684000">
                <a:moveTo>
                  <a:pt x="101613" y="0"/>
                </a:moveTo>
                <a:lnTo>
                  <a:pt x="11582387" y="0"/>
                </a:lnTo>
                <a:cubicBezTo>
                  <a:pt x="11638506" y="0"/>
                  <a:pt x="11684000" y="45494"/>
                  <a:pt x="11684000" y="101613"/>
                </a:cubicBezTo>
                <a:lnTo>
                  <a:pt x="11684000" y="5232387"/>
                </a:lnTo>
                <a:cubicBezTo>
                  <a:pt x="11684000" y="5288506"/>
                  <a:pt x="11638506" y="5334000"/>
                  <a:pt x="11582387" y="5334000"/>
                </a:cubicBezTo>
                <a:lnTo>
                  <a:pt x="101613" y="5334000"/>
                </a:lnTo>
                <a:cubicBezTo>
                  <a:pt x="45494" y="5334000"/>
                  <a:pt x="0" y="5288506"/>
                  <a:pt x="0" y="5232387"/>
                </a:cubicBezTo>
                <a:lnTo>
                  <a:pt x="0" y="101613"/>
                </a:lnTo>
                <a:cubicBezTo>
                  <a:pt x="0" y="45531"/>
                  <a:pt x="45531" y="0"/>
                  <a:pt x="101613" y="0"/>
                </a:cubicBezTo>
                <a:close/>
              </a:path>
            </a:pathLst>
          </a:custGeom>
          <a:solidFill>
            <a:srgbClr val="D3B9D7">
              <a:alpha val="2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454" name="Google Shape;454;g3b07f1a5d36_0_55"/>
          <p:cNvGraphicFramePr/>
          <p:nvPr/>
        </p:nvGraphicFramePr>
        <p:xfrm>
          <a:off x="468478" y="1272481"/>
          <a:ext cx="3000000" cy="3000000"/>
        </p:xfrm>
        <a:graphic>
          <a:graphicData uri="http://schemas.openxmlformats.org/drawingml/2006/table">
            <a:tbl>
              <a:tblPr>
                <a:noFill/>
                <a:tableStyleId>{FDD9D347-5531-4D46-939A-9E5DDEB418C4}</a:tableStyleId>
              </a:tblPr>
              <a:tblGrid>
                <a:gridCol w="3138425"/>
                <a:gridCol w="1623325"/>
                <a:gridCol w="1623325"/>
                <a:gridCol w="1623325"/>
                <a:gridCol w="1623325"/>
                <a:gridCol w="1623325"/>
              </a:tblGrid>
              <a:tr h="746650">
                <a:tc>
                  <a:txBody>
                    <a:bodyPr/>
                    <a:lstStyle/>
                    <a:p>
                      <a:pPr indent="0" lvl="0" marL="0" rtl="0" algn="l">
                        <a:spcBef>
                          <a:spcPts val="0"/>
                        </a:spcBef>
                        <a:spcAft>
                          <a:spcPts val="0"/>
                        </a:spcAft>
                        <a:buNone/>
                      </a:pPr>
                      <a:r>
                        <a:rPr b="1" lang="en-US" sz="1800"/>
                        <a:t>Model</a:t>
                      </a:r>
                      <a:endParaRPr b="1" sz="1800"/>
                    </a:p>
                  </a:txBody>
                  <a:tcPr marT="91425" marB="91425" marR="91425" marL="91425"/>
                </a:tc>
                <a:tc>
                  <a:txBody>
                    <a:bodyPr/>
                    <a:lstStyle/>
                    <a:p>
                      <a:pPr indent="0" lvl="0" marL="0" rtl="0" algn="l">
                        <a:spcBef>
                          <a:spcPts val="0"/>
                        </a:spcBef>
                        <a:spcAft>
                          <a:spcPts val="0"/>
                        </a:spcAft>
                        <a:buNone/>
                      </a:pPr>
                      <a:r>
                        <a:rPr b="1" lang="en-US" sz="1800"/>
                        <a:t>Accuracy</a:t>
                      </a:r>
                      <a:endParaRPr b="1" sz="1800"/>
                    </a:p>
                  </a:txBody>
                  <a:tcPr marT="91425" marB="91425" marR="91425" marL="91425"/>
                </a:tc>
                <a:tc>
                  <a:txBody>
                    <a:bodyPr/>
                    <a:lstStyle/>
                    <a:p>
                      <a:pPr indent="0" lvl="0" marL="0" rtl="0" algn="l">
                        <a:spcBef>
                          <a:spcPts val="0"/>
                        </a:spcBef>
                        <a:spcAft>
                          <a:spcPts val="0"/>
                        </a:spcAft>
                        <a:buNone/>
                      </a:pPr>
                      <a:r>
                        <a:rPr b="1" lang="en-US" sz="1800"/>
                        <a:t>F1-Score</a:t>
                      </a:r>
                      <a:endParaRPr b="1" sz="1800"/>
                    </a:p>
                  </a:txBody>
                  <a:tcPr marT="91425" marB="91425" marR="91425" marL="91425"/>
                </a:tc>
                <a:tc>
                  <a:txBody>
                    <a:bodyPr/>
                    <a:lstStyle/>
                    <a:p>
                      <a:pPr indent="0" lvl="0" marL="0" rtl="0" algn="l">
                        <a:spcBef>
                          <a:spcPts val="0"/>
                        </a:spcBef>
                        <a:spcAft>
                          <a:spcPts val="0"/>
                        </a:spcAft>
                        <a:buNone/>
                      </a:pPr>
                      <a:r>
                        <a:rPr b="1" lang="en-US" sz="1800"/>
                        <a:t>Precision</a:t>
                      </a:r>
                      <a:endParaRPr b="1" sz="1800"/>
                    </a:p>
                  </a:txBody>
                  <a:tcPr marT="91425" marB="91425" marR="91425" marL="91425"/>
                </a:tc>
                <a:tc>
                  <a:txBody>
                    <a:bodyPr/>
                    <a:lstStyle/>
                    <a:p>
                      <a:pPr indent="0" lvl="0" marL="0" rtl="0" algn="l">
                        <a:spcBef>
                          <a:spcPts val="0"/>
                        </a:spcBef>
                        <a:spcAft>
                          <a:spcPts val="0"/>
                        </a:spcAft>
                        <a:buNone/>
                      </a:pPr>
                      <a:r>
                        <a:rPr b="1" lang="en-US" sz="1800"/>
                        <a:t>Recall</a:t>
                      </a:r>
                      <a:endParaRPr b="1" sz="1800"/>
                    </a:p>
                  </a:txBody>
                  <a:tcPr marT="91425" marB="91425" marR="91425" marL="91425"/>
                </a:tc>
                <a:tc>
                  <a:txBody>
                    <a:bodyPr/>
                    <a:lstStyle/>
                    <a:p>
                      <a:pPr indent="0" lvl="0" marL="0" rtl="0" algn="l">
                        <a:spcBef>
                          <a:spcPts val="0"/>
                        </a:spcBef>
                        <a:spcAft>
                          <a:spcPts val="0"/>
                        </a:spcAft>
                        <a:buNone/>
                      </a:pPr>
                      <a:r>
                        <a:rPr b="1" lang="en-US" sz="1800"/>
                        <a:t>AUROC</a:t>
                      </a:r>
                      <a:endParaRPr b="1" sz="1800"/>
                    </a:p>
                  </a:txBody>
                  <a:tcPr marT="91425" marB="91425" marR="91425" marL="91425"/>
                </a:tc>
              </a:tr>
              <a:tr h="746650">
                <a:tc>
                  <a:txBody>
                    <a:bodyPr/>
                    <a:lstStyle/>
                    <a:p>
                      <a:pPr indent="0" lvl="0" marL="0" rtl="0" algn="l">
                        <a:spcBef>
                          <a:spcPts val="0"/>
                        </a:spcBef>
                        <a:spcAft>
                          <a:spcPts val="0"/>
                        </a:spcAft>
                        <a:buNone/>
                      </a:pPr>
                      <a:r>
                        <a:rPr b="1" lang="en-US" sz="1800"/>
                        <a:t>KNN</a:t>
                      </a:r>
                      <a:endParaRPr b="1" sz="1800"/>
                    </a:p>
                  </a:txBody>
                  <a:tcPr marT="91425" marB="91425" marR="91425" marL="91425"/>
                </a:tc>
                <a:tc>
                  <a:txBody>
                    <a:bodyPr/>
                    <a:lstStyle/>
                    <a:p>
                      <a:pPr indent="0" lvl="0" marL="0" rtl="0" algn="l">
                        <a:spcBef>
                          <a:spcPts val="0"/>
                        </a:spcBef>
                        <a:spcAft>
                          <a:spcPts val="0"/>
                        </a:spcAft>
                        <a:buNone/>
                      </a:pPr>
                      <a:r>
                        <a:rPr lang="en-US" sz="1700"/>
                        <a:t>~0.86</a:t>
                      </a:r>
                      <a:endParaRPr sz="1700"/>
                    </a:p>
                  </a:txBody>
                  <a:tcPr marT="91425" marB="91425" marR="91425" marL="91425"/>
                </a:tc>
                <a:tc>
                  <a:txBody>
                    <a:bodyPr/>
                    <a:lstStyle/>
                    <a:p>
                      <a:pPr indent="0" lvl="0" marL="0" rtl="0" algn="l">
                        <a:spcBef>
                          <a:spcPts val="0"/>
                        </a:spcBef>
                        <a:spcAft>
                          <a:spcPts val="0"/>
                        </a:spcAft>
                        <a:buNone/>
                      </a:pPr>
                      <a:r>
                        <a:rPr lang="en-US" sz="1700"/>
                        <a:t>~0.87</a:t>
                      </a:r>
                      <a:endParaRPr sz="1700"/>
                    </a:p>
                  </a:txBody>
                  <a:tcPr marT="91425" marB="91425" marR="91425" marL="91425"/>
                </a:tc>
                <a:tc>
                  <a:txBody>
                    <a:bodyPr/>
                    <a:lstStyle/>
                    <a:p>
                      <a:pPr indent="0" lvl="0" marL="0" rtl="0" algn="l">
                        <a:spcBef>
                          <a:spcPts val="0"/>
                        </a:spcBef>
                        <a:spcAft>
                          <a:spcPts val="0"/>
                        </a:spcAft>
                        <a:buNone/>
                      </a:pPr>
                      <a:r>
                        <a:rPr lang="en-US" sz="1700"/>
                        <a:t>~0.84</a:t>
                      </a:r>
                      <a:endParaRPr sz="1700"/>
                    </a:p>
                  </a:txBody>
                  <a:tcPr marT="91425" marB="91425" marR="91425" marL="91425"/>
                </a:tc>
                <a:tc>
                  <a:txBody>
                    <a:bodyPr/>
                    <a:lstStyle/>
                    <a:p>
                      <a:pPr indent="0" lvl="0" marL="0" rtl="0" algn="l">
                        <a:spcBef>
                          <a:spcPts val="0"/>
                        </a:spcBef>
                        <a:spcAft>
                          <a:spcPts val="0"/>
                        </a:spcAft>
                        <a:buNone/>
                      </a:pPr>
                      <a:r>
                        <a:rPr lang="en-US" sz="1700"/>
                        <a:t>~0.90</a:t>
                      </a:r>
                      <a:endParaRPr sz="1700"/>
                    </a:p>
                  </a:txBody>
                  <a:tcPr marT="91425" marB="91425" marR="91425" marL="91425"/>
                </a:tc>
                <a:tc>
                  <a:txBody>
                    <a:bodyPr/>
                    <a:lstStyle/>
                    <a:p>
                      <a:pPr indent="0" lvl="0" marL="0" rtl="0" algn="l">
                        <a:spcBef>
                          <a:spcPts val="0"/>
                        </a:spcBef>
                        <a:spcAft>
                          <a:spcPts val="0"/>
                        </a:spcAft>
                        <a:buNone/>
                      </a:pPr>
                      <a:r>
                        <a:rPr lang="en-US" sz="1700"/>
                        <a:t>~0.93</a:t>
                      </a:r>
                      <a:endParaRPr sz="1700"/>
                    </a:p>
                  </a:txBody>
                  <a:tcPr marT="91425" marB="91425" marR="91425" marL="91425"/>
                </a:tc>
              </a:tr>
              <a:tr h="746650">
                <a:tc>
                  <a:txBody>
                    <a:bodyPr/>
                    <a:lstStyle/>
                    <a:p>
                      <a:pPr indent="0" lvl="0" marL="0" rtl="0" algn="l">
                        <a:spcBef>
                          <a:spcPts val="0"/>
                        </a:spcBef>
                        <a:spcAft>
                          <a:spcPts val="0"/>
                        </a:spcAft>
                        <a:buNone/>
                      </a:pPr>
                      <a:r>
                        <a:rPr b="1" lang="en-US" sz="1800"/>
                        <a:t>SVM</a:t>
                      </a:r>
                      <a:endParaRPr b="1" sz="1800"/>
                    </a:p>
                  </a:txBody>
                  <a:tcPr marT="91425" marB="91425" marR="91425" marL="91425"/>
                </a:tc>
                <a:tc>
                  <a:txBody>
                    <a:bodyPr/>
                    <a:lstStyle/>
                    <a:p>
                      <a:pPr indent="0" lvl="0" marL="0" rtl="0" algn="l">
                        <a:spcBef>
                          <a:spcPts val="0"/>
                        </a:spcBef>
                        <a:spcAft>
                          <a:spcPts val="0"/>
                        </a:spcAft>
                        <a:buNone/>
                      </a:pPr>
                      <a:r>
                        <a:rPr lang="en-US" sz="1700"/>
                        <a:t>~0.88</a:t>
                      </a:r>
                      <a:endParaRPr sz="1700"/>
                    </a:p>
                  </a:txBody>
                  <a:tcPr marT="91425" marB="91425" marR="91425" marL="91425"/>
                </a:tc>
                <a:tc>
                  <a:txBody>
                    <a:bodyPr/>
                    <a:lstStyle/>
                    <a:p>
                      <a:pPr indent="0" lvl="0" marL="0" rtl="0" algn="l">
                        <a:spcBef>
                          <a:spcPts val="0"/>
                        </a:spcBef>
                        <a:spcAft>
                          <a:spcPts val="0"/>
                        </a:spcAft>
                        <a:buNone/>
                      </a:pPr>
                      <a:r>
                        <a:rPr lang="en-US" sz="1700"/>
                        <a:t>~0.88</a:t>
                      </a:r>
                      <a:endParaRPr sz="1700"/>
                    </a:p>
                  </a:txBody>
                  <a:tcPr marT="91425" marB="91425" marR="91425" marL="91425"/>
                </a:tc>
                <a:tc>
                  <a:txBody>
                    <a:bodyPr/>
                    <a:lstStyle/>
                    <a:p>
                      <a:pPr indent="0" lvl="0" marL="0" rtl="0" algn="l">
                        <a:spcBef>
                          <a:spcPts val="0"/>
                        </a:spcBef>
                        <a:spcAft>
                          <a:spcPts val="0"/>
                        </a:spcAft>
                        <a:buNone/>
                      </a:pPr>
                      <a:r>
                        <a:rPr lang="en-US" sz="1700"/>
                        <a:t>~0.89</a:t>
                      </a:r>
                      <a:endParaRPr sz="1700"/>
                    </a:p>
                  </a:txBody>
                  <a:tcPr marT="91425" marB="91425" marR="91425" marL="91425"/>
                </a:tc>
                <a:tc>
                  <a:txBody>
                    <a:bodyPr/>
                    <a:lstStyle/>
                    <a:p>
                      <a:pPr indent="0" lvl="0" marL="0" rtl="0" algn="l">
                        <a:spcBef>
                          <a:spcPts val="0"/>
                        </a:spcBef>
                        <a:spcAft>
                          <a:spcPts val="0"/>
                        </a:spcAft>
                        <a:buNone/>
                      </a:pPr>
                      <a:r>
                        <a:rPr lang="en-US" sz="1700"/>
                        <a:t>~0.87</a:t>
                      </a:r>
                      <a:endParaRPr sz="1700"/>
                    </a:p>
                  </a:txBody>
                  <a:tcPr marT="91425" marB="91425" marR="91425" marL="91425"/>
                </a:tc>
                <a:tc>
                  <a:txBody>
                    <a:bodyPr/>
                    <a:lstStyle/>
                    <a:p>
                      <a:pPr indent="0" lvl="0" marL="0" rtl="0" algn="l">
                        <a:spcBef>
                          <a:spcPts val="0"/>
                        </a:spcBef>
                        <a:spcAft>
                          <a:spcPts val="0"/>
                        </a:spcAft>
                        <a:buNone/>
                      </a:pPr>
                      <a:r>
                        <a:rPr lang="en-US" sz="1700"/>
                        <a:t>~0.94</a:t>
                      </a:r>
                      <a:endParaRPr sz="1700"/>
                    </a:p>
                  </a:txBody>
                  <a:tcPr marT="91425" marB="91425" marR="91425" marL="91425"/>
                </a:tc>
              </a:tr>
              <a:tr h="619750">
                <a:tc>
                  <a:txBody>
                    <a:bodyPr/>
                    <a:lstStyle/>
                    <a:p>
                      <a:pPr indent="0" lvl="0" marL="0" rtl="0" algn="l">
                        <a:spcBef>
                          <a:spcPts val="0"/>
                        </a:spcBef>
                        <a:spcAft>
                          <a:spcPts val="0"/>
                        </a:spcAft>
                        <a:buNone/>
                      </a:pPr>
                      <a:r>
                        <a:rPr b="1" lang="en-US" sz="1800"/>
                        <a:t>XGBoost</a:t>
                      </a:r>
                      <a:endParaRPr b="1" sz="1800"/>
                    </a:p>
                  </a:txBody>
                  <a:tcPr marT="91425" marB="91425" marR="91425" marL="91425"/>
                </a:tc>
                <a:tc>
                  <a:txBody>
                    <a:bodyPr/>
                    <a:lstStyle/>
                    <a:p>
                      <a:pPr indent="0" lvl="0" marL="0" rtl="0" algn="l">
                        <a:spcBef>
                          <a:spcPts val="0"/>
                        </a:spcBef>
                        <a:spcAft>
                          <a:spcPts val="0"/>
                        </a:spcAft>
                        <a:buNone/>
                      </a:pPr>
                      <a:r>
                        <a:rPr lang="en-US" sz="1700"/>
                        <a:t>~0.89</a:t>
                      </a:r>
                      <a:endParaRPr sz="1700"/>
                    </a:p>
                  </a:txBody>
                  <a:tcPr marT="91425" marB="91425" marR="91425" marL="91425"/>
                </a:tc>
                <a:tc>
                  <a:txBody>
                    <a:bodyPr/>
                    <a:lstStyle/>
                    <a:p>
                      <a:pPr indent="0" lvl="0" marL="0" rtl="0" algn="l">
                        <a:spcBef>
                          <a:spcPts val="0"/>
                        </a:spcBef>
                        <a:spcAft>
                          <a:spcPts val="0"/>
                        </a:spcAft>
                        <a:buNone/>
                      </a:pPr>
                      <a:r>
                        <a:rPr lang="en-US" sz="1700"/>
                        <a:t>~0.89</a:t>
                      </a:r>
                      <a:endParaRPr sz="1700"/>
                    </a:p>
                  </a:txBody>
                  <a:tcPr marT="91425" marB="91425" marR="91425" marL="91425"/>
                </a:tc>
                <a:tc>
                  <a:txBody>
                    <a:bodyPr/>
                    <a:lstStyle/>
                    <a:p>
                      <a:pPr indent="0" lvl="0" marL="0" rtl="0" algn="l">
                        <a:spcBef>
                          <a:spcPts val="0"/>
                        </a:spcBef>
                        <a:spcAft>
                          <a:spcPts val="0"/>
                        </a:spcAft>
                        <a:buNone/>
                      </a:pPr>
                      <a:r>
                        <a:rPr lang="en-US" sz="1700"/>
                        <a:t>~0.90</a:t>
                      </a:r>
                      <a:endParaRPr sz="1700"/>
                    </a:p>
                  </a:txBody>
                  <a:tcPr marT="91425" marB="91425" marR="91425" marL="91425"/>
                </a:tc>
                <a:tc>
                  <a:txBody>
                    <a:bodyPr/>
                    <a:lstStyle/>
                    <a:p>
                      <a:pPr indent="0" lvl="0" marL="0" rtl="0" algn="l">
                        <a:spcBef>
                          <a:spcPts val="0"/>
                        </a:spcBef>
                        <a:spcAft>
                          <a:spcPts val="0"/>
                        </a:spcAft>
                        <a:buNone/>
                      </a:pPr>
                      <a:r>
                        <a:rPr lang="en-US" sz="1700"/>
                        <a:t>~0.89</a:t>
                      </a:r>
                      <a:endParaRPr sz="1700"/>
                    </a:p>
                  </a:txBody>
                  <a:tcPr marT="91425" marB="91425" marR="91425" marL="91425"/>
                </a:tc>
                <a:tc>
                  <a:txBody>
                    <a:bodyPr/>
                    <a:lstStyle/>
                    <a:p>
                      <a:pPr indent="0" lvl="0" marL="0" rtl="0" algn="l">
                        <a:spcBef>
                          <a:spcPts val="0"/>
                        </a:spcBef>
                        <a:spcAft>
                          <a:spcPts val="0"/>
                        </a:spcAft>
                        <a:buNone/>
                      </a:pPr>
                      <a:r>
                        <a:rPr lang="en-US" sz="1700"/>
                        <a:t>~0.95</a:t>
                      </a:r>
                      <a:endParaRPr sz="1700"/>
                    </a:p>
                  </a:txBody>
                  <a:tcPr marT="91425" marB="91425" marR="91425" marL="91425"/>
                </a:tc>
              </a:tr>
              <a:tr h="457625">
                <a:tc>
                  <a:txBody>
                    <a:bodyPr/>
                    <a:lstStyle/>
                    <a:p>
                      <a:pPr indent="0" lvl="0" marL="0" rtl="0" algn="l">
                        <a:spcBef>
                          <a:spcPts val="0"/>
                        </a:spcBef>
                        <a:spcAft>
                          <a:spcPts val="0"/>
                        </a:spcAft>
                        <a:buNone/>
                      </a:pPr>
                      <a:r>
                        <a:rPr b="1" lang="en-US" sz="1800">
                          <a:solidFill>
                            <a:srgbClr val="7C1D56"/>
                          </a:solidFill>
                        </a:rPr>
                        <a:t>Random Forest</a:t>
                      </a:r>
                      <a:endParaRPr b="1" sz="1800">
                        <a:solidFill>
                          <a:srgbClr val="7C1D56"/>
                        </a:solidFill>
                      </a:endParaRPr>
                    </a:p>
                  </a:txBody>
                  <a:tcPr marT="91425" marB="91425" marR="91425" marL="91425">
                    <a:solidFill>
                      <a:srgbClr val="A95EAF">
                        <a:alpha val="18820"/>
                      </a:srgbClr>
                    </a:solidFill>
                  </a:tcPr>
                </a:tc>
                <a:tc>
                  <a:txBody>
                    <a:bodyPr/>
                    <a:lstStyle/>
                    <a:p>
                      <a:pPr indent="0" lvl="0" marL="0" rtl="0" algn="l">
                        <a:spcBef>
                          <a:spcPts val="0"/>
                        </a:spcBef>
                        <a:spcAft>
                          <a:spcPts val="0"/>
                        </a:spcAft>
                        <a:buNone/>
                      </a:pPr>
                      <a:r>
                        <a:rPr b="1" lang="en-US" sz="1700">
                          <a:solidFill>
                            <a:srgbClr val="7C1D56"/>
                          </a:solidFill>
                        </a:rPr>
                        <a:t>~0.91</a:t>
                      </a:r>
                      <a:endParaRPr b="1" sz="1700">
                        <a:solidFill>
                          <a:srgbClr val="7C1D56"/>
                        </a:solidFill>
                      </a:endParaRPr>
                    </a:p>
                  </a:txBody>
                  <a:tcPr marT="91425" marB="91425" marR="91425" marL="91425">
                    <a:solidFill>
                      <a:srgbClr val="A95EAF">
                        <a:alpha val="18820"/>
                      </a:srgbClr>
                    </a:solidFill>
                  </a:tcPr>
                </a:tc>
                <a:tc>
                  <a:txBody>
                    <a:bodyPr/>
                    <a:lstStyle/>
                    <a:p>
                      <a:pPr indent="0" lvl="0" marL="0" rtl="0" algn="l">
                        <a:spcBef>
                          <a:spcPts val="0"/>
                        </a:spcBef>
                        <a:spcAft>
                          <a:spcPts val="0"/>
                        </a:spcAft>
                        <a:buNone/>
                      </a:pPr>
                      <a:r>
                        <a:rPr b="1" lang="en-US" sz="1700">
                          <a:solidFill>
                            <a:srgbClr val="7C1D56"/>
                          </a:solidFill>
                        </a:rPr>
                        <a:t>~0.90</a:t>
                      </a:r>
                      <a:endParaRPr b="1" sz="1700">
                        <a:solidFill>
                          <a:srgbClr val="7C1D56"/>
                        </a:solidFill>
                      </a:endParaRPr>
                    </a:p>
                  </a:txBody>
                  <a:tcPr marT="91425" marB="91425" marR="91425" marL="91425">
                    <a:solidFill>
                      <a:srgbClr val="A95EAF">
                        <a:alpha val="18820"/>
                      </a:srgbClr>
                    </a:solidFill>
                  </a:tcPr>
                </a:tc>
                <a:tc>
                  <a:txBody>
                    <a:bodyPr/>
                    <a:lstStyle/>
                    <a:p>
                      <a:pPr indent="0" lvl="0" marL="0" rtl="0" algn="l">
                        <a:spcBef>
                          <a:spcPts val="0"/>
                        </a:spcBef>
                        <a:spcAft>
                          <a:spcPts val="0"/>
                        </a:spcAft>
                        <a:buNone/>
                      </a:pPr>
                      <a:r>
                        <a:rPr b="1" lang="en-US" sz="1700">
                          <a:solidFill>
                            <a:srgbClr val="7C1D56"/>
                          </a:solidFill>
                        </a:rPr>
                        <a:t>~0.91</a:t>
                      </a:r>
                      <a:endParaRPr b="1" sz="1700">
                        <a:solidFill>
                          <a:srgbClr val="7C1D56"/>
                        </a:solidFill>
                      </a:endParaRPr>
                    </a:p>
                  </a:txBody>
                  <a:tcPr marT="91425" marB="91425" marR="91425" marL="91425">
                    <a:solidFill>
                      <a:srgbClr val="A95EAF">
                        <a:alpha val="18820"/>
                      </a:srgbClr>
                    </a:solidFill>
                  </a:tcPr>
                </a:tc>
                <a:tc>
                  <a:txBody>
                    <a:bodyPr/>
                    <a:lstStyle/>
                    <a:p>
                      <a:pPr indent="0" lvl="0" marL="0" rtl="0" algn="l">
                        <a:spcBef>
                          <a:spcPts val="0"/>
                        </a:spcBef>
                        <a:spcAft>
                          <a:spcPts val="0"/>
                        </a:spcAft>
                        <a:buNone/>
                      </a:pPr>
                      <a:r>
                        <a:rPr b="1" lang="en-US" sz="1700">
                          <a:solidFill>
                            <a:srgbClr val="7C1D56"/>
                          </a:solidFill>
                        </a:rPr>
                        <a:t>~0.90</a:t>
                      </a:r>
                      <a:endParaRPr b="1" sz="1700">
                        <a:solidFill>
                          <a:srgbClr val="7C1D56"/>
                        </a:solidFill>
                      </a:endParaRPr>
                    </a:p>
                  </a:txBody>
                  <a:tcPr marT="91425" marB="91425" marR="91425" marL="91425">
                    <a:solidFill>
                      <a:srgbClr val="A95EAF">
                        <a:alpha val="18820"/>
                      </a:srgbClr>
                    </a:solidFill>
                  </a:tcPr>
                </a:tc>
                <a:tc>
                  <a:txBody>
                    <a:bodyPr/>
                    <a:lstStyle/>
                    <a:p>
                      <a:pPr indent="0" lvl="0" marL="0" rtl="0" algn="l">
                        <a:spcBef>
                          <a:spcPts val="0"/>
                        </a:spcBef>
                        <a:spcAft>
                          <a:spcPts val="0"/>
                        </a:spcAft>
                        <a:buNone/>
                      </a:pPr>
                      <a:r>
                        <a:rPr b="1" lang="en-US" sz="1700">
                          <a:solidFill>
                            <a:srgbClr val="7C1D56"/>
                          </a:solidFill>
                        </a:rPr>
                        <a:t>~0.96</a:t>
                      </a:r>
                      <a:endParaRPr b="1" sz="1700">
                        <a:solidFill>
                          <a:srgbClr val="7C1D56"/>
                        </a:solidFill>
                      </a:endParaRPr>
                    </a:p>
                  </a:txBody>
                  <a:tcPr marT="91425" marB="91425" marR="91425" marL="91425">
                    <a:solidFill>
                      <a:srgbClr val="A95EAF">
                        <a:alpha val="18820"/>
                      </a:srgbClr>
                    </a:solidFill>
                  </a:tcPr>
                </a:tc>
              </a:tr>
            </a:tbl>
          </a:graphicData>
        </a:graphic>
      </p:graphicFrame>
      <p:sp>
        <p:nvSpPr>
          <p:cNvPr id="455" name="Google Shape;455;g3b07f1a5d36_0_55"/>
          <p:cNvSpPr/>
          <p:nvPr/>
        </p:nvSpPr>
        <p:spPr>
          <a:xfrm>
            <a:off x="551647" y="5165006"/>
            <a:ext cx="457200" cy="457200"/>
          </a:xfrm>
          <a:custGeom>
            <a:rect b="b" l="l" r="r" t="t"/>
            <a:pathLst>
              <a:path extrusionOk="0" h="609600" w="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8F5C9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6" name="Google Shape;456;g3b07f1a5d36_0_55"/>
          <p:cNvSpPr/>
          <p:nvPr/>
        </p:nvSpPr>
        <p:spPr>
          <a:xfrm>
            <a:off x="660232" y="5290736"/>
            <a:ext cx="257175" cy="228600"/>
          </a:xfrm>
          <a:custGeom>
            <a:rect b="b" l="l" r="r" t="t"/>
            <a:pathLst>
              <a:path extrusionOk="0" h="304800" w="342900">
                <a:moveTo>
                  <a:pt x="186333" y="51911"/>
                </a:moveTo>
                <a:cubicBezTo>
                  <a:pt x="191810" y="47565"/>
                  <a:pt x="195263" y="40838"/>
                  <a:pt x="195263" y="33338"/>
                </a:cubicBezTo>
                <a:cubicBezTo>
                  <a:pt x="195263" y="20181"/>
                  <a:pt x="184606" y="9525"/>
                  <a:pt x="171450" y="9525"/>
                </a:cubicBezTo>
                <a:cubicBezTo>
                  <a:pt x="158294" y="9525"/>
                  <a:pt x="147638" y="20181"/>
                  <a:pt x="147638" y="33338"/>
                </a:cubicBezTo>
                <a:cubicBezTo>
                  <a:pt x="147638" y="40838"/>
                  <a:pt x="151150" y="47565"/>
                  <a:pt x="156567" y="51911"/>
                </a:cubicBezTo>
                <a:lnTo>
                  <a:pt x="115848" y="115967"/>
                </a:lnTo>
                <a:cubicBezTo>
                  <a:pt x="109895" y="125313"/>
                  <a:pt x="97215" y="127635"/>
                  <a:pt x="88344" y="120968"/>
                </a:cubicBezTo>
                <a:lnTo>
                  <a:pt x="52923" y="94476"/>
                </a:lnTo>
                <a:cubicBezTo>
                  <a:pt x="55602" y="90666"/>
                  <a:pt x="57150" y="85963"/>
                  <a:pt x="57150" y="80962"/>
                </a:cubicBezTo>
                <a:cubicBezTo>
                  <a:pt x="57150" y="67806"/>
                  <a:pt x="46494" y="57150"/>
                  <a:pt x="33338" y="57150"/>
                </a:cubicBezTo>
                <a:cubicBezTo>
                  <a:pt x="20181" y="57150"/>
                  <a:pt x="9525" y="67806"/>
                  <a:pt x="9525" y="80962"/>
                </a:cubicBezTo>
                <a:cubicBezTo>
                  <a:pt x="9525" y="93940"/>
                  <a:pt x="19943" y="104537"/>
                  <a:pt x="32861" y="104775"/>
                </a:cubicBezTo>
                <a:lnTo>
                  <a:pt x="52268" y="234255"/>
                </a:lnTo>
                <a:cubicBezTo>
                  <a:pt x="55066" y="252889"/>
                  <a:pt x="71080" y="266700"/>
                  <a:pt x="89952" y="266700"/>
                </a:cubicBezTo>
                <a:lnTo>
                  <a:pt x="252948" y="266700"/>
                </a:lnTo>
                <a:cubicBezTo>
                  <a:pt x="271820" y="266700"/>
                  <a:pt x="287834" y="252889"/>
                  <a:pt x="290632" y="234255"/>
                </a:cubicBezTo>
                <a:lnTo>
                  <a:pt x="310039" y="104775"/>
                </a:lnTo>
                <a:cubicBezTo>
                  <a:pt x="322957" y="104537"/>
                  <a:pt x="333375" y="93940"/>
                  <a:pt x="333375" y="80962"/>
                </a:cubicBezTo>
                <a:cubicBezTo>
                  <a:pt x="333375" y="67806"/>
                  <a:pt x="322719" y="57150"/>
                  <a:pt x="309563" y="57150"/>
                </a:cubicBezTo>
                <a:cubicBezTo>
                  <a:pt x="296406" y="57150"/>
                  <a:pt x="285750" y="67806"/>
                  <a:pt x="285750" y="80962"/>
                </a:cubicBezTo>
                <a:cubicBezTo>
                  <a:pt x="285750" y="85963"/>
                  <a:pt x="287298" y="90666"/>
                  <a:pt x="289977" y="94476"/>
                </a:cubicBezTo>
                <a:lnTo>
                  <a:pt x="254615" y="121027"/>
                </a:lnTo>
                <a:cubicBezTo>
                  <a:pt x="245745" y="127695"/>
                  <a:pt x="233065" y="125373"/>
                  <a:pt x="227112" y="116026"/>
                </a:cubicBezTo>
                <a:lnTo>
                  <a:pt x="186333" y="51911"/>
                </a:lnTo>
                <a:close/>
              </a:path>
            </a:pathLst>
          </a:cu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050"/>
          </a:p>
        </p:txBody>
      </p:sp>
      <p:sp>
        <p:nvSpPr>
          <p:cNvPr id="457" name="Google Shape;457;g3b07f1a5d36_0_55"/>
          <p:cNvSpPr/>
          <p:nvPr/>
        </p:nvSpPr>
        <p:spPr>
          <a:xfrm>
            <a:off x="130175" y="5260575"/>
            <a:ext cx="11772900" cy="2541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600" cap="none" strike="noStrike">
                <a:solidFill>
                  <a:srgbClr val="A95EAF"/>
                </a:solidFill>
              </a:rPr>
              <a:t>Random Forest</a:t>
            </a:r>
            <a:r>
              <a:rPr b="1" i="0" lang="en-US" sz="1600" u="none" cap="none" strike="noStrike">
                <a:solidFill>
                  <a:srgbClr val="3C3542"/>
                </a:solidFill>
              </a:rPr>
              <a:t> achieved the highest mean accuracy and stability, making it our final candidate model.</a:t>
            </a:r>
            <a:endParaRPr b="1" i="0" sz="1800" u="none" cap="none" strike="noStrike"/>
          </a:p>
        </p:txBody>
      </p:sp>
      <p:sp>
        <p:nvSpPr>
          <p:cNvPr id="458" name="Google Shape;458;g3b07f1a5d36_0_55"/>
          <p:cNvSpPr/>
          <p:nvPr/>
        </p:nvSpPr>
        <p:spPr>
          <a:xfrm>
            <a:off x="158750" y="254000"/>
            <a:ext cx="11874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3000" u="none" cap="none" strike="noStrike">
                <a:solidFill>
                  <a:srgbClr val="8F5C9A"/>
                </a:solidFill>
                <a:latin typeface="Noto Sans SC"/>
                <a:ea typeface="Noto Sans SC"/>
                <a:cs typeface="Noto Sans SC"/>
                <a:sym typeface="Noto Sans SC"/>
              </a:rPr>
              <a:t>Models Comparison</a:t>
            </a:r>
            <a:endParaRPr b="0" i="0" sz="1600" u="none" cap="none" strike="noStrike"/>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463" name="Shape 463"/>
        <p:cNvGrpSpPr/>
        <p:nvPr/>
      </p:nvGrpSpPr>
      <p:grpSpPr>
        <a:xfrm>
          <a:off x="0" y="0"/>
          <a:ext cx="0" cy="0"/>
          <a:chOff x="0" y="0"/>
          <a:chExt cx="0" cy="0"/>
        </a:xfrm>
      </p:grpSpPr>
      <p:sp>
        <p:nvSpPr>
          <p:cNvPr id="464" name="Google Shape;464;p10"/>
          <p:cNvSpPr/>
          <p:nvPr/>
        </p:nvSpPr>
        <p:spPr>
          <a:xfrm rot="5940000">
            <a:off x="367665" y="335915"/>
            <a:ext cx="558800" cy="594995"/>
          </a:xfrm>
          <a:prstGeom prst="donut">
            <a:avLst>
              <a:gd fmla="val 25000" name="adj"/>
            </a:avLst>
          </a:prstGeom>
          <a:gradFill>
            <a:gsLst>
              <a:gs pos="0">
                <a:srgbClr val="402E7F"/>
              </a:gs>
              <a:gs pos="54000">
                <a:srgbClr val="BC7DB7">
                  <a:alpha val="2745"/>
                </a:srgbClr>
              </a:gs>
              <a:gs pos="100000">
                <a:srgbClr val="BC7DB7">
                  <a:alpha val="2745"/>
                </a:srgbClr>
              </a:gs>
            </a:gsLst>
            <a:lin ang="189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0"/>
          <p:cNvSpPr/>
          <p:nvPr/>
        </p:nvSpPr>
        <p:spPr>
          <a:xfrm rot="5940000">
            <a:off x="367665" y="335915"/>
            <a:ext cx="558800" cy="594995"/>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pic>
        <p:nvPicPr>
          <p:cNvPr descr="https://kimi-img.moonshot.cn/pub/slides/slides_tmpl/image/25-09-08-15:08:29-d2v81rdnfo2stf9dkdb0.jpg" id="466" name="Google Shape;466;p10"/>
          <p:cNvPicPr preferRelativeResize="0"/>
          <p:nvPr/>
        </p:nvPicPr>
        <p:blipFill rotWithShape="1">
          <a:blip r:embed="rId3">
            <a:alphaModFix/>
          </a:blip>
          <a:srcRect b="0" l="0" r="0" t="0"/>
          <a:stretch/>
        </p:blipFill>
        <p:spPr>
          <a:xfrm>
            <a:off x="-158750" y="-6350"/>
            <a:ext cx="12350750" cy="6960235"/>
          </a:xfrm>
          <a:prstGeom prst="rect">
            <a:avLst/>
          </a:prstGeom>
          <a:noFill/>
          <a:ln>
            <a:noFill/>
          </a:ln>
        </p:spPr>
      </p:pic>
      <p:sp>
        <p:nvSpPr>
          <p:cNvPr id="467" name="Google Shape;467;p10"/>
          <p:cNvSpPr/>
          <p:nvPr/>
        </p:nvSpPr>
        <p:spPr>
          <a:xfrm>
            <a:off x="3982551" y="2778761"/>
            <a:ext cx="342900" cy="304800"/>
          </a:xfrm>
          <a:custGeom>
            <a:rect b="b" l="l" r="r" t="t"/>
            <a:pathLst>
              <a:path extrusionOk="0" h="304800" w="342900">
                <a:moveTo>
                  <a:pt x="186333" y="51911"/>
                </a:moveTo>
                <a:cubicBezTo>
                  <a:pt x="191810" y="47565"/>
                  <a:pt x="195263" y="40838"/>
                  <a:pt x="195263" y="33338"/>
                </a:cubicBezTo>
                <a:cubicBezTo>
                  <a:pt x="195263" y="20181"/>
                  <a:pt x="184606" y="9525"/>
                  <a:pt x="171450" y="9525"/>
                </a:cubicBezTo>
                <a:cubicBezTo>
                  <a:pt x="158294" y="9525"/>
                  <a:pt x="147638" y="20181"/>
                  <a:pt x="147638" y="33338"/>
                </a:cubicBezTo>
                <a:cubicBezTo>
                  <a:pt x="147638" y="40838"/>
                  <a:pt x="151150" y="47565"/>
                  <a:pt x="156567" y="51911"/>
                </a:cubicBezTo>
                <a:lnTo>
                  <a:pt x="115848" y="115967"/>
                </a:lnTo>
                <a:cubicBezTo>
                  <a:pt x="109895" y="125313"/>
                  <a:pt x="97215" y="127635"/>
                  <a:pt x="88344" y="120968"/>
                </a:cubicBezTo>
                <a:lnTo>
                  <a:pt x="52923" y="94476"/>
                </a:lnTo>
                <a:cubicBezTo>
                  <a:pt x="55602" y="90666"/>
                  <a:pt x="57150" y="85963"/>
                  <a:pt x="57150" y="80962"/>
                </a:cubicBezTo>
                <a:cubicBezTo>
                  <a:pt x="57150" y="67806"/>
                  <a:pt x="46494" y="57150"/>
                  <a:pt x="33338" y="57150"/>
                </a:cubicBezTo>
                <a:cubicBezTo>
                  <a:pt x="20181" y="57150"/>
                  <a:pt x="9525" y="67806"/>
                  <a:pt x="9525" y="80962"/>
                </a:cubicBezTo>
                <a:cubicBezTo>
                  <a:pt x="9525" y="93940"/>
                  <a:pt x="19943" y="104537"/>
                  <a:pt x="32861" y="104775"/>
                </a:cubicBezTo>
                <a:lnTo>
                  <a:pt x="52268" y="234255"/>
                </a:lnTo>
                <a:cubicBezTo>
                  <a:pt x="55066" y="252889"/>
                  <a:pt x="71080" y="266700"/>
                  <a:pt x="89952" y="266700"/>
                </a:cubicBezTo>
                <a:lnTo>
                  <a:pt x="252948" y="266700"/>
                </a:lnTo>
                <a:cubicBezTo>
                  <a:pt x="271820" y="266700"/>
                  <a:pt x="287834" y="252889"/>
                  <a:pt x="290632" y="234255"/>
                </a:cubicBezTo>
                <a:lnTo>
                  <a:pt x="310039" y="104775"/>
                </a:lnTo>
                <a:cubicBezTo>
                  <a:pt x="322957" y="104537"/>
                  <a:pt x="333375" y="93940"/>
                  <a:pt x="333375" y="80962"/>
                </a:cubicBezTo>
                <a:cubicBezTo>
                  <a:pt x="333375" y="67806"/>
                  <a:pt x="322719" y="57150"/>
                  <a:pt x="309563" y="57150"/>
                </a:cubicBezTo>
                <a:cubicBezTo>
                  <a:pt x="296406" y="57150"/>
                  <a:pt x="285750" y="67806"/>
                  <a:pt x="285750" y="80962"/>
                </a:cubicBezTo>
                <a:cubicBezTo>
                  <a:pt x="285750" y="85963"/>
                  <a:pt x="287298" y="90666"/>
                  <a:pt x="289977" y="94476"/>
                </a:cubicBezTo>
                <a:lnTo>
                  <a:pt x="254615" y="121027"/>
                </a:lnTo>
                <a:cubicBezTo>
                  <a:pt x="245745" y="127695"/>
                  <a:pt x="233065" y="125373"/>
                  <a:pt x="227112" y="116026"/>
                </a:cubicBezTo>
                <a:lnTo>
                  <a:pt x="186333" y="5191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0"/>
          <p:cNvSpPr/>
          <p:nvPr/>
        </p:nvSpPr>
        <p:spPr>
          <a:xfrm>
            <a:off x="984600" y="680981"/>
            <a:ext cx="10091700" cy="11970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600" u="none" cap="none" strike="noStrike">
                <a:solidFill>
                  <a:srgbClr val="3C3542"/>
                </a:solidFill>
                <a:latin typeface="Arial"/>
                <a:ea typeface="Arial"/>
                <a:cs typeface="Arial"/>
                <a:sym typeface="Arial"/>
              </a:rPr>
              <a:t>Random Forest delivers the lowest false-negative rate, which is critical for not discarding potential drugs.</a:t>
            </a:r>
            <a:endParaRPr b="0" i="0" sz="1600" u="none" cap="none" strike="noStrike"/>
          </a:p>
        </p:txBody>
      </p:sp>
      <p:sp>
        <p:nvSpPr>
          <p:cNvPr id="469" name="Google Shape;469;p10"/>
          <p:cNvSpPr/>
          <p:nvPr/>
        </p:nvSpPr>
        <p:spPr>
          <a:xfrm>
            <a:off x="158750" y="343297"/>
            <a:ext cx="11874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3000">
                <a:solidFill>
                  <a:srgbClr val="8F5C9A"/>
                </a:solidFill>
                <a:latin typeface="Noto Sans SC"/>
                <a:ea typeface="Noto Sans SC"/>
                <a:cs typeface="Noto Sans SC"/>
                <a:sym typeface="Noto Sans SC"/>
              </a:rPr>
              <a:t>Confusion Matrix Insights</a:t>
            </a:r>
            <a:endParaRPr b="0" i="0" sz="1600" u="none" cap="none" strike="noStrike"/>
          </a:p>
        </p:txBody>
      </p:sp>
      <p:pic>
        <p:nvPicPr>
          <p:cNvPr id="470" name="Google Shape;470;p10"/>
          <p:cNvPicPr preferRelativeResize="0"/>
          <p:nvPr/>
        </p:nvPicPr>
        <p:blipFill rotWithShape="1">
          <a:blip r:embed="rId4">
            <a:alphaModFix/>
          </a:blip>
          <a:srcRect b="47698" l="-1255" r="0" t="0"/>
          <a:stretch/>
        </p:blipFill>
        <p:spPr>
          <a:xfrm>
            <a:off x="79325" y="2127000"/>
            <a:ext cx="11766525" cy="3317525"/>
          </a:xfrm>
          <a:prstGeom prst="rect">
            <a:avLst/>
          </a:prstGeom>
          <a:noFill/>
          <a:ln cap="flat" cmpd="sng" w="19050">
            <a:solidFill>
              <a:srgbClr val="7C1D56"/>
            </a:solidFill>
            <a:prstDash val="solid"/>
            <a:round/>
            <a:headEnd len="sm" w="sm" type="none"/>
            <a:tailEnd len="sm" w="sm" type="none"/>
          </a:ln>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475" name="Shape 475"/>
        <p:cNvGrpSpPr/>
        <p:nvPr/>
      </p:nvGrpSpPr>
      <p:grpSpPr>
        <a:xfrm>
          <a:off x="0" y="0"/>
          <a:ext cx="0" cy="0"/>
          <a:chOff x="0" y="0"/>
          <a:chExt cx="0" cy="0"/>
        </a:xfrm>
      </p:grpSpPr>
      <p:sp>
        <p:nvSpPr>
          <p:cNvPr id="476" name="Google Shape;476;p11"/>
          <p:cNvSpPr/>
          <p:nvPr/>
        </p:nvSpPr>
        <p:spPr>
          <a:xfrm rot="5940000">
            <a:off x="367665" y="335915"/>
            <a:ext cx="558800" cy="594995"/>
          </a:xfrm>
          <a:prstGeom prst="donut">
            <a:avLst>
              <a:gd fmla="val 25000" name="adj"/>
            </a:avLst>
          </a:prstGeom>
          <a:gradFill>
            <a:gsLst>
              <a:gs pos="0">
                <a:srgbClr val="402E7F"/>
              </a:gs>
              <a:gs pos="54000">
                <a:srgbClr val="BC7DB7">
                  <a:alpha val="2745"/>
                </a:srgbClr>
              </a:gs>
              <a:gs pos="100000">
                <a:srgbClr val="BC7DB7">
                  <a:alpha val="2745"/>
                </a:srgbClr>
              </a:gs>
            </a:gsLst>
            <a:lin ang="189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1"/>
          <p:cNvSpPr/>
          <p:nvPr/>
        </p:nvSpPr>
        <p:spPr>
          <a:xfrm rot="5940000">
            <a:off x="367665" y="335915"/>
            <a:ext cx="558800" cy="594995"/>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pic>
        <p:nvPicPr>
          <p:cNvPr descr="https://kimi-img.moonshot.cn/pub/slides/slides_tmpl/image/25-09-08-15:08:29-d2v81rdnfo2stf9dkdb0.jpg" id="478" name="Google Shape;478;p11"/>
          <p:cNvPicPr preferRelativeResize="0"/>
          <p:nvPr/>
        </p:nvPicPr>
        <p:blipFill rotWithShape="1">
          <a:blip r:embed="rId3">
            <a:alphaModFix/>
          </a:blip>
          <a:srcRect b="0" l="0" r="0" t="0"/>
          <a:stretch/>
        </p:blipFill>
        <p:spPr>
          <a:xfrm>
            <a:off x="-158750" y="-6350"/>
            <a:ext cx="12350750" cy="6960235"/>
          </a:xfrm>
          <a:prstGeom prst="rect">
            <a:avLst/>
          </a:prstGeom>
          <a:noFill/>
          <a:ln>
            <a:noFill/>
          </a:ln>
        </p:spPr>
      </p:pic>
      <p:sp>
        <p:nvSpPr>
          <p:cNvPr id="479" name="Google Shape;479;p11"/>
          <p:cNvSpPr/>
          <p:nvPr/>
        </p:nvSpPr>
        <p:spPr>
          <a:xfrm>
            <a:off x="1873325" y="965200"/>
            <a:ext cx="8286600" cy="609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US" sz="1600" u="none" cap="none" strike="noStrike">
                <a:solidFill>
                  <a:srgbClr val="3C3542"/>
                </a:solidFill>
                <a:latin typeface="Arial"/>
                <a:ea typeface="Arial"/>
                <a:cs typeface="Arial"/>
                <a:sym typeface="Arial"/>
              </a:rPr>
              <a:t>High AUC (0.96) signals reliable ranking, enabling enrichment of true actives in top-hit lists.</a:t>
            </a:r>
            <a:endParaRPr b="0" i="0" sz="1600" u="none" cap="none" strike="noStrike"/>
          </a:p>
        </p:txBody>
      </p:sp>
      <p:sp>
        <p:nvSpPr>
          <p:cNvPr id="480" name="Google Shape;480;p11"/>
          <p:cNvSpPr/>
          <p:nvPr/>
        </p:nvSpPr>
        <p:spPr>
          <a:xfrm>
            <a:off x="158750" y="343297"/>
            <a:ext cx="11874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3000">
                <a:solidFill>
                  <a:srgbClr val="8F5C9A"/>
                </a:solidFill>
                <a:latin typeface="Noto Sans SC"/>
                <a:ea typeface="Noto Sans SC"/>
                <a:cs typeface="Noto Sans SC"/>
                <a:sym typeface="Noto Sans SC"/>
              </a:rPr>
              <a:t>ROC Curve Analysis</a:t>
            </a:r>
            <a:endParaRPr b="0" i="0" sz="1600" u="none" cap="none" strike="noStrike"/>
          </a:p>
        </p:txBody>
      </p:sp>
      <p:pic>
        <p:nvPicPr>
          <p:cNvPr id="481" name="Google Shape;481;p11"/>
          <p:cNvPicPr preferRelativeResize="0"/>
          <p:nvPr/>
        </p:nvPicPr>
        <p:blipFill>
          <a:blip r:embed="rId4">
            <a:alphaModFix/>
          </a:blip>
          <a:stretch>
            <a:fillRect/>
          </a:stretch>
        </p:blipFill>
        <p:spPr>
          <a:xfrm>
            <a:off x="2916838" y="1574800"/>
            <a:ext cx="6199576" cy="5072375"/>
          </a:xfrm>
          <a:prstGeom prst="rect">
            <a:avLst/>
          </a:prstGeom>
          <a:noFill/>
          <a:ln cap="flat" cmpd="sng" w="19050">
            <a:solidFill>
              <a:srgbClr val="7C1D56"/>
            </a:solidFill>
            <a:prstDash val="solid"/>
            <a:round/>
            <a:headEnd len="sm" w="sm" type="none"/>
            <a:tailEnd len="sm" w="sm" type="none"/>
          </a:ln>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6" name="Shape 486"/>
        <p:cNvGrpSpPr/>
        <p:nvPr/>
      </p:nvGrpSpPr>
      <p:grpSpPr>
        <a:xfrm>
          <a:off x="0" y="0"/>
          <a:ext cx="0" cy="0"/>
          <a:chOff x="0" y="0"/>
          <a:chExt cx="0" cy="0"/>
        </a:xfrm>
      </p:grpSpPr>
      <p:sp>
        <p:nvSpPr>
          <p:cNvPr id="487" name="Google Shape;487;p12"/>
          <p:cNvSpPr/>
          <p:nvPr/>
        </p:nvSpPr>
        <p:spPr>
          <a:xfrm rot="5940000">
            <a:off x="367665" y="335915"/>
            <a:ext cx="558800" cy="594995"/>
          </a:xfrm>
          <a:prstGeom prst="donut">
            <a:avLst>
              <a:gd fmla="val 25000" name="adj"/>
            </a:avLst>
          </a:prstGeom>
          <a:gradFill>
            <a:gsLst>
              <a:gs pos="0">
                <a:srgbClr val="402E7F"/>
              </a:gs>
              <a:gs pos="54000">
                <a:srgbClr val="BC7DB7">
                  <a:alpha val="2745"/>
                </a:srgbClr>
              </a:gs>
              <a:gs pos="100000">
                <a:srgbClr val="BC7DB7">
                  <a:alpha val="2745"/>
                </a:srgbClr>
              </a:gs>
            </a:gsLst>
            <a:lin ang="189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2"/>
          <p:cNvSpPr/>
          <p:nvPr/>
        </p:nvSpPr>
        <p:spPr>
          <a:xfrm rot="5940000">
            <a:off x="367665" y="335915"/>
            <a:ext cx="558800" cy="594995"/>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489" name="Google Shape;489;p12"/>
          <p:cNvSpPr/>
          <p:nvPr/>
        </p:nvSpPr>
        <p:spPr>
          <a:xfrm>
            <a:off x="4445" y="0"/>
            <a:ext cx="12187555" cy="6875780"/>
          </a:xfrm>
          <a:prstGeom prst="rect">
            <a:avLst/>
          </a:prstGeom>
          <a:gradFill>
            <a:gsLst>
              <a:gs pos="0">
                <a:srgbClr val="D7B1D4"/>
              </a:gs>
              <a:gs pos="34000">
                <a:srgbClr val="BC7DB7"/>
              </a:gs>
              <a:gs pos="100000">
                <a:srgbClr val="30225F"/>
              </a:gs>
            </a:gsLst>
            <a:lin ang="135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2"/>
          <p:cNvSpPr/>
          <p:nvPr/>
        </p:nvSpPr>
        <p:spPr>
          <a:xfrm>
            <a:off x="4445" y="0"/>
            <a:ext cx="12187555" cy="68757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491" name="Google Shape;491;p12"/>
          <p:cNvSpPr/>
          <p:nvPr/>
        </p:nvSpPr>
        <p:spPr>
          <a:xfrm>
            <a:off x="85280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2"/>
          <p:cNvSpPr/>
          <p:nvPr/>
        </p:nvSpPr>
        <p:spPr>
          <a:xfrm>
            <a:off x="85280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493" name="Google Shape;493;p12"/>
          <p:cNvSpPr/>
          <p:nvPr/>
        </p:nvSpPr>
        <p:spPr>
          <a:xfrm>
            <a:off x="113665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2"/>
          <p:cNvSpPr/>
          <p:nvPr/>
        </p:nvSpPr>
        <p:spPr>
          <a:xfrm>
            <a:off x="113665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495" name="Google Shape;495;p12"/>
          <p:cNvSpPr/>
          <p:nvPr/>
        </p:nvSpPr>
        <p:spPr>
          <a:xfrm>
            <a:off x="142049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2"/>
          <p:cNvSpPr/>
          <p:nvPr/>
        </p:nvSpPr>
        <p:spPr>
          <a:xfrm>
            <a:off x="142049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497" name="Google Shape;497;p12"/>
          <p:cNvSpPr/>
          <p:nvPr/>
        </p:nvSpPr>
        <p:spPr>
          <a:xfrm>
            <a:off x="170434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2"/>
          <p:cNvSpPr/>
          <p:nvPr/>
        </p:nvSpPr>
        <p:spPr>
          <a:xfrm>
            <a:off x="170434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499" name="Google Shape;499;p12"/>
          <p:cNvSpPr/>
          <p:nvPr/>
        </p:nvSpPr>
        <p:spPr>
          <a:xfrm>
            <a:off x="198818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2"/>
          <p:cNvSpPr/>
          <p:nvPr/>
        </p:nvSpPr>
        <p:spPr>
          <a:xfrm>
            <a:off x="198818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501" name="Google Shape;501;p12"/>
          <p:cNvSpPr/>
          <p:nvPr/>
        </p:nvSpPr>
        <p:spPr>
          <a:xfrm>
            <a:off x="227203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2"/>
          <p:cNvSpPr/>
          <p:nvPr/>
        </p:nvSpPr>
        <p:spPr>
          <a:xfrm>
            <a:off x="227203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503" name="Google Shape;503;p12"/>
          <p:cNvSpPr/>
          <p:nvPr/>
        </p:nvSpPr>
        <p:spPr>
          <a:xfrm>
            <a:off x="11456035" y="381635"/>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2"/>
          <p:cNvSpPr/>
          <p:nvPr/>
        </p:nvSpPr>
        <p:spPr>
          <a:xfrm>
            <a:off x="11456035" y="381635"/>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505" name="Google Shape;505;p12"/>
          <p:cNvSpPr/>
          <p:nvPr/>
        </p:nvSpPr>
        <p:spPr>
          <a:xfrm>
            <a:off x="11456035" y="501650"/>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2"/>
          <p:cNvSpPr/>
          <p:nvPr/>
        </p:nvSpPr>
        <p:spPr>
          <a:xfrm>
            <a:off x="11456035" y="501650"/>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507" name="Google Shape;507;p12"/>
          <p:cNvSpPr/>
          <p:nvPr/>
        </p:nvSpPr>
        <p:spPr>
          <a:xfrm>
            <a:off x="11456035" y="621665"/>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2"/>
          <p:cNvSpPr/>
          <p:nvPr/>
        </p:nvSpPr>
        <p:spPr>
          <a:xfrm>
            <a:off x="11456035" y="621665"/>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cxnSp>
        <p:nvCxnSpPr>
          <p:cNvPr id="509" name="Google Shape;509;p12"/>
          <p:cNvCxnSpPr/>
          <p:nvPr/>
        </p:nvCxnSpPr>
        <p:spPr>
          <a:xfrm>
            <a:off x="1727190" y="6306820"/>
            <a:ext cx="10080000" cy="0"/>
          </a:xfrm>
          <a:prstGeom prst="straightConnector1">
            <a:avLst/>
          </a:prstGeom>
          <a:noFill/>
          <a:ln cap="flat" cmpd="sng" w="19050">
            <a:solidFill>
              <a:srgbClr val="FFFFFF"/>
            </a:solidFill>
            <a:prstDash val="solid"/>
            <a:round/>
            <a:headEnd len="sm" w="sm" type="none"/>
            <a:tailEnd len="sm" w="sm" type="none"/>
          </a:ln>
        </p:spPr>
      </p:cxnSp>
      <p:sp>
        <p:nvSpPr>
          <p:cNvPr id="510" name="Google Shape;510;p12"/>
          <p:cNvSpPr/>
          <p:nvPr/>
        </p:nvSpPr>
        <p:spPr>
          <a:xfrm>
            <a:off x="852805" y="6177280"/>
            <a:ext cx="259080" cy="2590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2"/>
          <p:cNvSpPr/>
          <p:nvPr/>
        </p:nvSpPr>
        <p:spPr>
          <a:xfrm>
            <a:off x="852805" y="6177280"/>
            <a:ext cx="259080" cy="2590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512" name="Google Shape;512;p12"/>
          <p:cNvSpPr/>
          <p:nvPr/>
        </p:nvSpPr>
        <p:spPr>
          <a:xfrm>
            <a:off x="979805" y="6177280"/>
            <a:ext cx="259080" cy="2590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2"/>
          <p:cNvSpPr/>
          <p:nvPr/>
        </p:nvSpPr>
        <p:spPr>
          <a:xfrm>
            <a:off x="979805" y="6177280"/>
            <a:ext cx="259080" cy="2590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514" name="Google Shape;514;p12"/>
          <p:cNvSpPr/>
          <p:nvPr/>
        </p:nvSpPr>
        <p:spPr>
          <a:xfrm>
            <a:off x="541655" y="2687320"/>
            <a:ext cx="11172825" cy="2306955"/>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2"/>
          <p:cNvSpPr/>
          <p:nvPr/>
        </p:nvSpPr>
        <p:spPr>
          <a:xfrm>
            <a:off x="541655" y="2687320"/>
            <a:ext cx="11172825" cy="2306955"/>
          </a:xfrm>
          <a:prstGeom prst="rect">
            <a:avLst/>
          </a:prstGeom>
          <a:noFill/>
          <a:ln>
            <a:noFill/>
          </a:ln>
        </p:spPr>
        <p:txBody>
          <a:bodyPr anchorCtr="0" anchor="t" bIns="45700" lIns="45700" spcFirstLastPara="1" rIns="91425" wrap="square" tIns="91425">
            <a:noAutofit/>
          </a:bodyPr>
          <a:lstStyle/>
          <a:p>
            <a:pPr indent="0" lvl="0" marL="0" marR="0" rtl="0" algn="ctr">
              <a:lnSpc>
                <a:spcPct val="100000"/>
              </a:lnSpc>
              <a:spcBef>
                <a:spcPts val="0"/>
              </a:spcBef>
              <a:spcAft>
                <a:spcPts val="0"/>
              </a:spcAft>
              <a:buNone/>
            </a:pPr>
            <a:r>
              <a:rPr b="1" lang="en-US" sz="7200">
                <a:solidFill>
                  <a:srgbClr val="FFFFFF"/>
                </a:solidFill>
              </a:rPr>
              <a:t>External Validation</a:t>
            </a:r>
            <a:endParaRPr b="0" i="0" sz="1600" u="none" cap="none" strike="noStrike"/>
          </a:p>
        </p:txBody>
      </p:sp>
      <p:sp>
        <p:nvSpPr>
          <p:cNvPr id="516" name="Google Shape;516;p12"/>
          <p:cNvSpPr/>
          <p:nvPr/>
        </p:nvSpPr>
        <p:spPr>
          <a:xfrm>
            <a:off x="2515235" y="1350010"/>
            <a:ext cx="7161530" cy="1198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200" u="none" cap="none" strike="noStrike">
                <a:solidFill>
                  <a:srgbClr val="FFFFFF"/>
                </a:solidFill>
                <a:latin typeface="Arial"/>
                <a:ea typeface="Arial"/>
                <a:cs typeface="Arial"/>
                <a:sym typeface="Arial"/>
              </a:rPr>
              <a:t>0</a:t>
            </a:r>
            <a:r>
              <a:rPr lang="en-US" sz="7200">
                <a:solidFill>
                  <a:srgbClr val="FFFFFF"/>
                </a:solidFill>
              </a:rPr>
              <a:t>5</a:t>
            </a:r>
            <a:endParaRPr b="0" i="0" sz="1600" u="none" cap="none" strike="noStrike"/>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521" name="Shape 521"/>
        <p:cNvGrpSpPr/>
        <p:nvPr/>
      </p:nvGrpSpPr>
      <p:grpSpPr>
        <a:xfrm>
          <a:off x="0" y="0"/>
          <a:ext cx="0" cy="0"/>
          <a:chOff x="0" y="0"/>
          <a:chExt cx="0" cy="0"/>
        </a:xfrm>
      </p:grpSpPr>
      <p:pic>
        <p:nvPicPr>
          <p:cNvPr descr="https://kimi-img.moonshot.cn/pub/slides/slides_tmpl/image/25-09-08-15:08:29-d2v81rdnfo2stf9dkdb0.jpg" id="522" name="Google Shape;522;p13"/>
          <p:cNvPicPr preferRelativeResize="0"/>
          <p:nvPr/>
        </p:nvPicPr>
        <p:blipFill rotWithShape="1">
          <a:blip r:embed="rId3">
            <a:alphaModFix/>
          </a:blip>
          <a:srcRect b="0" l="0" r="0" t="0"/>
          <a:stretch/>
        </p:blipFill>
        <p:spPr>
          <a:xfrm>
            <a:off x="-158750" y="-6350"/>
            <a:ext cx="12350749" cy="6960235"/>
          </a:xfrm>
          <a:prstGeom prst="rect">
            <a:avLst/>
          </a:prstGeom>
          <a:noFill/>
          <a:ln>
            <a:noFill/>
          </a:ln>
        </p:spPr>
      </p:pic>
      <p:sp>
        <p:nvSpPr>
          <p:cNvPr id="523" name="Google Shape;523;p13"/>
          <p:cNvSpPr/>
          <p:nvPr/>
        </p:nvSpPr>
        <p:spPr>
          <a:xfrm>
            <a:off x="158750" y="254000"/>
            <a:ext cx="118745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3000" u="none" cap="none" strike="noStrike">
                <a:solidFill>
                  <a:srgbClr val="8F5C9A"/>
                </a:solidFill>
                <a:latin typeface="Noto Sans SC"/>
                <a:ea typeface="Noto Sans SC"/>
                <a:cs typeface="Noto Sans SC"/>
                <a:sym typeface="Noto Sans SC"/>
              </a:rPr>
              <a:t>Validation Against External Molecules</a:t>
            </a:r>
            <a:endParaRPr b="0" i="0" sz="1600" u="none" cap="none" strike="noStrike"/>
          </a:p>
        </p:txBody>
      </p:sp>
      <p:sp>
        <p:nvSpPr>
          <p:cNvPr id="524" name="Google Shape;524;p13"/>
          <p:cNvSpPr/>
          <p:nvPr/>
        </p:nvSpPr>
        <p:spPr>
          <a:xfrm>
            <a:off x="203200" y="878450"/>
            <a:ext cx="11785500" cy="4572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t/>
            </a:r>
            <a:endParaRPr i="1" sz="1500"/>
          </a:p>
          <a:p>
            <a:pPr indent="0" lvl="0" marL="0" marR="0" rtl="0" algn="ctr">
              <a:lnSpc>
                <a:spcPct val="130000"/>
              </a:lnSpc>
              <a:spcBef>
                <a:spcPts val="0"/>
              </a:spcBef>
              <a:spcAft>
                <a:spcPts val="0"/>
              </a:spcAft>
              <a:buNone/>
            </a:pPr>
            <a:r>
              <a:rPr lang="en-US" sz="1500"/>
              <a:t>Retrained Random Forest on full balanced dataset (300 features) + Integrated Leakage Detector to distinguish memory from true prediction</a:t>
            </a:r>
            <a:r>
              <a:rPr lang="en-US" sz="1100"/>
              <a:t>.</a:t>
            </a:r>
            <a:endParaRPr sz="1100"/>
          </a:p>
          <a:p>
            <a:pPr indent="0" lvl="0" marL="0" marR="0" rtl="0" algn="ctr">
              <a:lnSpc>
                <a:spcPct val="130000"/>
              </a:lnSpc>
              <a:spcBef>
                <a:spcPts val="0"/>
              </a:spcBef>
              <a:spcAft>
                <a:spcPts val="0"/>
              </a:spcAft>
              <a:buNone/>
            </a:pPr>
            <a:r>
              <a:t/>
            </a:r>
            <a:endParaRPr sz="1600">
              <a:solidFill>
                <a:srgbClr val="3C3542"/>
              </a:solidFill>
            </a:endParaRPr>
          </a:p>
        </p:txBody>
      </p:sp>
      <p:sp>
        <p:nvSpPr>
          <p:cNvPr id="525" name="Google Shape;525;p13"/>
          <p:cNvSpPr/>
          <p:nvPr/>
        </p:nvSpPr>
        <p:spPr>
          <a:xfrm>
            <a:off x="254000" y="1654725"/>
            <a:ext cx="3759200" cy="4158234"/>
          </a:xfrm>
          <a:custGeom>
            <a:rect b="b" l="l" r="r" t="t"/>
            <a:pathLst>
              <a:path extrusionOk="0" h="5181600" w="3759200">
                <a:moveTo>
                  <a:pt x="101611" y="0"/>
                </a:moveTo>
                <a:lnTo>
                  <a:pt x="3657589" y="0"/>
                </a:lnTo>
                <a:cubicBezTo>
                  <a:pt x="3713707" y="0"/>
                  <a:pt x="3759200" y="45493"/>
                  <a:pt x="3759200" y="101611"/>
                </a:cubicBezTo>
                <a:lnTo>
                  <a:pt x="3759200" y="5079989"/>
                </a:lnTo>
                <a:cubicBezTo>
                  <a:pt x="3759200" y="5136107"/>
                  <a:pt x="3713707" y="5181600"/>
                  <a:pt x="3657589" y="5181600"/>
                </a:cubicBezTo>
                <a:lnTo>
                  <a:pt x="101611" y="5181600"/>
                </a:lnTo>
                <a:cubicBezTo>
                  <a:pt x="45493" y="5181600"/>
                  <a:pt x="0" y="5136107"/>
                  <a:pt x="0" y="5079989"/>
                </a:cubicBezTo>
                <a:lnTo>
                  <a:pt x="0" y="101611"/>
                </a:lnTo>
                <a:cubicBezTo>
                  <a:pt x="0" y="45530"/>
                  <a:pt x="45530" y="0"/>
                  <a:pt x="101611" y="0"/>
                </a:cubicBezTo>
                <a:close/>
              </a:path>
            </a:pathLst>
          </a:custGeom>
          <a:solidFill>
            <a:srgbClr val="D3B9D7">
              <a:alpha val="24705"/>
            </a:srgbClr>
          </a:solid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Clr>
                <a:srgbClr val="000000"/>
              </a:buClr>
              <a:buFont typeface="Arial"/>
              <a:buNone/>
            </a:pPr>
            <a:r>
              <a:t/>
            </a:r>
            <a:endParaRPr/>
          </a:p>
        </p:txBody>
      </p:sp>
      <p:sp>
        <p:nvSpPr>
          <p:cNvPr id="526" name="Google Shape;526;p13"/>
          <p:cNvSpPr/>
          <p:nvPr/>
        </p:nvSpPr>
        <p:spPr>
          <a:xfrm>
            <a:off x="1571100" y="1830325"/>
            <a:ext cx="1125000" cy="355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800" u="none" cap="none" strike="noStrike">
                <a:solidFill>
                  <a:srgbClr val="8F5C9A"/>
                </a:solidFill>
                <a:latin typeface="Arial"/>
                <a:ea typeface="Arial"/>
                <a:cs typeface="Arial"/>
                <a:sym typeface="Arial"/>
              </a:rPr>
              <a:t>Controls</a:t>
            </a:r>
            <a:endParaRPr b="0" i="0" sz="1600" u="none" cap="none" strike="noStrike"/>
          </a:p>
        </p:txBody>
      </p:sp>
      <p:sp>
        <p:nvSpPr>
          <p:cNvPr id="527" name="Google Shape;527;p13"/>
          <p:cNvSpPr/>
          <p:nvPr/>
        </p:nvSpPr>
        <p:spPr>
          <a:xfrm>
            <a:off x="4216400" y="1693600"/>
            <a:ext cx="3759200" cy="4158234"/>
          </a:xfrm>
          <a:custGeom>
            <a:rect b="b" l="l" r="r" t="t"/>
            <a:pathLst>
              <a:path extrusionOk="0" h="5181600" w="3759200">
                <a:moveTo>
                  <a:pt x="101611" y="0"/>
                </a:moveTo>
                <a:lnTo>
                  <a:pt x="3657589" y="0"/>
                </a:lnTo>
                <a:cubicBezTo>
                  <a:pt x="3713707" y="0"/>
                  <a:pt x="3759200" y="45493"/>
                  <a:pt x="3759200" y="101611"/>
                </a:cubicBezTo>
                <a:lnTo>
                  <a:pt x="3759200" y="5079989"/>
                </a:lnTo>
                <a:cubicBezTo>
                  <a:pt x="3759200" y="5136107"/>
                  <a:pt x="3713707" y="5181600"/>
                  <a:pt x="3657589" y="5181600"/>
                </a:cubicBezTo>
                <a:lnTo>
                  <a:pt x="101611" y="5181600"/>
                </a:lnTo>
                <a:cubicBezTo>
                  <a:pt x="45493" y="5181600"/>
                  <a:pt x="0" y="5136107"/>
                  <a:pt x="0" y="5079989"/>
                </a:cubicBezTo>
                <a:lnTo>
                  <a:pt x="0" y="101611"/>
                </a:lnTo>
                <a:cubicBezTo>
                  <a:pt x="0" y="45530"/>
                  <a:pt x="45530" y="0"/>
                  <a:pt x="101611" y="0"/>
                </a:cubicBezTo>
                <a:close/>
              </a:path>
            </a:pathLst>
          </a:custGeom>
          <a:solidFill>
            <a:srgbClr val="D3B9D7">
              <a:alpha val="24705"/>
            </a:srgbClr>
          </a:solidFill>
          <a:ln>
            <a:noFill/>
          </a:ln>
        </p:spPr>
        <p:txBody>
          <a:bodyPr anchorCtr="0" anchor="ctr" bIns="91425" lIns="91425" spcFirstLastPara="1" rIns="91425" wrap="square" tIns="91425">
            <a:noAutofit/>
          </a:bodyPr>
          <a:lstStyle/>
          <a:p>
            <a:pPr indent="0" lvl="0" marL="0" rtl="0" algn="r">
              <a:lnSpc>
                <a:spcPct val="130000"/>
              </a:lnSpc>
              <a:spcBef>
                <a:spcPts val="0"/>
              </a:spcBef>
              <a:spcAft>
                <a:spcPts val="0"/>
              </a:spcAft>
              <a:buClr>
                <a:srgbClr val="000000"/>
              </a:buClr>
              <a:buFont typeface="Arial"/>
              <a:buNone/>
            </a:pPr>
            <a:r>
              <a:t/>
            </a:r>
            <a:endParaRPr/>
          </a:p>
        </p:txBody>
      </p:sp>
      <p:sp>
        <p:nvSpPr>
          <p:cNvPr id="528" name="Google Shape;528;p13"/>
          <p:cNvSpPr/>
          <p:nvPr/>
        </p:nvSpPr>
        <p:spPr>
          <a:xfrm>
            <a:off x="4624025" y="1830475"/>
            <a:ext cx="3071400" cy="355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800">
                <a:solidFill>
                  <a:srgbClr val="8F5C9A"/>
                </a:solidFill>
              </a:rPr>
              <a:t>Experimental</a:t>
            </a:r>
            <a:r>
              <a:rPr b="1" i="0" lang="en-US" sz="1800" u="none" cap="none" strike="noStrike">
                <a:solidFill>
                  <a:srgbClr val="8F5C9A"/>
                </a:solidFill>
                <a:latin typeface="Arial"/>
                <a:ea typeface="Arial"/>
                <a:cs typeface="Arial"/>
                <a:sym typeface="Arial"/>
              </a:rPr>
              <a:t> Candidates</a:t>
            </a:r>
            <a:endParaRPr b="0" i="0" sz="1600" u="none" cap="none" strike="noStrike"/>
          </a:p>
        </p:txBody>
      </p:sp>
      <p:sp>
        <p:nvSpPr>
          <p:cNvPr id="529" name="Google Shape;529;p13"/>
          <p:cNvSpPr/>
          <p:nvPr/>
        </p:nvSpPr>
        <p:spPr>
          <a:xfrm>
            <a:off x="4934960" y="3200400"/>
            <a:ext cx="927300" cy="355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1600">
                <a:highlight>
                  <a:srgbClr val="D3B9D7"/>
                </a:highlight>
              </a:rPr>
              <a:t>Specificity</a:t>
            </a:r>
            <a:r>
              <a:rPr lang="en-US" sz="1500">
                <a:highlight>
                  <a:srgbClr val="D3B9D7"/>
                </a:highlight>
              </a:rPr>
              <a:t> </a:t>
            </a:r>
            <a:endParaRPr i="0" sz="1300" u="none" cap="none" strike="noStrike">
              <a:highlight>
                <a:srgbClr val="D3B9D7"/>
              </a:highlight>
            </a:endParaRPr>
          </a:p>
        </p:txBody>
      </p:sp>
      <p:sp>
        <p:nvSpPr>
          <p:cNvPr id="530" name="Google Shape;530;p13"/>
          <p:cNvSpPr/>
          <p:nvPr/>
        </p:nvSpPr>
        <p:spPr>
          <a:xfrm>
            <a:off x="984597" y="2387600"/>
            <a:ext cx="2857800" cy="304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600" u="none" cap="none" strike="noStrike">
                <a:solidFill>
                  <a:srgbClr val="3C3542"/>
                </a:solidFill>
                <a:latin typeface="Arial"/>
                <a:ea typeface="Arial"/>
                <a:cs typeface="Arial"/>
                <a:sym typeface="Arial"/>
              </a:rPr>
              <a:t>Positive Controls</a:t>
            </a:r>
            <a:endParaRPr b="0" i="0" sz="1600" u="none" cap="none" strike="noStrike"/>
          </a:p>
        </p:txBody>
      </p:sp>
      <p:sp>
        <p:nvSpPr>
          <p:cNvPr id="531" name="Google Shape;531;p13"/>
          <p:cNvSpPr/>
          <p:nvPr/>
        </p:nvSpPr>
        <p:spPr>
          <a:xfrm>
            <a:off x="494650" y="2362225"/>
            <a:ext cx="350520" cy="304800"/>
          </a:xfrm>
          <a:custGeom>
            <a:rect b="b" l="l" r="r" t="t"/>
            <a:pathLst>
              <a:path extrusionOk="0" h="304800" w="304800">
                <a:moveTo>
                  <a:pt x="19050" y="19050"/>
                </a:moveTo>
                <a:cubicBezTo>
                  <a:pt x="19050" y="8513"/>
                  <a:pt x="27563" y="0"/>
                  <a:pt x="38100" y="0"/>
                </a:cubicBezTo>
                <a:lnTo>
                  <a:pt x="171450" y="0"/>
                </a:lnTo>
                <a:cubicBezTo>
                  <a:pt x="181987" y="0"/>
                  <a:pt x="190500" y="8513"/>
                  <a:pt x="190500" y="19050"/>
                </a:cubicBezTo>
                <a:cubicBezTo>
                  <a:pt x="190500" y="29587"/>
                  <a:pt x="181987" y="38100"/>
                  <a:pt x="171450" y="38100"/>
                </a:cubicBezTo>
                <a:lnTo>
                  <a:pt x="171450" y="134183"/>
                </a:lnTo>
                <a:cubicBezTo>
                  <a:pt x="132100" y="152221"/>
                  <a:pt x="104775" y="191988"/>
                  <a:pt x="104775" y="238125"/>
                </a:cubicBezTo>
                <a:cubicBezTo>
                  <a:pt x="104775" y="261759"/>
                  <a:pt x="111919" y="283726"/>
                  <a:pt x="124242" y="301943"/>
                </a:cubicBezTo>
                <a:cubicBezTo>
                  <a:pt x="118110" y="303788"/>
                  <a:pt x="111562" y="304800"/>
                  <a:pt x="104775" y="304800"/>
                </a:cubicBezTo>
                <a:cubicBezTo>
                  <a:pt x="67925" y="304800"/>
                  <a:pt x="38100" y="274975"/>
                  <a:pt x="38100" y="238125"/>
                </a:cubicBezTo>
                <a:lnTo>
                  <a:pt x="38100" y="38100"/>
                </a:lnTo>
                <a:cubicBezTo>
                  <a:pt x="27563" y="38100"/>
                  <a:pt x="19050" y="29587"/>
                  <a:pt x="19050" y="19050"/>
                </a:cubicBezTo>
                <a:close/>
                <a:moveTo>
                  <a:pt x="76200" y="38100"/>
                </a:moveTo>
                <a:lnTo>
                  <a:pt x="76200" y="114300"/>
                </a:lnTo>
                <a:lnTo>
                  <a:pt x="133350" y="114300"/>
                </a:lnTo>
                <a:lnTo>
                  <a:pt x="133350" y="38100"/>
                </a:lnTo>
                <a:lnTo>
                  <a:pt x="76200" y="38100"/>
                </a:lnTo>
                <a:close/>
                <a:moveTo>
                  <a:pt x="133350" y="238125"/>
                </a:moveTo>
                <a:cubicBezTo>
                  <a:pt x="133350" y="190812"/>
                  <a:pt x="171762" y="152400"/>
                  <a:pt x="219075" y="152400"/>
                </a:cubicBezTo>
                <a:cubicBezTo>
                  <a:pt x="266388" y="152400"/>
                  <a:pt x="304800" y="190812"/>
                  <a:pt x="304800" y="238125"/>
                </a:cubicBezTo>
                <a:cubicBezTo>
                  <a:pt x="304800" y="285438"/>
                  <a:pt x="266388" y="323850"/>
                  <a:pt x="219075" y="323850"/>
                </a:cubicBezTo>
                <a:cubicBezTo>
                  <a:pt x="171762" y="323850"/>
                  <a:pt x="133350" y="285438"/>
                  <a:pt x="133350" y="238125"/>
                </a:cubicBezTo>
                <a:close/>
                <a:moveTo>
                  <a:pt x="253246" y="201870"/>
                </a:moveTo>
                <a:cubicBezTo>
                  <a:pt x="249019" y="198775"/>
                  <a:pt x="243007" y="199727"/>
                  <a:pt x="239911" y="203954"/>
                </a:cubicBezTo>
                <a:lnTo>
                  <a:pt x="208359" y="247352"/>
                </a:lnTo>
                <a:lnTo>
                  <a:pt x="192405" y="231398"/>
                </a:lnTo>
                <a:cubicBezTo>
                  <a:pt x="188714" y="227707"/>
                  <a:pt x="182642" y="227707"/>
                  <a:pt x="178951" y="231398"/>
                </a:cubicBezTo>
                <a:cubicBezTo>
                  <a:pt x="175260" y="235089"/>
                  <a:pt x="175260" y="241161"/>
                  <a:pt x="178951" y="244852"/>
                </a:cubicBezTo>
                <a:lnTo>
                  <a:pt x="202763" y="268665"/>
                </a:lnTo>
                <a:cubicBezTo>
                  <a:pt x="204728" y="270629"/>
                  <a:pt x="207466" y="271641"/>
                  <a:pt x="210264" y="271403"/>
                </a:cubicBezTo>
                <a:cubicBezTo>
                  <a:pt x="213062" y="271165"/>
                  <a:pt x="215563" y="269736"/>
                  <a:pt x="217230" y="267533"/>
                </a:cubicBezTo>
                <a:lnTo>
                  <a:pt x="255330" y="215146"/>
                </a:lnTo>
                <a:cubicBezTo>
                  <a:pt x="258425" y="210919"/>
                  <a:pt x="257473" y="204907"/>
                  <a:pt x="253246" y="201870"/>
                </a:cubicBezTo>
                <a:close/>
              </a:path>
            </a:pathLst>
          </a:custGeom>
          <a:solidFill>
            <a:srgbClr val="A95E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3"/>
          <p:cNvSpPr/>
          <p:nvPr/>
        </p:nvSpPr>
        <p:spPr>
          <a:xfrm>
            <a:off x="683225" y="2716300"/>
            <a:ext cx="3296400" cy="645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300" u="none" cap="none" strike="noStrike">
                <a:solidFill>
                  <a:srgbClr val="3C3542"/>
                </a:solidFill>
                <a:latin typeface="Arial"/>
                <a:ea typeface="Arial"/>
                <a:cs typeface="Arial"/>
                <a:sym typeface="Arial"/>
              </a:rPr>
              <a:t>Correctly flagged as 'IN DATASET' and predicted ACTIVE with high confidence.</a:t>
            </a:r>
            <a:endParaRPr b="0" i="0" sz="1500" u="none" cap="none" strike="noStrike"/>
          </a:p>
        </p:txBody>
      </p:sp>
      <p:sp>
        <p:nvSpPr>
          <p:cNvPr id="533" name="Google Shape;533;p13"/>
          <p:cNvSpPr/>
          <p:nvPr/>
        </p:nvSpPr>
        <p:spPr>
          <a:xfrm>
            <a:off x="1395975" y="3754650"/>
            <a:ext cx="1828800" cy="304800"/>
          </a:xfrm>
          <a:prstGeom prst="rect">
            <a:avLst/>
          </a:prstGeom>
          <a:noFill/>
          <a:ln>
            <a:noFill/>
          </a:ln>
        </p:spPr>
        <p:txBody>
          <a:bodyPr anchorCtr="0" anchor="ctr" bIns="0" lIns="0" spcFirstLastPara="1" rIns="0" wrap="square" tIns="0">
            <a:noAutofit/>
          </a:bodyPr>
          <a:lstStyle/>
          <a:p>
            <a:pPr indent="0" lvl="0" marL="0" marR="0" rtl="0" algn="r">
              <a:lnSpc>
                <a:spcPct val="130000"/>
              </a:lnSpc>
              <a:spcBef>
                <a:spcPts val="0"/>
              </a:spcBef>
              <a:spcAft>
                <a:spcPts val="0"/>
              </a:spcAft>
              <a:buNone/>
            </a:pPr>
            <a:r>
              <a:rPr b="1" lang="en-US" sz="1600">
                <a:solidFill>
                  <a:srgbClr val="3C3542"/>
                </a:solidFill>
              </a:rPr>
              <a:t>Donepezil</a:t>
            </a:r>
            <a:r>
              <a:rPr b="1" i="0" lang="en-US" sz="1600" u="none" cap="none" strike="noStrike">
                <a:solidFill>
                  <a:srgbClr val="3C3542"/>
                </a:solidFill>
                <a:latin typeface="Arial"/>
                <a:ea typeface="Arial"/>
                <a:cs typeface="Arial"/>
                <a:sym typeface="Arial"/>
              </a:rPr>
              <a:t>: </a:t>
            </a:r>
            <a:r>
              <a:rPr b="1" i="0" lang="en-US" sz="1600" u="none" cap="none" strike="noStrike">
                <a:solidFill>
                  <a:srgbClr val="7C1D56"/>
                </a:solidFill>
                <a:latin typeface="Arial"/>
                <a:ea typeface="Arial"/>
                <a:cs typeface="Arial"/>
                <a:sym typeface="Arial"/>
              </a:rPr>
              <a:t>0.</a:t>
            </a:r>
            <a:r>
              <a:rPr b="1" lang="en-US" sz="1600">
                <a:solidFill>
                  <a:srgbClr val="7C1D56"/>
                </a:solidFill>
              </a:rPr>
              <a:t>9</a:t>
            </a:r>
            <a:r>
              <a:rPr b="1" i="0" lang="en-US" sz="1600" u="none" cap="none" strike="noStrike">
                <a:solidFill>
                  <a:srgbClr val="7C1D56"/>
                </a:solidFill>
                <a:latin typeface="Arial"/>
                <a:ea typeface="Arial"/>
                <a:cs typeface="Arial"/>
                <a:sym typeface="Arial"/>
              </a:rPr>
              <a:t>8</a:t>
            </a:r>
            <a:endParaRPr b="0" i="0" sz="1600" u="none" cap="none" strike="noStrike"/>
          </a:p>
        </p:txBody>
      </p:sp>
      <p:sp>
        <p:nvSpPr>
          <p:cNvPr id="534" name="Google Shape;534;p13"/>
          <p:cNvSpPr/>
          <p:nvPr/>
        </p:nvSpPr>
        <p:spPr>
          <a:xfrm>
            <a:off x="1395931" y="3405575"/>
            <a:ext cx="1828800" cy="304800"/>
          </a:xfrm>
          <a:prstGeom prst="rect">
            <a:avLst/>
          </a:prstGeom>
          <a:noFill/>
          <a:ln>
            <a:noFill/>
          </a:ln>
        </p:spPr>
        <p:txBody>
          <a:bodyPr anchorCtr="0" anchor="ctr" bIns="0" lIns="0" spcFirstLastPara="1" rIns="0" wrap="square" tIns="0">
            <a:noAutofit/>
          </a:bodyPr>
          <a:lstStyle/>
          <a:p>
            <a:pPr indent="0" lvl="0" marL="0" marR="0" rtl="0" algn="r">
              <a:lnSpc>
                <a:spcPct val="130000"/>
              </a:lnSpc>
              <a:spcBef>
                <a:spcPts val="0"/>
              </a:spcBef>
              <a:spcAft>
                <a:spcPts val="0"/>
              </a:spcAft>
              <a:buNone/>
            </a:pPr>
            <a:r>
              <a:rPr b="1" lang="en-US" sz="1600">
                <a:solidFill>
                  <a:srgbClr val="3C3542"/>
                </a:solidFill>
              </a:rPr>
              <a:t>Galantamine</a:t>
            </a:r>
            <a:r>
              <a:rPr b="1" i="0" lang="en-US" sz="1600" u="none" cap="none" strike="noStrike">
                <a:solidFill>
                  <a:srgbClr val="3C3542"/>
                </a:solidFill>
                <a:latin typeface="Arial"/>
                <a:ea typeface="Arial"/>
                <a:cs typeface="Arial"/>
                <a:sym typeface="Arial"/>
              </a:rPr>
              <a:t>: </a:t>
            </a:r>
            <a:r>
              <a:rPr b="1" i="0" lang="en-US" sz="1600" u="none" cap="none" strike="noStrike">
                <a:solidFill>
                  <a:srgbClr val="7C1D56"/>
                </a:solidFill>
                <a:latin typeface="Arial"/>
                <a:ea typeface="Arial"/>
                <a:cs typeface="Arial"/>
                <a:sym typeface="Arial"/>
              </a:rPr>
              <a:t>0.</a:t>
            </a:r>
            <a:r>
              <a:rPr b="1" lang="en-US" sz="1600">
                <a:solidFill>
                  <a:srgbClr val="7C1D56"/>
                </a:solidFill>
              </a:rPr>
              <a:t>7</a:t>
            </a:r>
            <a:r>
              <a:rPr b="1" i="0" lang="en-US" sz="1600" u="none" cap="none" strike="noStrike">
                <a:solidFill>
                  <a:srgbClr val="7C1D56"/>
                </a:solidFill>
                <a:latin typeface="Arial"/>
                <a:ea typeface="Arial"/>
                <a:cs typeface="Arial"/>
                <a:sym typeface="Arial"/>
              </a:rPr>
              <a:t>8</a:t>
            </a:r>
            <a:endParaRPr b="0" i="0" sz="1600" u="none" cap="none" strike="noStrike"/>
          </a:p>
        </p:txBody>
      </p:sp>
      <p:sp>
        <p:nvSpPr>
          <p:cNvPr id="535" name="Google Shape;535;p13"/>
          <p:cNvSpPr/>
          <p:nvPr/>
        </p:nvSpPr>
        <p:spPr>
          <a:xfrm>
            <a:off x="1003796" y="4452800"/>
            <a:ext cx="2259600" cy="304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600" u="none" cap="none" strike="noStrike">
                <a:solidFill>
                  <a:srgbClr val="3C3542"/>
                </a:solidFill>
                <a:latin typeface="Arial"/>
                <a:ea typeface="Arial"/>
                <a:cs typeface="Arial"/>
                <a:sym typeface="Arial"/>
              </a:rPr>
              <a:t>Negative Control</a:t>
            </a:r>
            <a:endParaRPr b="0" i="0" sz="1600" u="none" cap="none" strike="noStrike"/>
          </a:p>
        </p:txBody>
      </p:sp>
      <p:sp>
        <p:nvSpPr>
          <p:cNvPr id="536" name="Google Shape;536;p13"/>
          <p:cNvSpPr/>
          <p:nvPr/>
        </p:nvSpPr>
        <p:spPr>
          <a:xfrm>
            <a:off x="517499" y="4452800"/>
            <a:ext cx="350520" cy="304800"/>
          </a:xfrm>
          <a:custGeom>
            <a:rect b="b" l="l" r="r" t="t"/>
            <a:pathLst>
              <a:path extrusionOk="0" h="304800" w="304800">
                <a:moveTo>
                  <a:pt x="203954" y="5596"/>
                </a:moveTo>
                <a:cubicBezTo>
                  <a:pt x="196513" y="-1845"/>
                  <a:pt x="184428" y="-1845"/>
                  <a:pt x="176986" y="5596"/>
                </a:cubicBezTo>
                <a:cubicBezTo>
                  <a:pt x="169545" y="13037"/>
                  <a:pt x="169545" y="25122"/>
                  <a:pt x="176986" y="32564"/>
                </a:cubicBezTo>
                <a:lnTo>
                  <a:pt x="182582" y="38100"/>
                </a:lnTo>
                <a:lnTo>
                  <a:pt x="16728" y="203954"/>
                </a:lnTo>
                <a:cubicBezTo>
                  <a:pt x="6013" y="214670"/>
                  <a:pt x="0" y="229195"/>
                  <a:pt x="0" y="244376"/>
                </a:cubicBezTo>
                <a:lnTo>
                  <a:pt x="0" y="247650"/>
                </a:lnTo>
                <a:cubicBezTo>
                  <a:pt x="0" y="279202"/>
                  <a:pt x="25598" y="304800"/>
                  <a:pt x="57150" y="304800"/>
                </a:cubicBezTo>
                <a:lnTo>
                  <a:pt x="60424" y="304800"/>
                </a:lnTo>
                <a:cubicBezTo>
                  <a:pt x="75605" y="304800"/>
                  <a:pt x="90130" y="298787"/>
                  <a:pt x="100846" y="288072"/>
                </a:cubicBezTo>
                <a:lnTo>
                  <a:pt x="266700" y="122218"/>
                </a:lnTo>
                <a:lnTo>
                  <a:pt x="272296" y="127814"/>
                </a:lnTo>
                <a:cubicBezTo>
                  <a:pt x="279737" y="135255"/>
                  <a:pt x="291822" y="135255"/>
                  <a:pt x="299264" y="127814"/>
                </a:cubicBezTo>
                <a:cubicBezTo>
                  <a:pt x="306705" y="120372"/>
                  <a:pt x="306705" y="108287"/>
                  <a:pt x="299264" y="100846"/>
                </a:cubicBezTo>
                <a:lnTo>
                  <a:pt x="204014" y="5596"/>
                </a:lnTo>
                <a:close/>
                <a:moveTo>
                  <a:pt x="122218" y="152400"/>
                </a:moveTo>
                <a:lnTo>
                  <a:pt x="209550" y="65068"/>
                </a:lnTo>
                <a:lnTo>
                  <a:pt x="239732" y="95250"/>
                </a:lnTo>
                <a:lnTo>
                  <a:pt x="182582" y="152400"/>
                </a:lnTo>
                <a:lnTo>
                  <a:pt x="122158" y="152400"/>
                </a:lnTo>
                <a:close/>
              </a:path>
            </a:pathLst>
          </a:custGeom>
          <a:solidFill>
            <a:srgbClr val="A95E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3"/>
          <p:cNvSpPr/>
          <p:nvPr/>
        </p:nvSpPr>
        <p:spPr>
          <a:xfrm>
            <a:off x="845125" y="4876500"/>
            <a:ext cx="2930400" cy="645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400" u="none" cap="none" strike="noStrike">
                <a:solidFill>
                  <a:srgbClr val="3C3542"/>
                </a:solidFill>
                <a:latin typeface="Arial"/>
                <a:ea typeface="Arial"/>
                <a:cs typeface="Arial"/>
                <a:sym typeface="Arial"/>
              </a:rPr>
              <a:t>Aspirin correctly predicted as NEW and Inactive (0.18).</a:t>
            </a:r>
            <a:endParaRPr b="0" i="0" sz="1600" u="none" cap="none" strike="noStrike"/>
          </a:p>
        </p:txBody>
      </p:sp>
      <p:sp>
        <p:nvSpPr>
          <p:cNvPr id="538" name="Google Shape;538;p13"/>
          <p:cNvSpPr/>
          <p:nvPr/>
        </p:nvSpPr>
        <p:spPr>
          <a:xfrm>
            <a:off x="4828812" y="2440025"/>
            <a:ext cx="3296400" cy="507900"/>
          </a:xfrm>
          <a:prstGeom prst="rect">
            <a:avLst/>
          </a:prstGeom>
          <a:noFill/>
          <a:ln>
            <a:noFill/>
          </a:ln>
        </p:spPr>
        <p:txBody>
          <a:bodyPr anchorCtr="0" anchor="ctr" bIns="101600" lIns="203200" spcFirstLastPara="1" rIns="203200" wrap="square" tIns="101600">
            <a:noAutofit/>
          </a:bodyPr>
          <a:lstStyle/>
          <a:p>
            <a:pPr indent="0" lvl="0" marL="0" rtl="0" algn="l">
              <a:lnSpc>
                <a:spcPct val="120000"/>
              </a:lnSpc>
              <a:spcBef>
                <a:spcPts val="0"/>
              </a:spcBef>
              <a:spcAft>
                <a:spcPts val="0"/>
              </a:spcAft>
              <a:buNone/>
            </a:pPr>
            <a:r>
              <a:rPr lang="en-US">
                <a:solidFill>
                  <a:srgbClr val="3C3542"/>
                </a:solidFill>
              </a:rPr>
              <a:t>Correctly rejected weak candidates from Vignaux et al.</a:t>
            </a:r>
            <a:endParaRPr b="0" i="0" sz="1600" u="none" cap="none" strike="noStrike">
              <a:highlight>
                <a:srgbClr val="8F5C9A"/>
              </a:highlight>
            </a:endParaRPr>
          </a:p>
        </p:txBody>
      </p:sp>
      <p:sp>
        <p:nvSpPr>
          <p:cNvPr id="539" name="Google Shape;539;p13"/>
          <p:cNvSpPr/>
          <p:nvPr/>
        </p:nvSpPr>
        <p:spPr>
          <a:xfrm>
            <a:off x="8178800" y="1867325"/>
            <a:ext cx="3797300" cy="3440430"/>
          </a:xfrm>
          <a:custGeom>
            <a:rect b="b" l="l" r="r" t="t"/>
            <a:pathLst>
              <a:path extrusionOk="0" h="3556000" w="3797300">
                <a:moveTo>
                  <a:pt x="203190" y="0"/>
                </a:moveTo>
                <a:lnTo>
                  <a:pt x="3594110" y="0"/>
                </a:lnTo>
                <a:cubicBezTo>
                  <a:pt x="3706329" y="0"/>
                  <a:pt x="3797300" y="90971"/>
                  <a:pt x="3797300" y="203190"/>
                </a:cubicBezTo>
                <a:lnTo>
                  <a:pt x="3797300" y="3352810"/>
                </a:lnTo>
                <a:cubicBezTo>
                  <a:pt x="3797300" y="3465029"/>
                  <a:pt x="3706329" y="3556000"/>
                  <a:pt x="3594110" y="3556000"/>
                </a:cubicBezTo>
                <a:lnTo>
                  <a:pt x="203190" y="3556000"/>
                </a:lnTo>
                <a:cubicBezTo>
                  <a:pt x="90971" y="3556000"/>
                  <a:pt x="0" y="3465029"/>
                  <a:pt x="0" y="3352810"/>
                </a:cubicBezTo>
                <a:lnTo>
                  <a:pt x="0" y="203190"/>
                </a:lnTo>
                <a:cubicBezTo>
                  <a:pt x="0" y="91046"/>
                  <a:pt x="91046" y="0"/>
                  <a:pt x="203190" y="0"/>
                </a:cubicBezTo>
                <a:close/>
              </a:path>
            </a:pathLst>
          </a:custGeom>
          <a:solidFill>
            <a:srgbClr val="D3B9D7">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3"/>
          <p:cNvSpPr/>
          <p:nvPr/>
        </p:nvSpPr>
        <p:spPr>
          <a:xfrm>
            <a:off x="4470502" y="2516050"/>
            <a:ext cx="304705" cy="355854"/>
          </a:xfrm>
          <a:custGeom>
            <a:rect b="b" l="l" r="r" t="t"/>
            <a:pathLst>
              <a:path extrusionOk="0" h="304800" w="266700">
                <a:moveTo>
                  <a:pt x="57150" y="304800"/>
                </a:moveTo>
                <a:lnTo>
                  <a:pt x="247650" y="304800"/>
                </a:lnTo>
                <a:cubicBezTo>
                  <a:pt x="258187" y="304800"/>
                  <a:pt x="266700" y="296287"/>
                  <a:pt x="266700" y="285750"/>
                </a:cubicBezTo>
                <a:cubicBezTo>
                  <a:pt x="266700" y="275213"/>
                  <a:pt x="258187" y="266700"/>
                  <a:pt x="247650" y="266700"/>
                </a:cubicBezTo>
                <a:lnTo>
                  <a:pt x="247650" y="226993"/>
                </a:lnTo>
                <a:cubicBezTo>
                  <a:pt x="258723" y="223064"/>
                  <a:pt x="266700" y="212467"/>
                  <a:pt x="266700" y="200025"/>
                </a:cubicBezTo>
                <a:lnTo>
                  <a:pt x="266700" y="28575"/>
                </a:lnTo>
                <a:cubicBezTo>
                  <a:pt x="266700" y="12799"/>
                  <a:pt x="253901" y="0"/>
                  <a:pt x="238125" y="0"/>
                </a:cubicBezTo>
                <a:lnTo>
                  <a:pt x="57150" y="0"/>
                </a:lnTo>
                <a:cubicBezTo>
                  <a:pt x="25598" y="0"/>
                  <a:pt x="0" y="25598"/>
                  <a:pt x="0" y="57150"/>
                </a:cubicBezTo>
                <a:lnTo>
                  <a:pt x="0" y="247650"/>
                </a:lnTo>
                <a:cubicBezTo>
                  <a:pt x="0" y="279202"/>
                  <a:pt x="25598" y="304800"/>
                  <a:pt x="57150" y="304800"/>
                </a:cubicBezTo>
                <a:close/>
                <a:moveTo>
                  <a:pt x="38100" y="247650"/>
                </a:moveTo>
                <a:cubicBezTo>
                  <a:pt x="38100" y="237113"/>
                  <a:pt x="46613" y="228600"/>
                  <a:pt x="57150" y="228600"/>
                </a:cubicBezTo>
                <a:lnTo>
                  <a:pt x="209550" y="228600"/>
                </a:lnTo>
                <a:lnTo>
                  <a:pt x="209550" y="266700"/>
                </a:lnTo>
                <a:lnTo>
                  <a:pt x="57150" y="266700"/>
                </a:lnTo>
                <a:cubicBezTo>
                  <a:pt x="46613" y="266700"/>
                  <a:pt x="38100" y="258187"/>
                  <a:pt x="38100" y="247650"/>
                </a:cubicBezTo>
                <a:close/>
                <a:moveTo>
                  <a:pt x="114300" y="71438"/>
                </a:moveTo>
                <a:cubicBezTo>
                  <a:pt x="114300" y="66199"/>
                  <a:pt x="118586" y="61912"/>
                  <a:pt x="123825" y="61912"/>
                </a:cubicBezTo>
                <a:lnTo>
                  <a:pt x="142875" y="61912"/>
                </a:lnTo>
                <a:cubicBezTo>
                  <a:pt x="148114" y="61912"/>
                  <a:pt x="152400" y="66199"/>
                  <a:pt x="152400" y="71438"/>
                </a:cubicBezTo>
                <a:lnTo>
                  <a:pt x="152400" y="95250"/>
                </a:lnTo>
                <a:lnTo>
                  <a:pt x="176212" y="95250"/>
                </a:lnTo>
                <a:cubicBezTo>
                  <a:pt x="181451" y="95250"/>
                  <a:pt x="185738" y="99536"/>
                  <a:pt x="185738" y="104775"/>
                </a:cubicBezTo>
                <a:lnTo>
                  <a:pt x="185738" y="123825"/>
                </a:lnTo>
                <a:cubicBezTo>
                  <a:pt x="185738" y="129064"/>
                  <a:pt x="181451" y="133350"/>
                  <a:pt x="176212" y="133350"/>
                </a:cubicBezTo>
                <a:lnTo>
                  <a:pt x="152400" y="133350"/>
                </a:lnTo>
                <a:lnTo>
                  <a:pt x="152400" y="157163"/>
                </a:lnTo>
                <a:cubicBezTo>
                  <a:pt x="152400" y="162401"/>
                  <a:pt x="148114" y="166688"/>
                  <a:pt x="142875" y="166688"/>
                </a:cubicBezTo>
                <a:lnTo>
                  <a:pt x="123825" y="166688"/>
                </a:lnTo>
                <a:cubicBezTo>
                  <a:pt x="118586" y="166688"/>
                  <a:pt x="114300" y="162401"/>
                  <a:pt x="114300" y="157163"/>
                </a:cubicBezTo>
                <a:lnTo>
                  <a:pt x="114300" y="133350"/>
                </a:lnTo>
                <a:lnTo>
                  <a:pt x="90488" y="133350"/>
                </a:lnTo>
                <a:cubicBezTo>
                  <a:pt x="85249" y="133350"/>
                  <a:pt x="80962" y="129064"/>
                  <a:pt x="80962" y="123825"/>
                </a:cubicBezTo>
                <a:lnTo>
                  <a:pt x="80962" y="104775"/>
                </a:lnTo>
                <a:cubicBezTo>
                  <a:pt x="80962" y="99536"/>
                  <a:pt x="85249" y="95250"/>
                  <a:pt x="90488" y="95250"/>
                </a:cubicBezTo>
                <a:lnTo>
                  <a:pt x="114300" y="95250"/>
                </a:lnTo>
                <a:lnTo>
                  <a:pt x="114300" y="71438"/>
                </a:lnTo>
                <a:close/>
              </a:path>
            </a:pathLst>
          </a:custGeom>
          <a:solidFill>
            <a:srgbClr val="A95E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3"/>
          <p:cNvSpPr/>
          <p:nvPr/>
        </p:nvSpPr>
        <p:spPr>
          <a:xfrm>
            <a:off x="9158212" y="3876388"/>
            <a:ext cx="1733931" cy="508000"/>
          </a:xfrm>
          <a:custGeom>
            <a:rect b="b" l="l" r="r" t="t"/>
            <a:pathLst>
              <a:path extrusionOk="0" h="508000" w="1879600">
                <a:moveTo>
                  <a:pt x="254000" y="0"/>
                </a:moveTo>
                <a:lnTo>
                  <a:pt x="1625600" y="0"/>
                </a:lnTo>
                <a:cubicBezTo>
                  <a:pt x="1765786" y="0"/>
                  <a:pt x="1879600" y="113814"/>
                  <a:pt x="1879600" y="254000"/>
                </a:cubicBezTo>
                <a:lnTo>
                  <a:pt x="1879600" y="254000"/>
                </a:lnTo>
                <a:cubicBezTo>
                  <a:pt x="1879600" y="394186"/>
                  <a:pt x="1765786" y="508000"/>
                  <a:pt x="16256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8F5C9A"/>
          </a:solidFill>
          <a:ln>
            <a:noFill/>
          </a:ln>
          <a:effectLst>
            <a:outerShdw blurRad="190500" rotWithShape="0" algn="bl" dir="5400000" dist="127000">
              <a:srgbClr val="000000">
                <a:alpha val="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3"/>
          <p:cNvSpPr/>
          <p:nvPr/>
        </p:nvSpPr>
        <p:spPr>
          <a:xfrm>
            <a:off x="5522375" y="3957850"/>
            <a:ext cx="1735200" cy="304800"/>
          </a:xfrm>
          <a:prstGeom prst="rect">
            <a:avLst/>
          </a:prstGeom>
          <a:noFill/>
          <a:ln>
            <a:noFill/>
          </a:ln>
        </p:spPr>
        <p:txBody>
          <a:bodyPr anchorCtr="0" anchor="ctr" bIns="0" lIns="0" spcFirstLastPara="1" rIns="0" wrap="square" tIns="0">
            <a:noAutofit/>
          </a:bodyPr>
          <a:lstStyle/>
          <a:p>
            <a:pPr indent="0" lvl="0" marL="0" marR="0" rtl="0" algn="r">
              <a:lnSpc>
                <a:spcPct val="130000"/>
              </a:lnSpc>
              <a:spcBef>
                <a:spcPts val="0"/>
              </a:spcBef>
              <a:spcAft>
                <a:spcPts val="0"/>
              </a:spcAft>
              <a:buNone/>
            </a:pPr>
            <a:r>
              <a:rPr b="1" i="0" lang="en-US" sz="1600" u="none" cap="none" strike="noStrike">
                <a:solidFill>
                  <a:srgbClr val="3C3542"/>
                </a:solidFill>
                <a:latin typeface="Arial"/>
                <a:ea typeface="Arial"/>
                <a:cs typeface="Arial"/>
                <a:sym typeface="Arial"/>
              </a:rPr>
              <a:t>Serdemetan: </a:t>
            </a:r>
            <a:r>
              <a:rPr b="1" i="0" lang="en-US" sz="1600" u="none" cap="none" strike="noStrike">
                <a:solidFill>
                  <a:srgbClr val="7C1D56"/>
                </a:solidFill>
                <a:latin typeface="Arial"/>
                <a:ea typeface="Arial"/>
                <a:cs typeface="Arial"/>
                <a:sym typeface="Arial"/>
              </a:rPr>
              <a:t>0.28  </a:t>
            </a:r>
            <a:r>
              <a:rPr b="1" i="0" lang="en-US" sz="1500" u="none" cap="none" strike="noStrike">
                <a:solidFill>
                  <a:srgbClr val="7C1D56"/>
                </a:solidFill>
                <a:latin typeface="Arial"/>
                <a:ea typeface="Arial"/>
                <a:cs typeface="Arial"/>
                <a:sym typeface="Arial"/>
              </a:rPr>
              <a:t> </a:t>
            </a:r>
            <a:endParaRPr b="0" i="0" sz="1500" u="none" cap="none" strike="noStrike"/>
          </a:p>
        </p:txBody>
      </p:sp>
      <p:sp>
        <p:nvSpPr>
          <p:cNvPr id="543" name="Google Shape;543;p13"/>
          <p:cNvSpPr/>
          <p:nvPr/>
        </p:nvSpPr>
        <p:spPr>
          <a:xfrm>
            <a:off x="5564950" y="4364250"/>
            <a:ext cx="1735200" cy="304800"/>
          </a:xfrm>
          <a:prstGeom prst="rect">
            <a:avLst/>
          </a:prstGeom>
          <a:noFill/>
          <a:ln>
            <a:noFill/>
          </a:ln>
        </p:spPr>
        <p:txBody>
          <a:bodyPr anchorCtr="0" anchor="ctr" bIns="0" lIns="0" spcFirstLastPara="1" rIns="0" wrap="square" tIns="0">
            <a:noAutofit/>
          </a:bodyPr>
          <a:lstStyle/>
          <a:p>
            <a:pPr indent="0" lvl="0" marL="0" marR="0" rtl="0" algn="r">
              <a:lnSpc>
                <a:spcPct val="130000"/>
              </a:lnSpc>
              <a:spcBef>
                <a:spcPts val="0"/>
              </a:spcBef>
              <a:spcAft>
                <a:spcPts val="0"/>
              </a:spcAft>
              <a:buNone/>
            </a:pPr>
            <a:r>
              <a:rPr b="1" i="0" lang="en-US" sz="1600" u="none" cap="none" strike="noStrike">
                <a:solidFill>
                  <a:srgbClr val="3C3542"/>
                </a:solidFill>
                <a:latin typeface="Arial"/>
                <a:ea typeface="Arial"/>
                <a:cs typeface="Arial"/>
                <a:sym typeface="Arial"/>
              </a:rPr>
              <a:t>Vesatolimod: </a:t>
            </a:r>
            <a:r>
              <a:rPr b="1" i="0" lang="en-US" sz="1600" u="none" cap="none" strike="noStrike">
                <a:solidFill>
                  <a:srgbClr val="7C1D56"/>
                </a:solidFill>
                <a:latin typeface="Arial"/>
                <a:ea typeface="Arial"/>
                <a:cs typeface="Arial"/>
                <a:sym typeface="Arial"/>
              </a:rPr>
              <a:t>0.35  </a:t>
            </a:r>
            <a:endParaRPr b="0" i="0" sz="1600" u="none" cap="none" strike="noStrike"/>
          </a:p>
        </p:txBody>
      </p:sp>
      <p:sp>
        <p:nvSpPr>
          <p:cNvPr id="544" name="Google Shape;544;p13"/>
          <p:cNvSpPr/>
          <p:nvPr/>
        </p:nvSpPr>
        <p:spPr>
          <a:xfrm>
            <a:off x="8733829" y="2336750"/>
            <a:ext cx="762000" cy="609600"/>
          </a:xfrm>
          <a:custGeom>
            <a:rect b="b" l="l" r="r" t="t"/>
            <a:pathLst>
              <a:path extrusionOk="0" h="609600" w="762000">
                <a:moveTo>
                  <a:pt x="219789" y="489942"/>
                </a:moveTo>
                <a:cubicBezTo>
                  <a:pt x="216098" y="498634"/>
                  <a:pt x="213360" y="507683"/>
                  <a:pt x="211693" y="516850"/>
                </a:cubicBezTo>
                <a:cubicBezTo>
                  <a:pt x="194429" y="527328"/>
                  <a:pt x="174188" y="533400"/>
                  <a:pt x="152400" y="533400"/>
                </a:cubicBezTo>
                <a:cubicBezTo>
                  <a:pt x="89297" y="533400"/>
                  <a:pt x="38100" y="482203"/>
                  <a:pt x="38100" y="419100"/>
                </a:cubicBezTo>
                <a:lnTo>
                  <a:pt x="38100" y="76200"/>
                </a:lnTo>
                <a:cubicBezTo>
                  <a:pt x="17026" y="76200"/>
                  <a:pt x="0" y="59174"/>
                  <a:pt x="0" y="38100"/>
                </a:cubicBezTo>
                <a:cubicBezTo>
                  <a:pt x="0" y="17026"/>
                  <a:pt x="17026" y="0"/>
                  <a:pt x="38100" y="0"/>
                </a:cubicBezTo>
                <a:lnTo>
                  <a:pt x="266700" y="0"/>
                </a:lnTo>
                <a:cubicBezTo>
                  <a:pt x="287774" y="0"/>
                  <a:pt x="304800" y="17026"/>
                  <a:pt x="304800" y="38100"/>
                </a:cubicBezTo>
                <a:cubicBezTo>
                  <a:pt x="304800" y="59174"/>
                  <a:pt x="287774" y="76200"/>
                  <a:pt x="266700" y="76200"/>
                </a:cubicBezTo>
                <a:lnTo>
                  <a:pt x="266700" y="380524"/>
                </a:lnTo>
                <a:lnTo>
                  <a:pt x="219789" y="489942"/>
                </a:lnTo>
                <a:close/>
                <a:moveTo>
                  <a:pt x="114300" y="76200"/>
                </a:moveTo>
                <a:lnTo>
                  <a:pt x="114300" y="228600"/>
                </a:lnTo>
                <a:lnTo>
                  <a:pt x="190500" y="228600"/>
                </a:lnTo>
                <a:lnTo>
                  <a:pt x="190500" y="76200"/>
                </a:lnTo>
                <a:lnTo>
                  <a:pt x="114300" y="76200"/>
                </a:lnTo>
                <a:close/>
                <a:moveTo>
                  <a:pt x="419100" y="0"/>
                </a:moveTo>
                <a:lnTo>
                  <a:pt x="609600" y="0"/>
                </a:lnTo>
                <a:cubicBezTo>
                  <a:pt x="630674" y="0"/>
                  <a:pt x="647700" y="17026"/>
                  <a:pt x="647700" y="38100"/>
                </a:cubicBezTo>
                <a:cubicBezTo>
                  <a:pt x="647700" y="59174"/>
                  <a:pt x="630674" y="76200"/>
                  <a:pt x="609600" y="76200"/>
                </a:cubicBezTo>
                <a:lnTo>
                  <a:pt x="609600" y="258842"/>
                </a:lnTo>
                <a:lnTo>
                  <a:pt x="718304" y="512445"/>
                </a:lnTo>
                <a:cubicBezTo>
                  <a:pt x="721042" y="518874"/>
                  <a:pt x="722828" y="525661"/>
                  <a:pt x="723543" y="532686"/>
                </a:cubicBezTo>
                <a:lnTo>
                  <a:pt x="723900" y="533400"/>
                </a:lnTo>
                <a:lnTo>
                  <a:pt x="723543" y="533400"/>
                </a:lnTo>
                <a:cubicBezTo>
                  <a:pt x="723781" y="535543"/>
                  <a:pt x="723900" y="537686"/>
                  <a:pt x="723900" y="539829"/>
                </a:cubicBezTo>
                <a:cubicBezTo>
                  <a:pt x="723900" y="578287"/>
                  <a:pt x="692706" y="609600"/>
                  <a:pt x="654129" y="609600"/>
                </a:cubicBezTo>
                <a:lnTo>
                  <a:pt x="336352" y="609600"/>
                </a:lnTo>
                <a:cubicBezTo>
                  <a:pt x="297894" y="609600"/>
                  <a:pt x="266581" y="578406"/>
                  <a:pt x="266581" y="539829"/>
                </a:cubicBezTo>
                <a:cubicBezTo>
                  <a:pt x="266581" y="537686"/>
                  <a:pt x="266700" y="535543"/>
                  <a:pt x="266938" y="533400"/>
                </a:cubicBezTo>
                <a:lnTo>
                  <a:pt x="266581" y="533400"/>
                </a:lnTo>
                <a:lnTo>
                  <a:pt x="266938" y="532686"/>
                </a:lnTo>
                <a:cubicBezTo>
                  <a:pt x="267652" y="525780"/>
                  <a:pt x="269438" y="518874"/>
                  <a:pt x="272177" y="512445"/>
                </a:cubicBezTo>
                <a:lnTo>
                  <a:pt x="381000" y="258842"/>
                </a:lnTo>
                <a:lnTo>
                  <a:pt x="381000" y="76200"/>
                </a:lnTo>
                <a:cubicBezTo>
                  <a:pt x="359926" y="76200"/>
                  <a:pt x="342900" y="59174"/>
                  <a:pt x="342900" y="38100"/>
                </a:cubicBezTo>
                <a:cubicBezTo>
                  <a:pt x="342900" y="17026"/>
                  <a:pt x="359926" y="0"/>
                  <a:pt x="381000" y="0"/>
                </a:cubicBezTo>
                <a:lnTo>
                  <a:pt x="419100" y="0"/>
                </a:lnTo>
                <a:close/>
                <a:moveTo>
                  <a:pt x="539591" y="288846"/>
                </a:moveTo>
                <a:cubicBezTo>
                  <a:pt x="535543" y="279321"/>
                  <a:pt x="533400" y="269200"/>
                  <a:pt x="533400" y="258842"/>
                </a:cubicBezTo>
                <a:lnTo>
                  <a:pt x="533400" y="76200"/>
                </a:lnTo>
                <a:lnTo>
                  <a:pt x="457200" y="76200"/>
                </a:lnTo>
                <a:lnTo>
                  <a:pt x="457200" y="258842"/>
                </a:lnTo>
                <a:cubicBezTo>
                  <a:pt x="457200" y="269200"/>
                  <a:pt x="455057" y="279321"/>
                  <a:pt x="451009" y="288846"/>
                </a:cubicBezTo>
                <a:lnTo>
                  <a:pt x="411480" y="381000"/>
                </a:lnTo>
                <a:lnTo>
                  <a:pt x="579001" y="381000"/>
                </a:lnTo>
                <a:lnTo>
                  <a:pt x="539472" y="288846"/>
                </a:lnTo>
                <a:close/>
              </a:path>
            </a:pathLst>
          </a:custGeom>
          <a:solidFill>
            <a:srgbClr val="A95E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3"/>
          <p:cNvSpPr/>
          <p:nvPr/>
        </p:nvSpPr>
        <p:spPr>
          <a:xfrm>
            <a:off x="6051375" y="3305242"/>
            <a:ext cx="1938300" cy="145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i="0" lang="en-US" sz="1500" u="none" cap="none" strike="noStrike">
                <a:solidFill>
                  <a:srgbClr val="7C1D56"/>
                </a:solidFill>
              </a:rPr>
              <a:t>NEW </a:t>
            </a:r>
            <a:r>
              <a:rPr lang="en-US" sz="1500">
                <a:solidFill>
                  <a:srgbClr val="7C1D56"/>
                </a:solidFill>
              </a:rPr>
              <a:t>predictions</a:t>
            </a:r>
            <a:endParaRPr i="0" sz="1500" u="none" cap="none" strike="noStrike"/>
          </a:p>
        </p:txBody>
      </p:sp>
      <p:sp>
        <p:nvSpPr>
          <p:cNvPr id="546" name="Google Shape;546;p13"/>
          <p:cNvSpPr/>
          <p:nvPr/>
        </p:nvSpPr>
        <p:spPr>
          <a:xfrm>
            <a:off x="9034584" y="3876438"/>
            <a:ext cx="1981200" cy="507900"/>
          </a:xfrm>
          <a:prstGeom prst="rect">
            <a:avLst/>
          </a:prstGeom>
          <a:noFill/>
          <a:ln>
            <a:noFill/>
          </a:ln>
        </p:spPr>
        <p:txBody>
          <a:bodyPr anchorCtr="0" anchor="ctr" bIns="101600" lIns="203200" spcFirstLastPara="1" rIns="203200" wrap="square" tIns="101600">
            <a:noAutofit/>
          </a:bodyPr>
          <a:lstStyle/>
          <a:p>
            <a:pPr indent="0" lvl="0" marL="0" marR="0" rtl="0" algn="ctr">
              <a:lnSpc>
                <a:spcPct val="130000"/>
              </a:lnSpc>
              <a:spcBef>
                <a:spcPts val="0"/>
              </a:spcBef>
              <a:spcAft>
                <a:spcPts val="0"/>
              </a:spcAft>
              <a:buNone/>
            </a:pPr>
            <a:r>
              <a:rPr b="1" i="0" lang="en-US" sz="1600" u="none" cap="none" strike="noStrike">
                <a:solidFill>
                  <a:srgbClr val="FFFFFF"/>
                </a:solidFill>
                <a:latin typeface="Arial"/>
                <a:ea typeface="Arial"/>
                <a:cs typeface="Arial"/>
                <a:sym typeface="Arial"/>
              </a:rPr>
              <a:t>NEW &amp; ACTIVE</a:t>
            </a:r>
            <a:endParaRPr b="0" i="0" sz="1600" u="none" cap="none" strike="noStrike"/>
          </a:p>
        </p:txBody>
      </p:sp>
      <p:sp>
        <p:nvSpPr>
          <p:cNvPr id="547" name="Google Shape;547;p13"/>
          <p:cNvSpPr/>
          <p:nvPr/>
        </p:nvSpPr>
        <p:spPr>
          <a:xfrm>
            <a:off x="9601700" y="4669075"/>
            <a:ext cx="1021200" cy="3048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i="0" lang="en-US" sz="2400" u="none" cap="none" strike="noStrike">
                <a:solidFill>
                  <a:srgbClr val="7C1D56"/>
                </a:solidFill>
                <a:latin typeface="Noto Sans SC"/>
                <a:ea typeface="Noto Sans SC"/>
                <a:cs typeface="Noto Sans SC"/>
                <a:sym typeface="Noto Sans SC"/>
              </a:rPr>
              <a:t>0.6650</a:t>
            </a:r>
            <a:endParaRPr b="0" i="0" sz="1600" u="none" cap="none" strike="noStrike"/>
          </a:p>
        </p:txBody>
      </p:sp>
      <p:sp>
        <p:nvSpPr>
          <p:cNvPr id="548" name="Google Shape;548;p13"/>
          <p:cNvSpPr/>
          <p:nvPr/>
        </p:nvSpPr>
        <p:spPr>
          <a:xfrm>
            <a:off x="8285325" y="3083825"/>
            <a:ext cx="3479700" cy="5079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1400" u="none" cap="none" strike="noStrike">
                <a:solidFill>
                  <a:srgbClr val="3C3542"/>
                </a:solidFill>
                <a:latin typeface="Arial"/>
                <a:ea typeface="Arial"/>
                <a:cs typeface="Arial"/>
                <a:sym typeface="Arial"/>
              </a:rPr>
              <a:t>A potent inhibitor, absent from training data.</a:t>
            </a:r>
            <a:endParaRPr b="0" i="0" sz="1600" u="none" cap="none" strike="noStrike"/>
          </a:p>
        </p:txBody>
      </p:sp>
      <p:sp>
        <p:nvSpPr>
          <p:cNvPr id="549" name="Google Shape;549;p13"/>
          <p:cNvSpPr/>
          <p:nvPr/>
        </p:nvSpPr>
        <p:spPr>
          <a:xfrm>
            <a:off x="9601700" y="2428275"/>
            <a:ext cx="1561200" cy="355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800">
                <a:solidFill>
                  <a:srgbClr val="8F5C9A"/>
                </a:solidFill>
              </a:rPr>
              <a:t>Demecarium</a:t>
            </a:r>
            <a:endParaRPr b="0" i="0" sz="1600" u="none" cap="none" strike="noStrike"/>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4" name="Shape 554"/>
        <p:cNvGrpSpPr/>
        <p:nvPr/>
      </p:nvGrpSpPr>
      <p:grpSpPr>
        <a:xfrm>
          <a:off x="0" y="0"/>
          <a:ext cx="0" cy="0"/>
          <a:chOff x="0" y="0"/>
          <a:chExt cx="0" cy="0"/>
        </a:xfrm>
      </p:grpSpPr>
      <p:sp>
        <p:nvSpPr>
          <p:cNvPr id="555" name="Google Shape;555;p15"/>
          <p:cNvSpPr/>
          <p:nvPr/>
        </p:nvSpPr>
        <p:spPr>
          <a:xfrm rot="5940000">
            <a:off x="367665" y="335915"/>
            <a:ext cx="558800" cy="594995"/>
          </a:xfrm>
          <a:prstGeom prst="donut">
            <a:avLst>
              <a:gd fmla="val 25000" name="adj"/>
            </a:avLst>
          </a:prstGeom>
          <a:gradFill>
            <a:gsLst>
              <a:gs pos="0">
                <a:srgbClr val="402E7F"/>
              </a:gs>
              <a:gs pos="54000">
                <a:srgbClr val="BC7DB7">
                  <a:alpha val="2745"/>
                </a:srgbClr>
              </a:gs>
              <a:gs pos="100000">
                <a:srgbClr val="BC7DB7">
                  <a:alpha val="2745"/>
                </a:srgbClr>
              </a:gs>
            </a:gsLst>
            <a:lin ang="189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5"/>
          <p:cNvSpPr/>
          <p:nvPr/>
        </p:nvSpPr>
        <p:spPr>
          <a:xfrm rot="5940000">
            <a:off x="367665" y="335915"/>
            <a:ext cx="558800" cy="594995"/>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557" name="Google Shape;557;p15"/>
          <p:cNvSpPr/>
          <p:nvPr/>
        </p:nvSpPr>
        <p:spPr>
          <a:xfrm>
            <a:off x="4445" y="0"/>
            <a:ext cx="12187555" cy="6875780"/>
          </a:xfrm>
          <a:prstGeom prst="rect">
            <a:avLst/>
          </a:prstGeom>
          <a:gradFill>
            <a:gsLst>
              <a:gs pos="0">
                <a:srgbClr val="D7B1D4"/>
              </a:gs>
              <a:gs pos="34000">
                <a:srgbClr val="BC7DB7"/>
              </a:gs>
              <a:gs pos="100000">
                <a:srgbClr val="30225F"/>
              </a:gs>
            </a:gsLst>
            <a:lin ang="135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5"/>
          <p:cNvSpPr/>
          <p:nvPr/>
        </p:nvSpPr>
        <p:spPr>
          <a:xfrm>
            <a:off x="4445" y="0"/>
            <a:ext cx="12187555" cy="68757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559" name="Google Shape;559;p15"/>
          <p:cNvSpPr/>
          <p:nvPr/>
        </p:nvSpPr>
        <p:spPr>
          <a:xfrm>
            <a:off x="85280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5"/>
          <p:cNvSpPr/>
          <p:nvPr/>
        </p:nvSpPr>
        <p:spPr>
          <a:xfrm>
            <a:off x="85280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561" name="Google Shape;561;p15"/>
          <p:cNvSpPr/>
          <p:nvPr/>
        </p:nvSpPr>
        <p:spPr>
          <a:xfrm>
            <a:off x="113665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5"/>
          <p:cNvSpPr/>
          <p:nvPr/>
        </p:nvSpPr>
        <p:spPr>
          <a:xfrm>
            <a:off x="113665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563" name="Google Shape;563;p15"/>
          <p:cNvSpPr/>
          <p:nvPr/>
        </p:nvSpPr>
        <p:spPr>
          <a:xfrm>
            <a:off x="142049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5"/>
          <p:cNvSpPr/>
          <p:nvPr/>
        </p:nvSpPr>
        <p:spPr>
          <a:xfrm>
            <a:off x="142049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565" name="Google Shape;565;p15"/>
          <p:cNvSpPr/>
          <p:nvPr/>
        </p:nvSpPr>
        <p:spPr>
          <a:xfrm>
            <a:off x="170434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5"/>
          <p:cNvSpPr/>
          <p:nvPr/>
        </p:nvSpPr>
        <p:spPr>
          <a:xfrm>
            <a:off x="170434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567" name="Google Shape;567;p15"/>
          <p:cNvSpPr/>
          <p:nvPr/>
        </p:nvSpPr>
        <p:spPr>
          <a:xfrm>
            <a:off x="198818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5"/>
          <p:cNvSpPr/>
          <p:nvPr/>
        </p:nvSpPr>
        <p:spPr>
          <a:xfrm>
            <a:off x="198818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569" name="Google Shape;569;p15"/>
          <p:cNvSpPr/>
          <p:nvPr/>
        </p:nvSpPr>
        <p:spPr>
          <a:xfrm>
            <a:off x="227203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5"/>
          <p:cNvSpPr/>
          <p:nvPr/>
        </p:nvSpPr>
        <p:spPr>
          <a:xfrm>
            <a:off x="227203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571" name="Google Shape;571;p15"/>
          <p:cNvSpPr/>
          <p:nvPr/>
        </p:nvSpPr>
        <p:spPr>
          <a:xfrm>
            <a:off x="11456035" y="381635"/>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5"/>
          <p:cNvSpPr/>
          <p:nvPr/>
        </p:nvSpPr>
        <p:spPr>
          <a:xfrm>
            <a:off x="11456035" y="381635"/>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573" name="Google Shape;573;p15"/>
          <p:cNvSpPr/>
          <p:nvPr/>
        </p:nvSpPr>
        <p:spPr>
          <a:xfrm>
            <a:off x="11456035" y="501650"/>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5"/>
          <p:cNvSpPr/>
          <p:nvPr/>
        </p:nvSpPr>
        <p:spPr>
          <a:xfrm>
            <a:off x="11456035" y="501650"/>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575" name="Google Shape;575;p15"/>
          <p:cNvSpPr/>
          <p:nvPr/>
        </p:nvSpPr>
        <p:spPr>
          <a:xfrm>
            <a:off x="11456035" y="621665"/>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5"/>
          <p:cNvSpPr/>
          <p:nvPr/>
        </p:nvSpPr>
        <p:spPr>
          <a:xfrm>
            <a:off x="11456035" y="621665"/>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cxnSp>
        <p:nvCxnSpPr>
          <p:cNvPr id="577" name="Google Shape;577;p15"/>
          <p:cNvCxnSpPr/>
          <p:nvPr/>
        </p:nvCxnSpPr>
        <p:spPr>
          <a:xfrm>
            <a:off x="1727190" y="6306820"/>
            <a:ext cx="10080000" cy="0"/>
          </a:xfrm>
          <a:prstGeom prst="straightConnector1">
            <a:avLst/>
          </a:prstGeom>
          <a:noFill/>
          <a:ln cap="flat" cmpd="sng" w="19050">
            <a:solidFill>
              <a:srgbClr val="FFFFFF"/>
            </a:solidFill>
            <a:prstDash val="solid"/>
            <a:round/>
            <a:headEnd len="sm" w="sm" type="none"/>
            <a:tailEnd len="sm" w="sm" type="none"/>
          </a:ln>
        </p:spPr>
      </p:cxnSp>
      <p:sp>
        <p:nvSpPr>
          <p:cNvPr id="578" name="Google Shape;578;p15"/>
          <p:cNvSpPr/>
          <p:nvPr/>
        </p:nvSpPr>
        <p:spPr>
          <a:xfrm>
            <a:off x="852805" y="6177280"/>
            <a:ext cx="259080" cy="2590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5"/>
          <p:cNvSpPr/>
          <p:nvPr/>
        </p:nvSpPr>
        <p:spPr>
          <a:xfrm>
            <a:off x="852805" y="6177280"/>
            <a:ext cx="259080" cy="2590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580" name="Google Shape;580;p15"/>
          <p:cNvSpPr/>
          <p:nvPr/>
        </p:nvSpPr>
        <p:spPr>
          <a:xfrm>
            <a:off x="979805" y="6177280"/>
            <a:ext cx="259080" cy="2590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5"/>
          <p:cNvSpPr/>
          <p:nvPr/>
        </p:nvSpPr>
        <p:spPr>
          <a:xfrm>
            <a:off x="979805" y="6177280"/>
            <a:ext cx="259080" cy="2590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582" name="Google Shape;582;p15"/>
          <p:cNvSpPr/>
          <p:nvPr/>
        </p:nvSpPr>
        <p:spPr>
          <a:xfrm>
            <a:off x="541655" y="2687320"/>
            <a:ext cx="11172825" cy="2306955"/>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5"/>
          <p:cNvSpPr/>
          <p:nvPr/>
        </p:nvSpPr>
        <p:spPr>
          <a:xfrm>
            <a:off x="541655" y="2687320"/>
            <a:ext cx="11172825" cy="2306955"/>
          </a:xfrm>
          <a:prstGeom prst="rect">
            <a:avLst/>
          </a:prstGeom>
          <a:noFill/>
          <a:ln>
            <a:noFill/>
          </a:ln>
        </p:spPr>
        <p:txBody>
          <a:bodyPr anchorCtr="0" anchor="t" bIns="45700" lIns="45700" spcFirstLastPara="1" rIns="91425" wrap="square" tIns="91425">
            <a:noAutofit/>
          </a:bodyPr>
          <a:lstStyle/>
          <a:p>
            <a:pPr indent="0" lvl="0" marL="0" marR="0" rtl="0" algn="ctr">
              <a:lnSpc>
                <a:spcPct val="100000"/>
              </a:lnSpc>
              <a:spcBef>
                <a:spcPts val="0"/>
              </a:spcBef>
              <a:spcAft>
                <a:spcPts val="0"/>
              </a:spcAft>
              <a:buNone/>
            </a:pPr>
            <a:r>
              <a:rPr b="1" i="0" lang="en-US" sz="7200" u="none" cap="none" strike="noStrike">
                <a:solidFill>
                  <a:srgbClr val="FFFFFF"/>
                </a:solidFill>
                <a:latin typeface="Arial"/>
                <a:ea typeface="Arial"/>
                <a:cs typeface="Arial"/>
                <a:sym typeface="Arial"/>
              </a:rPr>
              <a:t>Limitations</a:t>
            </a:r>
            <a:endParaRPr b="0" i="0" sz="1600" u="none" cap="none" strike="noStrike"/>
          </a:p>
        </p:txBody>
      </p:sp>
      <p:sp>
        <p:nvSpPr>
          <p:cNvPr id="584" name="Google Shape;584;p15"/>
          <p:cNvSpPr/>
          <p:nvPr/>
        </p:nvSpPr>
        <p:spPr>
          <a:xfrm>
            <a:off x="2515235" y="1350010"/>
            <a:ext cx="7161530" cy="1198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200" u="none" cap="none" strike="noStrike">
                <a:solidFill>
                  <a:srgbClr val="FFFFFF"/>
                </a:solidFill>
                <a:latin typeface="Arial"/>
                <a:ea typeface="Arial"/>
                <a:cs typeface="Arial"/>
                <a:sym typeface="Arial"/>
              </a:rPr>
              <a:t>0</a:t>
            </a:r>
            <a:r>
              <a:rPr lang="en-US" sz="7200">
                <a:solidFill>
                  <a:srgbClr val="FFFFFF"/>
                </a:solidFill>
              </a:rPr>
              <a:t>6</a:t>
            </a:r>
            <a:endParaRPr b="0" i="0" sz="1600" u="none" cap="none" strike="noStrike"/>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589" name="Shape 589"/>
        <p:cNvGrpSpPr/>
        <p:nvPr/>
      </p:nvGrpSpPr>
      <p:grpSpPr>
        <a:xfrm>
          <a:off x="0" y="0"/>
          <a:ext cx="0" cy="0"/>
          <a:chOff x="0" y="0"/>
          <a:chExt cx="0" cy="0"/>
        </a:xfrm>
      </p:grpSpPr>
      <p:pic>
        <p:nvPicPr>
          <p:cNvPr descr="https://kimi-img.moonshot.cn/pub/slides/slides_tmpl/image/25-09-08-15:08:29-d2v81rdnfo2stf9dkdb0.jpg" id="590" name="Google Shape;590;p18"/>
          <p:cNvPicPr preferRelativeResize="0"/>
          <p:nvPr/>
        </p:nvPicPr>
        <p:blipFill rotWithShape="1">
          <a:blip r:embed="rId3">
            <a:alphaModFix/>
          </a:blip>
          <a:srcRect b="0" l="0" r="0" t="0"/>
          <a:stretch/>
        </p:blipFill>
        <p:spPr>
          <a:xfrm>
            <a:off x="-158750" y="-6350"/>
            <a:ext cx="12350749" cy="6960235"/>
          </a:xfrm>
          <a:prstGeom prst="rect">
            <a:avLst/>
          </a:prstGeom>
          <a:noFill/>
          <a:ln>
            <a:noFill/>
          </a:ln>
        </p:spPr>
      </p:pic>
      <p:sp>
        <p:nvSpPr>
          <p:cNvPr descr="https://kimi-web-img.moonshot.cn/img/simg.baai.ac.cn/68d356072b80a2b7ad2a99f9d615c2c258a07126.webp" id="591" name="Google Shape;591;p18"/>
          <p:cNvSpPr/>
          <p:nvPr/>
        </p:nvSpPr>
        <p:spPr>
          <a:xfrm>
            <a:off x="254000" y="4013200"/>
            <a:ext cx="3302100" cy="1219200"/>
          </a:xfrm>
          <a:prstGeom prst="roundRect">
            <a:avLst>
              <a:gd fmla="val 8333"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8"/>
          <p:cNvSpPr/>
          <p:nvPr/>
        </p:nvSpPr>
        <p:spPr>
          <a:xfrm>
            <a:off x="0" y="2144775"/>
            <a:ext cx="5842000" cy="2800540"/>
          </a:xfrm>
          <a:custGeom>
            <a:rect b="b" l="l" r="r" t="t"/>
            <a:pathLst>
              <a:path extrusionOk="0" h="2324100" w="5842000">
                <a:moveTo>
                  <a:pt x="152391" y="0"/>
                </a:moveTo>
                <a:lnTo>
                  <a:pt x="5842000" y="0"/>
                </a:lnTo>
                <a:lnTo>
                  <a:pt x="5842000" y="2324100"/>
                </a:lnTo>
                <a:lnTo>
                  <a:pt x="152391" y="2324100"/>
                </a:lnTo>
                <a:cubicBezTo>
                  <a:pt x="68228" y="2324100"/>
                  <a:pt x="0" y="2255872"/>
                  <a:pt x="0" y="2171709"/>
                </a:cubicBezTo>
                <a:lnTo>
                  <a:pt x="0" y="152391"/>
                </a:lnTo>
                <a:cubicBezTo>
                  <a:pt x="0" y="68284"/>
                  <a:pt x="68284" y="0"/>
                  <a:pt x="152391" y="0"/>
                </a:cubicBezTo>
                <a:close/>
              </a:path>
            </a:pathLst>
          </a:custGeom>
          <a:solidFill>
            <a:srgbClr val="D3B9D7">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8"/>
          <p:cNvSpPr/>
          <p:nvPr/>
        </p:nvSpPr>
        <p:spPr>
          <a:xfrm>
            <a:off x="6003775" y="2517600"/>
            <a:ext cx="5842000" cy="2800541"/>
          </a:xfrm>
          <a:custGeom>
            <a:rect b="b" l="l" r="r" t="t"/>
            <a:pathLst>
              <a:path extrusionOk="0" h="2324100" w="5842000">
                <a:moveTo>
                  <a:pt x="0" y="0"/>
                </a:moveTo>
                <a:lnTo>
                  <a:pt x="5689609" y="0"/>
                </a:lnTo>
                <a:cubicBezTo>
                  <a:pt x="5773772" y="0"/>
                  <a:pt x="5842000" y="68228"/>
                  <a:pt x="5842000" y="152391"/>
                </a:cubicBezTo>
                <a:lnTo>
                  <a:pt x="5842000" y="2171709"/>
                </a:lnTo>
                <a:cubicBezTo>
                  <a:pt x="5842000" y="2255872"/>
                  <a:pt x="5773772" y="2324100"/>
                  <a:pt x="5689609" y="2324100"/>
                </a:cubicBezTo>
                <a:lnTo>
                  <a:pt x="0" y="2324100"/>
                </a:lnTo>
                <a:lnTo>
                  <a:pt x="0" y="0"/>
                </a:lnTo>
                <a:close/>
              </a:path>
            </a:pathLst>
          </a:custGeom>
          <a:solidFill>
            <a:srgbClr val="8F5C9A">
              <a:alpha val="20000"/>
            </a:srgbClr>
          </a:solid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b="1" lang="en-US" sz="2200">
                <a:solidFill>
                  <a:schemeClr val="accent2"/>
                </a:solidFill>
                <a:latin typeface="Noto Sans SC"/>
                <a:ea typeface="Noto Sans SC"/>
                <a:cs typeface="Noto Sans SC"/>
                <a:sym typeface="Noto Sans SC"/>
              </a:rPr>
              <a:t> </a:t>
            </a:r>
            <a:endParaRPr>
              <a:solidFill>
                <a:schemeClr val="accent2"/>
              </a:solidFill>
            </a:endParaRPr>
          </a:p>
          <a:p>
            <a:pPr indent="0" lvl="0" marL="0" rtl="0" algn="l">
              <a:lnSpc>
                <a:spcPct val="110000"/>
              </a:lnSpc>
              <a:spcBef>
                <a:spcPts val="0"/>
              </a:spcBef>
              <a:spcAft>
                <a:spcPts val="0"/>
              </a:spcAft>
              <a:buNone/>
            </a:pPr>
            <a:r>
              <a:t/>
            </a:r>
            <a:endParaRPr>
              <a:solidFill>
                <a:schemeClr val="accent2"/>
              </a:solidFill>
            </a:endParaRPr>
          </a:p>
          <a:p>
            <a:pPr indent="0" lvl="0" marL="0" rtl="0" algn="l">
              <a:lnSpc>
                <a:spcPct val="140000"/>
              </a:lnSpc>
              <a:spcBef>
                <a:spcPts val="0"/>
              </a:spcBef>
              <a:spcAft>
                <a:spcPts val="0"/>
              </a:spcAft>
              <a:buNone/>
            </a:pPr>
            <a:r>
              <a:rPr lang="en-US" sz="1500">
                <a:solidFill>
                  <a:srgbClr val="3C3542"/>
                </a:solidFill>
                <a:highlight>
                  <a:srgbClr val="A95EAF"/>
                </a:highlight>
              </a:rPr>
              <a:t>Insight:</a:t>
            </a:r>
            <a:r>
              <a:rPr lang="en-US">
                <a:solidFill>
                  <a:srgbClr val="3C3542"/>
                </a:solidFill>
              </a:rPr>
              <a:t>   </a:t>
            </a:r>
            <a:r>
              <a:rPr lang="en-US">
                <a:solidFill>
                  <a:srgbClr val="3C3542"/>
                </a:solidFill>
              </a:rPr>
              <a:t>Our 50/50 balanced training set optimizes learning but over-inflates confidence versus real screens where actives occur below </a:t>
            </a:r>
            <a:r>
              <a:rPr b="1" lang="en-US">
                <a:solidFill>
                  <a:srgbClr val="A95EAF"/>
                </a:solidFill>
              </a:rPr>
              <a:t>1 %</a:t>
            </a:r>
            <a:r>
              <a:rPr lang="en-US">
                <a:solidFill>
                  <a:srgbClr val="3C3542"/>
                </a:solidFill>
              </a:rPr>
              <a:t>. </a:t>
            </a:r>
            <a:endParaRPr>
              <a:solidFill>
                <a:srgbClr val="3C3542"/>
              </a:solidFill>
            </a:endParaRPr>
          </a:p>
          <a:p>
            <a:pPr indent="0" lvl="0" marL="0" rtl="0" algn="l">
              <a:lnSpc>
                <a:spcPct val="140000"/>
              </a:lnSpc>
              <a:spcBef>
                <a:spcPts val="0"/>
              </a:spcBef>
              <a:spcAft>
                <a:spcPts val="0"/>
              </a:spcAft>
              <a:buClr>
                <a:srgbClr val="000000"/>
              </a:buClr>
              <a:buFont typeface="Arial"/>
              <a:buNone/>
            </a:pPr>
            <a:r>
              <a:rPr lang="en-US" sz="1500">
                <a:solidFill>
                  <a:srgbClr val="3C3542"/>
                </a:solidFill>
                <a:highlight>
                  <a:srgbClr val="A95EAF"/>
                </a:highlight>
              </a:rPr>
              <a:t>Next step</a:t>
            </a:r>
            <a:r>
              <a:rPr lang="en-US">
                <a:solidFill>
                  <a:srgbClr val="3C3542"/>
                </a:solidFill>
              </a:rPr>
              <a:t>  </a:t>
            </a:r>
            <a:r>
              <a:rPr lang="en-US">
                <a:solidFill>
                  <a:srgbClr val="3C3542"/>
                </a:solidFill>
              </a:rPr>
              <a:t>Calibration will be essential before deployment to avoid false positives.</a:t>
            </a:r>
            <a:endParaRPr/>
          </a:p>
        </p:txBody>
      </p:sp>
      <p:sp>
        <p:nvSpPr>
          <p:cNvPr id="594" name="Google Shape;594;p18"/>
          <p:cNvSpPr/>
          <p:nvPr/>
        </p:nvSpPr>
        <p:spPr>
          <a:xfrm>
            <a:off x="456600" y="2443017"/>
            <a:ext cx="381000" cy="381000"/>
          </a:xfrm>
          <a:custGeom>
            <a:rect b="b" l="l" r="r" t="t"/>
            <a:pathLst>
              <a:path extrusionOk="0" h="381000" w="381000">
                <a:moveTo>
                  <a:pt x="211336" y="-967"/>
                </a:moveTo>
                <a:cubicBezTo>
                  <a:pt x="198462" y="-8409"/>
                  <a:pt x="182538" y="-8409"/>
                  <a:pt x="169664" y="-967"/>
                </a:cubicBezTo>
                <a:lnTo>
                  <a:pt x="107007" y="35198"/>
                </a:lnTo>
                <a:cubicBezTo>
                  <a:pt x="94134" y="42639"/>
                  <a:pt x="86171" y="56406"/>
                  <a:pt x="86171" y="71289"/>
                </a:cubicBezTo>
                <a:lnTo>
                  <a:pt x="86171" y="147117"/>
                </a:lnTo>
                <a:lnTo>
                  <a:pt x="20464" y="185068"/>
                </a:lnTo>
                <a:cubicBezTo>
                  <a:pt x="7590" y="192509"/>
                  <a:pt x="-372" y="206276"/>
                  <a:pt x="-372" y="221159"/>
                </a:cubicBezTo>
                <a:lnTo>
                  <a:pt x="-372" y="293563"/>
                </a:lnTo>
                <a:cubicBezTo>
                  <a:pt x="-372" y="308446"/>
                  <a:pt x="7590" y="322213"/>
                  <a:pt x="20464" y="329654"/>
                </a:cubicBezTo>
                <a:lnTo>
                  <a:pt x="83195" y="365820"/>
                </a:lnTo>
                <a:cubicBezTo>
                  <a:pt x="96069" y="373261"/>
                  <a:pt x="111993" y="373261"/>
                  <a:pt x="124867" y="365820"/>
                </a:cubicBezTo>
                <a:lnTo>
                  <a:pt x="190574" y="327868"/>
                </a:lnTo>
                <a:lnTo>
                  <a:pt x="256282" y="365820"/>
                </a:lnTo>
                <a:cubicBezTo>
                  <a:pt x="269156" y="373261"/>
                  <a:pt x="285080" y="373261"/>
                  <a:pt x="297954" y="365820"/>
                </a:cubicBezTo>
                <a:lnTo>
                  <a:pt x="360536" y="329654"/>
                </a:lnTo>
                <a:cubicBezTo>
                  <a:pt x="373410" y="322213"/>
                  <a:pt x="381372" y="308446"/>
                  <a:pt x="381372" y="293563"/>
                </a:cubicBezTo>
                <a:lnTo>
                  <a:pt x="381372" y="221159"/>
                </a:lnTo>
                <a:cubicBezTo>
                  <a:pt x="381372" y="206276"/>
                  <a:pt x="373410" y="192509"/>
                  <a:pt x="360536" y="185068"/>
                </a:cubicBezTo>
                <a:lnTo>
                  <a:pt x="294829" y="147117"/>
                </a:lnTo>
                <a:lnTo>
                  <a:pt x="294829" y="71289"/>
                </a:lnTo>
                <a:cubicBezTo>
                  <a:pt x="294829" y="56406"/>
                  <a:pt x="286866" y="42639"/>
                  <a:pt x="273993" y="35198"/>
                </a:cubicBezTo>
                <a:lnTo>
                  <a:pt x="211336" y="-967"/>
                </a:lnTo>
                <a:close/>
                <a:moveTo>
                  <a:pt x="172641" y="217736"/>
                </a:moveTo>
                <a:lnTo>
                  <a:pt x="172641" y="296987"/>
                </a:lnTo>
                <a:lnTo>
                  <a:pt x="106933" y="334938"/>
                </a:lnTo>
                <a:cubicBezTo>
                  <a:pt x="106040" y="335459"/>
                  <a:pt x="104998" y="335756"/>
                  <a:pt x="103956" y="335756"/>
                </a:cubicBezTo>
                <a:lnTo>
                  <a:pt x="103956" y="257398"/>
                </a:lnTo>
                <a:lnTo>
                  <a:pt x="172641" y="217736"/>
                </a:lnTo>
                <a:close/>
                <a:moveTo>
                  <a:pt x="344835" y="218182"/>
                </a:moveTo>
                <a:cubicBezTo>
                  <a:pt x="345356" y="219075"/>
                  <a:pt x="345653" y="220117"/>
                  <a:pt x="345653" y="221159"/>
                </a:cubicBezTo>
                <a:lnTo>
                  <a:pt x="345653" y="293563"/>
                </a:lnTo>
                <a:cubicBezTo>
                  <a:pt x="345653" y="295721"/>
                  <a:pt x="344537" y="297656"/>
                  <a:pt x="342677" y="298698"/>
                </a:cubicBezTo>
                <a:lnTo>
                  <a:pt x="279946" y="334863"/>
                </a:lnTo>
                <a:cubicBezTo>
                  <a:pt x="279053" y="335384"/>
                  <a:pt x="278011" y="335682"/>
                  <a:pt x="276969" y="335682"/>
                </a:cubicBezTo>
                <a:lnTo>
                  <a:pt x="276969" y="257324"/>
                </a:lnTo>
                <a:lnTo>
                  <a:pt x="344835" y="218182"/>
                </a:lnTo>
                <a:close/>
                <a:moveTo>
                  <a:pt x="259184" y="71289"/>
                </a:moveTo>
                <a:lnTo>
                  <a:pt x="259184" y="147117"/>
                </a:lnTo>
                <a:lnTo>
                  <a:pt x="190500" y="186779"/>
                </a:lnTo>
                <a:lnTo>
                  <a:pt x="190500" y="107528"/>
                </a:lnTo>
                <a:lnTo>
                  <a:pt x="258366" y="68387"/>
                </a:lnTo>
                <a:cubicBezTo>
                  <a:pt x="258887" y="69279"/>
                  <a:pt x="259184" y="70321"/>
                  <a:pt x="259184" y="71363"/>
                </a:cubicBezTo>
                <a:close/>
              </a:path>
            </a:pathLst>
          </a:custGeom>
          <a:solidFill>
            <a:srgbClr val="A95E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8"/>
          <p:cNvSpPr/>
          <p:nvPr/>
        </p:nvSpPr>
        <p:spPr>
          <a:xfrm>
            <a:off x="6427788" y="2699867"/>
            <a:ext cx="428625" cy="381000"/>
          </a:xfrm>
          <a:custGeom>
            <a:rect b="b" l="l" r="r" t="t"/>
            <a:pathLst>
              <a:path extrusionOk="0" h="381000" w="428625">
                <a:moveTo>
                  <a:pt x="381298" y="178594"/>
                </a:moveTo>
                <a:lnTo>
                  <a:pt x="250329" y="178594"/>
                </a:lnTo>
                <a:cubicBezTo>
                  <a:pt x="237158" y="178594"/>
                  <a:pt x="226516" y="167953"/>
                  <a:pt x="226516" y="154781"/>
                </a:cubicBezTo>
                <a:lnTo>
                  <a:pt x="226516" y="23812"/>
                </a:lnTo>
                <a:cubicBezTo>
                  <a:pt x="226516" y="10641"/>
                  <a:pt x="237232" y="-149"/>
                  <a:pt x="250254" y="1563"/>
                </a:cubicBezTo>
                <a:cubicBezTo>
                  <a:pt x="329878" y="12129"/>
                  <a:pt x="392981" y="75233"/>
                  <a:pt x="403547" y="154856"/>
                </a:cubicBezTo>
                <a:cubicBezTo>
                  <a:pt x="405259" y="167878"/>
                  <a:pt x="394469" y="178594"/>
                  <a:pt x="381298" y="178594"/>
                </a:cubicBezTo>
                <a:close/>
                <a:moveTo>
                  <a:pt x="165646" y="27682"/>
                </a:moveTo>
                <a:cubicBezTo>
                  <a:pt x="179115" y="24854"/>
                  <a:pt x="190798" y="35868"/>
                  <a:pt x="190798" y="49634"/>
                </a:cubicBezTo>
                <a:lnTo>
                  <a:pt x="190798" y="196453"/>
                </a:lnTo>
                <a:cubicBezTo>
                  <a:pt x="190798" y="200620"/>
                  <a:pt x="192286" y="204639"/>
                  <a:pt x="194890" y="207838"/>
                </a:cubicBezTo>
                <a:lnTo>
                  <a:pt x="293191" y="326454"/>
                </a:lnTo>
                <a:cubicBezTo>
                  <a:pt x="301898" y="336947"/>
                  <a:pt x="300038" y="352797"/>
                  <a:pt x="288057" y="359271"/>
                </a:cubicBezTo>
                <a:cubicBezTo>
                  <a:pt x="262682" y="373112"/>
                  <a:pt x="233586" y="381000"/>
                  <a:pt x="202704" y="381000"/>
                </a:cubicBezTo>
                <a:cubicBezTo>
                  <a:pt x="104105" y="381000"/>
                  <a:pt x="24110" y="301005"/>
                  <a:pt x="24110" y="202406"/>
                </a:cubicBezTo>
                <a:cubicBezTo>
                  <a:pt x="24110" y="116458"/>
                  <a:pt x="84758" y="44723"/>
                  <a:pt x="165646" y="27682"/>
                </a:cubicBezTo>
                <a:close/>
                <a:moveTo>
                  <a:pt x="355550" y="214313"/>
                </a:moveTo>
                <a:lnTo>
                  <a:pt x="403175" y="214313"/>
                </a:lnTo>
                <a:cubicBezTo>
                  <a:pt x="416942" y="214313"/>
                  <a:pt x="427955" y="225996"/>
                  <a:pt x="425128" y="239464"/>
                </a:cubicBezTo>
                <a:cubicBezTo>
                  <a:pt x="417537" y="275481"/>
                  <a:pt x="399083" y="307479"/>
                  <a:pt x="373335" y="331887"/>
                </a:cubicBezTo>
                <a:cubicBezTo>
                  <a:pt x="364182" y="340593"/>
                  <a:pt x="349821" y="338733"/>
                  <a:pt x="341784" y="328985"/>
                </a:cubicBezTo>
                <a:lnTo>
                  <a:pt x="278978" y="253305"/>
                </a:lnTo>
                <a:cubicBezTo>
                  <a:pt x="266105" y="237753"/>
                  <a:pt x="277192" y="214313"/>
                  <a:pt x="297284" y="214313"/>
                </a:cubicBezTo>
                <a:lnTo>
                  <a:pt x="355476" y="214313"/>
                </a:lnTo>
                <a:close/>
              </a:path>
            </a:pathLst>
          </a:custGeom>
          <a:solidFill>
            <a:srgbClr val="A95E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8"/>
          <p:cNvSpPr/>
          <p:nvPr/>
        </p:nvSpPr>
        <p:spPr>
          <a:xfrm>
            <a:off x="1135500" y="2430275"/>
            <a:ext cx="4171200" cy="4065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2400">
                <a:solidFill>
                  <a:srgbClr val="8F5C9A"/>
                </a:solidFill>
                <a:latin typeface="Noto Sans SC"/>
                <a:ea typeface="Noto Sans SC"/>
                <a:cs typeface="Noto Sans SC"/>
                <a:sym typeface="Noto Sans SC"/>
              </a:rPr>
              <a:t>Structural Limitation</a:t>
            </a:r>
            <a:r>
              <a:rPr b="1" lang="en-US" sz="2400">
                <a:solidFill>
                  <a:srgbClr val="8F5C9A"/>
                </a:solidFill>
                <a:latin typeface="Noto Sans SC"/>
                <a:ea typeface="Noto Sans SC"/>
                <a:cs typeface="Noto Sans SC"/>
                <a:sym typeface="Noto Sans SC"/>
              </a:rPr>
              <a:t> </a:t>
            </a:r>
            <a:endParaRPr b="0" i="0" sz="1600" u="none" cap="none" strike="noStrike"/>
          </a:p>
        </p:txBody>
      </p:sp>
      <p:sp>
        <p:nvSpPr>
          <p:cNvPr id="597" name="Google Shape;597;p18"/>
          <p:cNvSpPr/>
          <p:nvPr/>
        </p:nvSpPr>
        <p:spPr>
          <a:xfrm>
            <a:off x="7516950" y="2687125"/>
            <a:ext cx="2888100" cy="4065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2400">
                <a:solidFill>
                  <a:srgbClr val="8F5C9A"/>
                </a:solidFill>
                <a:latin typeface="Noto Sans SC"/>
                <a:ea typeface="Noto Sans SC"/>
                <a:cs typeface="Noto Sans SC"/>
                <a:sym typeface="Noto Sans SC"/>
              </a:rPr>
              <a:t>Prevalence</a:t>
            </a:r>
            <a:r>
              <a:rPr b="1" i="0" lang="en-US" sz="2400" u="none" cap="none" strike="noStrike">
                <a:solidFill>
                  <a:srgbClr val="8F5C9A"/>
                </a:solidFill>
                <a:latin typeface="Noto Sans SC"/>
                <a:ea typeface="Noto Sans SC"/>
                <a:cs typeface="Noto Sans SC"/>
                <a:sym typeface="Noto Sans SC"/>
              </a:rPr>
              <a:t> Bias</a:t>
            </a:r>
            <a:endParaRPr b="0" i="0" sz="1600" u="none" cap="none" strike="noStrike"/>
          </a:p>
        </p:txBody>
      </p:sp>
      <p:sp>
        <p:nvSpPr>
          <p:cNvPr id="598" name="Google Shape;598;p18"/>
          <p:cNvSpPr/>
          <p:nvPr/>
        </p:nvSpPr>
        <p:spPr>
          <a:xfrm>
            <a:off x="1541825" y="2913825"/>
            <a:ext cx="2989500" cy="274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2200">
                <a:solidFill>
                  <a:schemeClr val="accent2"/>
                </a:solidFill>
                <a:latin typeface="Noto Sans SC"/>
                <a:ea typeface="Noto Sans SC"/>
                <a:cs typeface="Noto Sans SC"/>
                <a:sym typeface="Noto Sans SC"/>
              </a:rPr>
              <a:t>The Tacrine case </a:t>
            </a:r>
            <a:endParaRPr b="0" i="0" u="none" cap="none" strike="noStrike">
              <a:solidFill>
                <a:schemeClr val="accent2"/>
              </a:solidFill>
            </a:endParaRPr>
          </a:p>
        </p:txBody>
      </p:sp>
      <p:sp>
        <p:nvSpPr>
          <p:cNvPr id="599" name="Google Shape;599;p18"/>
          <p:cNvSpPr/>
          <p:nvPr/>
        </p:nvSpPr>
        <p:spPr>
          <a:xfrm>
            <a:off x="254000" y="3508625"/>
            <a:ext cx="5376900" cy="12192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500">
                <a:solidFill>
                  <a:srgbClr val="3C3542"/>
                </a:solidFill>
                <a:highlight>
                  <a:srgbClr val="A95EAF"/>
                </a:highlight>
              </a:rPr>
              <a:t>Insight:</a:t>
            </a:r>
            <a:r>
              <a:rPr lang="en-US">
                <a:solidFill>
                  <a:srgbClr val="3C3542"/>
                </a:solidFill>
              </a:rPr>
              <a:t> </a:t>
            </a:r>
            <a:r>
              <a:rPr b="0" i="0" lang="en-US" sz="1400" u="none" cap="none" strike="noStrike">
                <a:solidFill>
                  <a:srgbClr val="3C3542"/>
                </a:solidFill>
                <a:latin typeface="Arial"/>
                <a:ea typeface="Arial"/>
                <a:cs typeface="Arial"/>
                <a:sym typeface="Arial"/>
              </a:rPr>
              <a:t>The Tacrine derivative false-negative reveals that </a:t>
            </a:r>
            <a:r>
              <a:rPr b="1" i="0" lang="en-US" sz="1400" u="none" cap="none" strike="noStrike">
                <a:solidFill>
                  <a:srgbClr val="A95EAF"/>
                </a:solidFill>
                <a:latin typeface="Arial"/>
                <a:ea typeface="Arial"/>
                <a:cs typeface="Arial"/>
                <a:sym typeface="Arial"/>
              </a:rPr>
              <a:t>2-D Morgan fingerprints</a:t>
            </a:r>
            <a:r>
              <a:rPr b="0" i="0" lang="en-US" sz="1400" u="none" cap="none" strike="noStrike">
                <a:solidFill>
                  <a:srgbClr val="3C3542"/>
                </a:solidFill>
                <a:latin typeface="Arial"/>
                <a:ea typeface="Arial"/>
                <a:cs typeface="Arial"/>
                <a:sym typeface="Arial"/>
              </a:rPr>
              <a:t> miss the 3-D structur</a:t>
            </a:r>
            <a:r>
              <a:rPr lang="en-US">
                <a:solidFill>
                  <a:srgbClr val="3C3542"/>
                </a:solidFill>
              </a:rPr>
              <a:t>e </a:t>
            </a:r>
            <a:r>
              <a:rPr b="0" i="0" lang="en-US" sz="1400" u="none" cap="none" strike="noStrike">
                <a:solidFill>
                  <a:srgbClr val="3C3542"/>
                </a:solidFill>
                <a:latin typeface="Arial"/>
                <a:ea typeface="Arial"/>
                <a:cs typeface="Arial"/>
                <a:sym typeface="Arial"/>
              </a:rPr>
              <a:t>of hybrid scaffolds. </a:t>
            </a:r>
            <a:endParaRPr>
              <a:solidFill>
                <a:srgbClr val="3C3542"/>
              </a:solidFill>
            </a:endParaRPr>
          </a:p>
          <a:p>
            <a:pPr indent="0" lvl="0" marL="0" marR="0" rtl="0" algn="l">
              <a:lnSpc>
                <a:spcPct val="140000"/>
              </a:lnSpc>
              <a:spcBef>
                <a:spcPts val="0"/>
              </a:spcBef>
              <a:spcAft>
                <a:spcPts val="0"/>
              </a:spcAft>
              <a:buNone/>
            </a:pPr>
            <a:r>
              <a:rPr lang="en-US" sz="1500">
                <a:solidFill>
                  <a:srgbClr val="3C3542"/>
                </a:solidFill>
                <a:highlight>
                  <a:srgbClr val="A95EAF"/>
                </a:highlight>
              </a:rPr>
              <a:t>Next step</a:t>
            </a:r>
            <a:r>
              <a:rPr b="0" i="0" lang="en-US" sz="1500" u="none" cap="none" strike="noStrike">
                <a:solidFill>
                  <a:srgbClr val="3C3542"/>
                </a:solidFill>
                <a:latin typeface="Arial"/>
                <a:ea typeface="Arial"/>
                <a:cs typeface="Arial"/>
                <a:sym typeface="Arial"/>
              </a:rPr>
              <a:t> </a:t>
            </a:r>
            <a:r>
              <a:rPr b="0" i="0" lang="en-US" sz="1400" u="none" cap="none" strike="noStrike">
                <a:solidFill>
                  <a:srgbClr val="3C3542"/>
                </a:solidFill>
                <a:latin typeface="Arial"/>
                <a:ea typeface="Arial"/>
                <a:cs typeface="Arial"/>
                <a:sym typeface="Arial"/>
              </a:rPr>
              <a:t>must incorporate </a:t>
            </a:r>
            <a:r>
              <a:rPr b="0" i="0" lang="en-US" sz="1400" u="none" cap="none" strike="noStrike">
                <a:solidFill>
                  <a:srgbClr val="3C3542"/>
                </a:solidFill>
                <a:highlight>
                  <a:srgbClr val="DFCDE5"/>
                </a:highlight>
                <a:latin typeface="Arial"/>
                <a:ea typeface="Arial"/>
                <a:cs typeface="Arial"/>
                <a:sym typeface="Arial"/>
              </a:rPr>
              <a:t>3-D descriptors </a:t>
            </a:r>
            <a:r>
              <a:rPr b="0" i="0" lang="en-US" sz="1400" u="none" cap="none" strike="noStrike">
                <a:solidFill>
                  <a:srgbClr val="3C3542"/>
                </a:solidFill>
                <a:latin typeface="Arial"/>
                <a:ea typeface="Arial"/>
                <a:cs typeface="Arial"/>
                <a:sym typeface="Arial"/>
              </a:rPr>
              <a:t>to expand the model's applicability domain.</a:t>
            </a:r>
            <a:endParaRPr b="0" i="0" sz="1600" u="none" cap="none" strike="noStrike"/>
          </a:p>
        </p:txBody>
      </p:sp>
      <p:sp>
        <p:nvSpPr>
          <p:cNvPr id="600" name="Google Shape;600;p18"/>
          <p:cNvSpPr/>
          <p:nvPr/>
        </p:nvSpPr>
        <p:spPr>
          <a:xfrm>
            <a:off x="254000" y="696650"/>
            <a:ext cx="11874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3000" u="none" cap="none" strike="noStrike">
                <a:solidFill>
                  <a:srgbClr val="8F5C9A"/>
                </a:solidFill>
                <a:latin typeface="Noto Sans SC"/>
                <a:ea typeface="Noto Sans SC"/>
                <a:cs typeface="Noto Sans SC"/>
                <a:sym typeface="Noto Sans SC"/>
              </a:rPr>
              <a:t>Limitation</a:t>
            </a:r>
            <a:r>
              <a:rPr b="1" lang="en-US" sz="3000">
                <a:solidFill>
                  <a:srgbClr val="8F5C9A"/>
                </a:solidFill>
                <a:latin typeface="Noto Sans SC"/>
                <a:ea typeface="Noto Sans SC"/>
                <a:cs typeface="Noto Sans SC"/>
                <a:sym typeface="Noto Sans SC"/>
              </a:rPr>
              <a:t>s</a:t>
            </a:r>
            <a:endParaRPr b="0" i="0" sz="3000" u="none" cap="none" strike="noStrike"/>
          </a:p>
        </p:txBody>
      </p:sp>
      <p:sp>
        <p:nvSpPr>
          <p:cNvPr id="601" name="Google Shape;601;p18"/>
          <p:cNvSpPr/>
          <p:nvPr/>
        </p:nvSpPr>
        <p:spPr>
          <a:xfrm>
            <a:off x="7080300" y="3093625"/>
            <a:ext cx="3813000" cy="274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2200">
                <a:solidFill>
                  <a:schemeClr val="accent2"/>
                </a:solidFill>
                <a:latin typeface="Noto Sans SC"/>
                <a:ea typeface="Noto Sans SC"/>
                <a:cs typeface="Noto Sans SC"/>
                <a:sym typeface="Noto Sans SC"/>
              </a:rPr>
              <a:t>Real-world deployment</a:t>
            </a:r>
            <a:r>
              <a:rPr b="1" lang="en-US" sz="2200">
                <a:solidFill>
                  <a:schemeClr val="accent2"/>
                </a:solidFill>
                <a:latin typeface="Noto Sans SC"/>
                <a:ea typeface="Noto Sans SC"/>
                <a:cs typeface="Noto Sans SC"/>
                <a:sym typeface="Noto Sans SC"/>
              </a:rPr>
              <a:t> </a:t>
            </a:r>
            <a:endParaRPr b="0" i="0" u="none" cap="none" strike="noStrike">
              <a:solidFill>
                <a:schemeClr val="accent2"/>
              </a:solidFill>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6" name="Shape 606"/>
        <p:cNvGrpSpPr/>
        <p:nvPr/>
      </p:nvGrpSpPr>
      <p:grpSpPr>
        <a:xfrm>
          <a:off x="0" y="0"/>
          <a:ext cx="0" cy="0"/>
          <a:chOff x="0" y="0"/>
          <a:chExt cx="0" cy="0"/>
        </a:xfrm>
      </p:grpSpPr>
      <p:sp>
        <p:nvSpPr>
          <p:cNvPr id="607" name="Google Shape;607;p17"/>
          <p:cNvSpPr/>
          <p:nvPr/>
        </p:nvSpPr>
        <p:spPr>
          <a:xfrm rot="5940000">
            <a:off x="367665" y="335915"/>
            <a:ext cx="558800" cy="594995"/>
          </a:xfrm>
          <a:prstGeom prst="donut">
            <a:avLst>
              <a:gd fmla="val 25000" name="adj"/>
            </a:avLst>
          </a:prstGeom>
          <a:gradFill>
            <a:gsLst>
              <a:gs pos="0">
                <a:srgbClr val="402E7F"/>
              </a:gs>
              <a:gs pos="54000">
                <a:srgbClr val="BC7DB7">
                  <a:alpha val="2745"/>
                </a:srgbClr>
              </a:gs>
              <a:gs pos="100000">
                <a:srgbClr val="BC7DB7">
                  <a:alpha val="2745"/>
                </a:srgbClr>
              </a:gs>
            </a:gsLst>
            <a:lin ang="189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7"/>
          <p:cNvSpPr/>
          <p:nvPr/>
        </p:nvSpPr>
        <p:spPr>
          <a:xfrm rot="5940000">
            <a:off x="367665" y="335915"/>
            <a:ext cx="558800" cy="594995"/>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09" name="Google Shape;609;p17"/>
          <p:cNvSpPr/>
          <p:nvPr/>
        </p:nvSpPr>
        <p:spPr>
          <a:xfrm>
            <a:off x="4445" y="0"/>
            <a:ext cx="12187555" cy="6875780"/>
          </a:xfrm>
          <a:prstGeom prst="rect">
            <a:avLst/>
          </a:prstGeom>
          <a:gradFill>
            <a:gsLst>
              <a:gs pos="0">
                <a:srgbClr val="D7B1D4"/>
              </a:gs>
              <a:gs pos="34000">
                <a:srgbClr val="BC7DB7"/>
              </a:gs>
              <a:gs pos="100000">
                <a:srgbClr val="30225F"/>
              </a:gs>
            </a:gsLst>
            <a:lin ang="135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7"/>
          <p:cNvSpPr/>
          <p:nvPr/>
        </p:nvSpPr>
        <p:spPr>
          <a:xfrm>
            <a:off x="4445" y="0"/>
            <a:ext cx="12187555" cy="68757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11" name="Google Shape;611;p17"/>
          <p:cNvSpPr/>
          <p:nvPr/>
        </p:nvSpPr>
        <p:spPr>
          <a:xfrm>
            <a:off x="85280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7"/>
          <p:cNvSpPr/>
          <p:nvPr/>
        </p:nvSpPr>
        <p:spPr>
          <a:xfrm>
            <a:off x="85280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13" name="Google Shape;613;p17"/>
          <p:cNvSpPr/>
          <p:nvPr/>
        </p:nvSpPr>
        <p:spPr>
          <a:xfrm>
            <a:off x="113665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7"/>
          <p:cNvSpPr/>
          <p:nvPr/>
        </p:nvSpPr>
        <p:spPr>
          <a:xfrm>
            <a:off x="113665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15" name="Google Shape;615;p17"/>
          <p:cNvSpPr/>
          <p:nvPr/>
        </p:nvSpPr>
        <p:spPr>
          <a:xfrm>
            <a:off x="142049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7"/>
          <p:cNvSpPr/>
          <p:nvPr/>
        </p:nvSpPr>
        <p:spPr>
          <a:xfrm>
            <a:off x="142049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17" name="Google Shape;617;p17"/>
          <p:cNvSpPr/>
          <p:nvPr/>
        </p:nvSpPr>
        <p:spPr>
          <a:xfrm>
            <a:off x="170434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7"/>
          <p:cNvSpPr/>
          <p:nvPr/>
        </p:nvSpPr>
        <p:spPr>
          <a:xfrm>
            <a:off x="170434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19" name="Google Shape;619;p17"/>
          <p:cNvSpPr/>
          <p:nvPr/>
        </p:nvSpPr>
        <p:spPr>
          <a:xfrm>
            <a:off x="198818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7"/>
          <p:cNvSpPr/>
          <p:nvPr/>
        </p:nvSpPr>
        <p:spPr>
          <a:xfrm>
            <a:off x="198818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21" name="Google Shape;621;p17"/>
          <p:cNvSpPr/>
          <p:nvPr/>
        </p:nvSpPr>
        <p:spPr>
          <a:xfrm>
            <a:off x="227203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7"/>
          <p:cNvSpPr/>
          <p:nvPr/>
        </p:nvSpPr>
        <p:spPr>
          <a:xfrm>
            <a:off x="227203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23" name="Google Shape;623;p17"/>
          <p:cNvSpPr/>
          <p:nvPr/>
        </p:nvSpPr>
        <p:spPr>
          <a:xfrm>
            <a:off x="11456035" y="381635"/>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7"/>
          <p:cNvSpPr/>
          <p:nvPr/>
        </p:nvSpPr>
        <p:spPr>
          <a:xfrm>
            <a:off x="11456035" y="381635"/>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25" name="Google Shape;625;p17"/>
          <p:cNvSpPr/>
          <p:nvPr/>
        </p:nvSpPr>
        <p:spPr>
          <a:xfrm>
            <a:off x="11456035" y="501650"/>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7"/>
          <p:cNvSpPr/>
          <p:nvPr/>
        </p:nvSpPr>
        <p:spPr>
          <a:xfrm>
            <a:off x="11456035" y="501650"/>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27" name="Google Shape;627;p17"/>
          <p:cNvSpPr/>
          <p:nvPr/>
        </p:nvSpPr>
        <p:spPr>
          <a:xfrm>
            <a:off x="11456035" y="621665"/>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7"/>
          <p:cNvSpPr/>
          <p:nvPr/>
        </p:nvSpPr>
        <p:spPr>
          <a:xfrm>
            <a:off x="11456035" y="621665"/>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cxnSp>
        <p:nvCxnSpPr>
          <p:cNvPr id="629" name="Google Shape;629;p17"/>
          <p:cNvCxnSpPr/>
          <p:nvPr/>
        </p:nvCxnSpPr>
        <p:spPr>
          <a:xfrm>
            <a:off x="1727190" y="6306820"/>
            <a:ext cx="10080000" cy="0"/>
          </a:xfrm>
          <a:prstGeom prst="straightConnector1">
            <a:avLst/>
          </a:prstGeom>
          <a:noFill/>
          <a:ln cap="flat" cmpd="sng" w="19050">
            <a:solidFill>
              <a:srgbClr val="FFFFFF"/>
            </a:solidFill>
            <a:prstDash val="solid"/>
            <a:round/>
            <a:headEnd len="sm" w="sm" type="none"/>
            <a:tailEnd len="sm" w="sm" type="none"/>
          </a:ln>
        </p:spPr>
      </p:cxnSp>
      <p:sp>
        <p:nvSpPr>
          <p:cNvPr id="630" name="Google Shape;630;p17"/>
          <p:cNvSpPr/>
          <p:nvPr/>
        </p:nvSpPr>
        <p:spPr>
          <a:xfrm>
            <a:off x="852805" y="6177280"/>
            <a:ext cx="259080" cy="2590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7"/>
          <p:cNvSpPr/>
          <p:nvPr/>
        </p:nvSpPr>
        <p:spPr>
          <a:xfrm>
            <a:off x="852805" y="6177280"/>
            <a:ext cx="259080" cy="2590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32" name="Google Shape;632;p17"/>
          <p:cNvSpPr/>
          <p:nvPr/>
        </p:nvSpPr>
        <p:spPr>
          <a:xfrm>
            <a:off x="979805" y="6177280"/>
            <a:ext cx="259080" cy="2590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7"/>
          <p:cNvSpPr/>
          <p:nvPr/>
        </p:nvSpPr>
        <p:spPr>
          <a:xfrm>
            <a:off x="979805" y="6177280"/>
            <a:ext cx="259080" cy="2590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34" name="Google Shape;634;p17"/>
          <p:cNvSpPr/>
          <p:nvPr/>
        </p:nvSpPr>
        <p:spPr>
          <a:xfrm>
            <a:off x="541655" y="2687320"/>
            <a:ext cx="11172825" cy="2306955"/>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7"/>
          <p:cNvSpPr/>
          <p:nvPr/>
        </p:nvSpPr>
        <p:spPr>
          <a:xfrm>
            <a:off x="541655" y="2687320"/>
            <a:ext cx="11172825" cy="2306955"/>
          </a:xfrm>
          <a:prstGeom prst="rect">
            <a:avLst/>
          </a:prstGeom>
          <a:noFill/>
          <a:ln>
            <a:noFill/>
          </a:ln>
        </p:spPr>
        <p:txBody>
          <a:bodyPr anchorCtr="0" anchor="t" bIns="45700" lIns="45700" spcFirstLastPara="1" rIns="91425" wrap="square" tIns="91425">
            <a:noAutofit/>
          </a:bodyPr>
          <a:lstStyle/>
          <a:p>
            <a:pPr indent="0" lvl="0" marL="0" marR="0" rtl="0" algn="ctr">
              <a:lnSpc>
                <a:spcPct val="100000"/>
              </a:lnSpc>
              <a:spcBef>
                <a:spcPts val="0"/>
              </a:spcBef>
              <a:spcAft>
                <a:spcPts val="0"/>
              </a:spcAft>
              <a:buNone/>
            </a:pPr>
            <a:r>
              <a:rPr b="1" lang="en-US" sz="7200">
                <a:solidFill>
                  <a:srgbClr val="FFFFFF"/>
                </a:solidFill>
              </a:rPr>
              <a:t>Conclusions</a:t>
            </a:r>
            <a:endParaRPr b="0" i="0" sz="1600" u="none" cap="none" strike="noStrike"/>
          </a:p>
        </p:txBody>
      </p:sp>
      <p:sp>
        <p:nvSpPr>
          <p:cNvPr id="636" name="Google Shape;636;p17"/>
          <p:cNvSpPr/>
          <p:nvPr/>
        </p:nvSpPr>
        <p:spPr>
          <a:xfrm>
            <a:off x="2515235" y="1350010"/>
            <a:ext cx="7161530" cy="1198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200" u="none" cap="none" strike="noStrike">
                <a:solidFill>
                  <a:srgbClr val="FFFFFF"/>
                </a:solidFill>
                <a:latin typeface="Arial"/>
                <a:ea typeface="Arial"/>
                <a:cs typeface="Arial"/>
                <a:sym typeface="Arial"/>
              </a:rPr>
              <a:t>0</a:t>
            </a:r>
            <a:r>
              <a:rPr lang="en-US" sz="7200">
                <a:solidFill>
                  <a:srgbClr val="FFFFFF"/>
                </a:solidFill>
              </a:rPr>
              <a:t>7</a:t>
            </a:r>
            <a:endParaRPr b="0" i="0" sz="1600" u="none" cap="none" strike="noStrike"/>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641" name="Shape 641"/>
        <p:cNvGrpSpPr/>
        <p:nvPr/>
      </p:nvGrpSpPr>
      <p:grpSpPr>
        <a:xfrm>
          <a:off x="0" y="0"/>
          <a:ext cx="0" cy="0"/>
          <a:chOff x="0" y="0"/>
          <a:chExt cx="0" cy="0"/>
        </a:xfrm>
      </p:grpSpPr>
      <p:pic>
        <p:nvPicPr>
          <p:cNvPr descr="https://kimi-img.moonshot.cn/pub/slides/slides_tmpl/image/25-09-08-15:08:29-d2v81rdnfo2stf9dkdb0.jpg" id="642" name="Google Shape;642;g3b04a6e45c8_0_37"/>
          <p:cNvPicPr preferRelativeResize="0"/>
          <p:nvPr/>
        </p:nvPicPr>
        <p:blipFill rotWithShape="1">
          <a:blip r:embed="rId3">
            <a:alphaModFix/>
          </a:blip>
          <a:srcRect b="0" l="0" r="0" t="0"/>
          <a:stretch/>
        </p:blipFill>
        <p:spPr>
          <a:xfrm>
            <a:off x="-158750" y="-6350"/>
            <a:ext cx="12350749" cy="6960235"/>
          </a:xfrm>
          <a:prstGeom prst="rect">
            <a:avLst/>
          </a:prstGeom>
          <a:noFill/>
          <a:ln>
            <a:noFill/>
          </a:ln>
        </p:spPr>
      </p:pic>
      <p:sp>
        <p:nvSpPr>
          <p:cNvPr descr="https://kimi-web-img.moonshot.cn/img/simg.baai.ac.cn/68d356072b80a2b7ad2a99f9d615c2c258a07126.webp" id="643" name="Google Shape;643;g3b04a6e45c8_0_37"/>
          <p:cNvSpPr/>
          <p:nvPr/>
        </p:nvSpPr>
        <p:spPr>
          <a:xfrm>
            <a:off x="254000" y="4013200"/>
            <a:ext cx="3302100" cy="1219200"/>
          </a:xfrm>
          <a:prstGeom prst="roundRect">
            <a:avLst>
              <a:gd fmla="val 8333"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g3b04a6e45c8_0_37"/>
          <p:cNvSpPr/>
          <p:nvPr/>
        </p:nvSpPr>
        <p:spPr>
          <a:xfrm>
            <a:off x="-123875" y="640075"/>
            <a:ext cx="11874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3500">
                <a:solidFill>
                  <a:srgbClr val="8F5C9A"/>
                </a:solidFill>
                <a:latin typeface="Noto Sans SC"/>
                <a:ea typeface="Noto Sans SC"/>
                <a:cs typeface="Noto Sans SC"/>
                <a:sym typeface="Noto Sans SC"/>
              </a:rPr>
              <a:t>Conclusions</a:t>
            </a:r>
            <a:endParaRPr b="0" i="0" sz="2100" u="none" cap="none" strike="noStrike"/>
          </a:p>
        </p:txBody>
      </p:sp>
      <p:sp>
        <p:nvSpPr>
          <p:cNvPr id="645" name="Google Shape;645;g3b04a6e45c8_0_37"/>
          <p:cNvSpPr/>
          <p:nvPr/>
        </p:nvSpPr>
        <p:spPr>
          <a:xfrm>
            <a:off x="1625025" y="1929650"/>
            <a:ext cx="1016000" cy="1016000"/>
          </a:xfrm>
          <a:custGeom>
            <a:rect b="b" l="l" r="r" t="t"/>
            <a:pathLst>
              <a:path extrusionOk="0" h="1016000" w="1016000">
                <a:moveTo>
                  <a:pt x="508000" y="0"/>
                </a:moveTo>
                <a:lnTo>
                  <a:pt x="508000" y="0"/>
                </a:lnTo>
                <a:cubicBezTo>
                  <a:pt x="788373" y="0"/>
                  <a:pt x="1016000" y="227627"/>
                  <a:pt x="1016000" y="508000"/>
                </a:cubicBezTo>
                <a:lnTo>
                  <a:pt x="1016000" y="508000"/>
                </a:lnTo>
                <a:cubicBezTo>
                  <a:pt x="1016000" y="788373"/>
                  <a:pt x="788373" y="1016000"/>
                  <a:pt x="508000" y="1016000"/>
                </a:cubicBezTo>
                <a:lnTo>
                  <a:pt x="508000" y="1016000"/>
                </a:lnTo>
                <a:cubicBezTo>
                  <a:pt x="227627" y="1016000"/>
                  <a:pt x="0" y="788373"/>
                  <a:pt x="0" y="508000"/>
                </a:cubicBezTo>
                <a:lnTo>
                  <a:pt x="0" y="508000"/>
                </a:lnTo>
                <a:cubicBezTo>
                  <a:pt x="0" y="227627"/>
                  <a:pt x="227627" y="0"/>
                  <a:pt x="508000" y="0"/>
                </a:cubicBezTo>
                <a:close/>
              </a:path>
            </a:pathLst>
          </a:custGeom>
          <a:solidFill>
            <a:srgbClr val="D3B9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g3b04a6e45c8_0_37"/>
          <p:cNvSpPr/>
          <p:nvPr/>
        </p:nvSpPr>
        <p:spPr>
          <a:xfrm>
            <a:off x="1942525" y="2247150"/>
            <a:ext cx="381000" cy="381000"/>
          </a:xfrm>
          <a:custGeom>
            <a:rect b="b" l="l" r="r" t="t"/>
            <a:pathLst>
              <a:path extrusionOk="0" h="381000" w="381000">
                <a:moveTo>
                  <a:pt x="23812" y="47625"/>
                </a:moveTo>
                <a:cubicBezTo>
                  <a:pt x="14213" y="47625"/>
                  <a:pt x="5507" y="53429"/>
                  <a:pt x="1786" y="62359"/>
                </a:cubicBezTo>
                <a:cubicBezTo>
                  <a:pt x="-1935" y="71289"/>
                  <a:pt x="149" y="81483"/>
                  <a:pt x="6995" y="88255"/>
                </a:cubicBezTo>
                <a:lnTo>
                  <a:pt x="142875" y="224210"/>
                </a:lnTo>
                <a:lnTo>
                  <a:pt x="142875" y="309563"/>
                </a:lnTo>
                <a:cubicBezTo>
                  <a:pt x="142875" y="315888"/>
                  <a:pt x="145405" y="321915"/>
                  <a:pt x="149870" y="326380"/>
                </a:cubicBezTo>
                <a:lnTo>
                  <a:pt x="197495" y="374005"/>
                </a:lnTo>
                <a:cubicBezTo>
                  <a:pt x="204341" y="380851"/>
                  <a:pt x="214536" y="382860"/>
                  <a:pt x="223465" y="379140"/>
                </a:cubicBezTo>
                <a:cubicBezTo>
                  <a:pt x="232395" y="375419"/>
                  <a:pt x="238125" y="366787"/>
                  <a:pt x="238125" y="357188"/>
                </a:cubicBezTo>
                <a:lnTo>
                  <a:pt x="238125" y="224210"/>
                </a:lnTo>
                <a:lnTo>
                  <a:pt x="374005" y="88329"/>
                </a:lnTo>
                <a:cubicBezTo>
                  <a:pt x="380851" y="81483"/>
                  <a:pt x="382860" y="71289"/>
                  <a:pt x="379140" y="62359"/>
                </a:cubicBezTo>
                <a:cubicBezTo>
                  <a:pt x="375419" y="53429"/>
                  <a:pt x="366787" y="47625"/>
                  <a:pt x="357188" y="47625"/>
                </a:cubicBezTo>
                <a:lnTo>
                  <a:pt x="23812" y="47625"/>
                </a:lnTo>
                <a:close/>
              </a:path>
            </a:pathLst>
          </a:custGeom>
          <a:solidFill>
            <a:srgbClr val="8F5C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g3b04a6e45c8_0_37"/>
          <p:cNvSpPr/>
          <p:nvPr/>
        </p:nvSpPr>
        <p:spPr>
          <a:xfrm>
            <a:off x="1531685" y="3168263"/>
            <a:ext cx="14352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600" u="none" cap="none" strike="noStrike">
                <a:solidFill>
                  <a:srgbClr val="3C3542"/>
                </a:solidFill>
                <a:latin typeface="Arial"/>
                <a:ea typeface="Arial"/>
                <a:cs typeface="Arial"/>
                <a:sym typeface="Arial"/>
              </a:rPr>
              <a:t>Data Curation</a:t>
            </a:r>
            <a:endParaRPr b="0" i="0" sz="1600" u="none" cap="none" strike="noStrike"/>
          </a:p>
        </p:txBody>
      </p:sp>
      <p:sp>
        <p:nvSpPr>
          <p:cNvPr id="648" name="Google Shape;648;g3b04a6e45c8_0_37"/>
          <p:cNvSpPr/>
          <p:nvPr/>
        </p:nvSpPr>
        <p:spPr>
          <a:xfrm>
            <a:off x="1138075" y="3601950"/>
            <a:ext cx="2222400" cy="7620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lang="en-US" sz="1300">
                <a:solidFill>
                  <a:srgbClr val="3C3542"/>
                </a:solidFill>
              </a:rPr>
              <a:t>Rigorous 'Grey Zone' </a:t>
            </a:r>
            <a:r>
              <a:rPr lang="en-US" sz="1300">
                <a:solidFill>
                  <a:srgbClr val="8F5C9A"/>
                </a:solidFill>
              </a:rPr>
              <a:t>filtering</a:t>
            </a:r>
            <a:r>
              <a:rPr lang="en-US" sz="1300">
                <a:solidFill>
                  <a:srgbClr val="3C3542"/>
                </a:solidFill>
              </a:rPr>
              <a:t> &amp; </a:t>
            </a:r>
            <a:r>
              <a:rPr lang="en-US" sz="1300">
                <a:solidFill>
                  <a:srgbClr val="8F5C9A"/>
                </a:solidFill>
              </a:rPr>
              <a:t>Class Balancing</a:t>
            </a:r>
            <a:r>
              <a:rPr lang="en-US" sz="1300">
                <a:solidFill>
                  <a:srgbClr val="3C3542"/>
                </a:solidFill>
              </a:rPr>
              <a:t> removed statistical bias</a:t>
            </a:r>
            <a:r>
              <a:rPr lang="en-US" sz="1200">
                <a:solidFill>
                  <a:srgbClr val="3C3542"/>
                </a:solidFill>
              </a:rPr>
              <a:t>.</a:t>
            </a:r>
            <a:endParaRPr b="0" i="0" sz="1600" u="none" cap="none" strike="noStrike"/>
          </a:p>
        </p:txBody>
      </p:sp>
      <p:sp>
        <p:nvSpPr>
          <p:cNvPr id="649" name="Google Shape;649;g3b04a6e45c8_0_37"/>
          <p:cNvSpPr/>
          <p:nvPr/>
        </p:nvSpPr>
        <p:spPr>
          <a:xfrm>
            <a:off x="3718100" y="2323342"/>
            <a:ext cx="304800" cy="304800"/>
          </a:xfrm>
          <a:custGeom>
            <a:rect b="b" l="l" r="r" t="t"/>
            <a:pathLst>
              <a:path extrusionOk="0" h="304800" w="304800">
                <a:moveTo>
                  <a:pt x="299204" y="165854"/>
                </a:moveTo>
                <a:cubicBezTo>
                  <a:pt x="306645" y="158413"/>
                  <a:pt x="306645" y="146328"/>
                  <a:pt x="299204" y="138886"/>
                </a:cubicBezTo>
                <a:lnTo>
                  <a:pt x="203954" y="43636"/>
                </a:lnTo>
                <a:cubicBezTo>
                  <a:pt x="196513" y="36195"/>
                  <a:pt x="184428" y="36195"/>
                  <a:pt x="176986" y="43636"/>
                </a:cubicBezTo>
                <a:cubicBezTo>
                  <a:pt x="169545" y="51078"/>
                  <a:pt x="169545" y="63163"/>
                  <a:pt x="176986" y="70604"/>
                </a:cubicBezTo>
                <a:lnTo>
                  <a:pt x="239732" y="133350"/>
                </a:lnTo>
                <a:lnTo>
                  <a:pt x="19050" y="133350"/>
                </a:lnTo>
                <a:cubicBezTo>
                  <a:pt x="8513" y="133350"/>
                  <a:pt x="0" y="141863"/>
                  <a:pt x="0" y="152400"/>
                </a:cubicBezTo>
                <a:cubicBezTo>
                  <a:pt x="0" y="162937"/>
                  <a:pt x="8513" y="171450"/>
                  <a:pt x="19050" y="171450"/>
                </a:cubicBezTo>
                <a:lnTo>
                  <a:pt x="239732" y="171450"/>
                </a:lnTo>
                <a:lnTo>
                  <a:pt x="176986" y="234196"/>
                </a:lnTo>
                <a:cubicBezTo>
                  <a:pt x="169545" y="241637"/>
                  <a:pt x="169545" y="253722"/>
                  <a:pt x="176986" y="261164"/>
                </a:cubicBezTo>
                <a:cubicBezTo>
                  <a:pt x="184428" y="268605"/>
                  <a:pt x="196513" y="268605"/>
                  <a:pt x="203954" y="261164"/>
                </a:cubicBezTo>
                <a:lnTo>
                  <a:pt x="299204" y="165914"/>
                </a:lnTo>
                <a:close/>
              </a:path>
            </a:pathLst>
          </a:custGeom>
          <a:solidFill>
            <a:srgbClr val="A95E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g3b04a6e45c8_0_37"/>
          <p:cNvSpPr/>
          <p:nvPr/>
        </p:nvSpPr>
        <p:spPr>
          <a:xfrm>
            <a:off x="5123875" y="1967750"/>
            <a:ext cx="1016000" cy="1016000"/>
          </a:xfrm>
          <a:custGeom>
            <a:rect b="b" l="l" r="r" t="t"/>
            <a:pathLst>
              <a:path extrusionOk="0" h="1016000" w="1016000">
                <a:moveTo>
                  <a:pt x="508000" y="0"/>
                </a:moveTo>
                <a:lnTo>
                  <a:pt x="508000" y="0"/>
                </a:lnTo>
                <a:cubicBezTo>
                  <a:pt x="788373" y="0"/>
                  <a:pt x="1016000" y="227627"/>
                  <a:pt x="1016000" y="508000"/>
                </a:cubicBezTo>
                <a:lnTo>
                  <a:pt x="1016000" y="508000"/>
                </a:lnTo>
                <a:cubicBezTo>
                  <a:pt x="1016000" y="788373"/>
                  <a:pt x="788373" y="1016000"/>
                  <a:pt x="508000" y="1016000"/>
                </a:cubicBezTo>
                <a:lnTo>
                  <a:pt x="508000" y="1016000"/>
                </a:lnTo>
                <a:cubicBezTo>
                  <a:pt x="227627" y="1016000"/>
                  <a:pt x="0" y="788373"/>
                  <a:pt x="0" y="508000"/>
                </a:cubicBezTo>
                <a:lnTo>
                  <a:pt x="0" y="508000"/>
                </a:lnTo>
                <a:cubicBezTo>
                  <a:pt x="0" y="227627"/>
                  <a:pt x="227627" y="0"/>
                  <a:pt x="508000" y="0"/>
                </a:cubicBezTo>
                <a:close/>
              </a:path>
            </a:pathLst>
          </a:custGeom>
          <a:solidFill>
            <a:srgbClr val="D3B9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g3b04a6e45c8_0_37"/>
          <p:cNvSpPr/>
          <p:nvPr/>
        </p:nvSpPr>
        <p:spPr>
          <a:xfrm>
            <a:off x="5393750" y="2285250"/>
            <a:ext cx="476250" cy="381000"/>
          </a:xfrm>
          <a:custGeom>
            <a:rect b="b" l="l" r="r" t="t"/>
            <a:pathLst>
              <a:path extrusionOk="0" h="381000" w="476250">
                <a:moveTo>
                  <a:pt x="309488" y="156642"/>
                </a:moveTo>
                <a:cubicBezTo>
                  <a:pt x="318567" y="154186"/>
                  <a:pt x="328092" y="158502"/>
                  <a:pt x="332184" y="166911"/>
                </a:cubicBezTo>
                <a:lnTo>
                  <a:pt x="346025" y="194890"/>
                </a:lnTo>
                <a:cubicBezTo>
                  <a:pt x="353690" y="195932"/>
                  <a:pt x="361206" y="198016"/>
                  <a:pt x="368275" y="200918"/>
                </a:cubicBezTo>
                <a:lnTo>
                  <a:pt x="394320" y="183579"/>
                </a:lnTo>
                <a:cubicBezTo>
                  <a:pt x="402134" y="178371"/>
                  <a:pt x="412477" y="179412"/>
                  <a:pt x="419100" y="186035"/>
                </a:cubicBezTo>
                <a:lnTo>
                  <a:pt x="433388" y="200323"/>
                </a:lnTo>
                <a:cubicBezTo>
                  <a:pt x="440010" y="206946"/>
                  <a:pt x="441052" y="217363"/>
                  <a:pt x="435843" y="225103"/>
                </a:cubicBezTo>
                <a:lnTo>
                  <a:pt x="418505" y="251073"/>
                </a:lnTo>
                <a:cubicBezTo>
                  <a:pt x="419919" y="254571"/>
                  <a:pt x="421184" y="258217"/>
                  <a:pt x="422225" y="262012"/>
                </a:cubicBezTo>
                <a:cubicBezTo>
                  <a:pt x="423267" y="265807"/>
                  <a:pt x="423937" y="269528"/>
                  <a:pt x="424458" y="273323"/>
                </a:cubicBezTo>
                <a:lnTo>
                  <a:pt x="452512" y="287164"/>
                </a:lnTo>
                <a:cubicBezTo>
                  <a:pt x="460921" y="291331"/>
                  <a:pt x="465237" y="300856"/>
                  <a:pt x="462781" y="309860"/>
                </a:cubicBezTo>
                <a:lnTo>
                  <a:pt x="457572" y="329357"/>
                </a:lnTo>
                <a:cubicBezTo>
                  <a:pt x="455116" y="338361"/>
                  <a:pt x="446708" y="344463"/>
                  <a:pt x="437331" y="343867"/>
                </a:cubicBezTo>
                <a:lnTo>
                  <a:pt x="406078" y="341858"/>
                </a:lnTo>
                <a:cubicBezTo>
                  <a:pt x="401389" y="347886"/>
                  <a:pt x="395957" y="353467"/>
                  <a:pt x="389781" y="358229"/>
                </a:cubicBezTo>
                <a:lnTo>
                  <a:pt x="391790" y="389409"/>
                </a:lnTo>
                <a:cubicBezTo>
                  <a:pt x="392385" y="398785"/>
                  <a:pt x="386283" y="407268"/>
                  <a:pt x="377279" y="409649"/>
                </a:cubicBezTo>
                <a:lnTo>
                  <a:pt x="357783" y="414858"/>
                </a:lnTo>
                <a:cubicBezTo>
                  <a:pt x="348704" y="417314"/>
                  <a:pt x="339254" y="412998"/>
                  <a:pt x="335087" y="404589"/>
                </a:cubicBezTo>
                <a:lnTo>
                  <a:pt x="321246" y="376610"/>
                </a:lnTo>
                <a:cubicBezTo>
                  <a:pt x="313581" y="375568"/>
                  <a:pt x="306065" y="373484"/>
                  <a:pt x="298996" y="370582"/>
                </a:cubicBezTo>
                <a:lnTo>
                  <a:pt x="272951" y="387921"/>
                </a:lnTo>
                <a:cubicBezTo>
                  <a:pt x="265137" y="393129"/>
                  <a:pt x="254794" y="392088"/>
                  <a:pt x="248171" y="385465"/>
                </a:cubicBezTo>
                <a:lnTo>
                  <a:pt x="233883" y="371177"/>
                </a:lnTo>
                <a:cubicBezTo>
                  <a:pt x="227261" y="364554"/>
                  <a:pt x="226219" y="354211"/>
                  <a:pt x="231428" y="346397"/>
                </a:cubicBezTo>
                <a:lnTo>
                  <a:pt x="248766" y="320353"/>
                </a:lnTo>
                <a:cubicBezTo>
                  <a:pt x="247352" y="316855"/>
                  <a:pt x="246087" y="313209"/>
                  <a:pt x="245046" y="309414"/>
                </a:cubicBezTo>
                <a:cubicBezTo>
                  <a:pt x="244004" y="305619"/>
                  <a:pt x="243334" y="301823"/>
                  <a:pt x="242813" y="298103"/>
                </a:cubicBezTo>
                <a:lnTo>
                  <a:pt x="214759" y="284262"/>
                </a:lnTo>
                <a:cubicBezTo>
                  <a:pt x="206350" y="280095"/>
                  <a:pt x="202109" y="270570"/>
                  <a:pt x="204490" y="261565"/>
                </a:cubicBezTo>
                <a:lnTo>
                  <a:pt x="209699" y="242069"/>
                </a:lnTo>
                <a:cubicBezTo>
                  <a:pt x="212154" y="233065"/>
                  <a:pt x="220563" y="226963"/>
                  <a:pt x="229939" y="227558"/>
                </a:cubicBezTo>
                <a:lnTo>
                  <a:pt x="261119" y="229567"/>
                </a:lnTo>
                <a:cubicBezTo>
                  <a:pt x="265807" y="223540"/>
                  <a:pt x="271239" y="217959"/>
                  <a:pt x="277416" y="213196"/>
                </a:cubicBezTo>
                <a:lnTo>
                  <a:pt x="275406" y="182091"/>
                </a:lnTo>
                <a:cubicBezTo>
                  <a:pt x="274811" y="172715"/>
                  <a:pt x="280913" y="164232"/>
                  <a:pt x="289917" y="161851"/>
                </a:cubicBezTo>
                <a:lnTo>
                  <a:pt x="309414" y="156642"/>
                </a:lnTo>
                <a:close/>
                <a:moveTo>
                  <a:pt x="333673" y="253008"/>
                </a:moveTo>
                <a:cubicBezTo>
                  <a:pt x="315602" y="253028"/>
                  <a:pt x="300947" y="267716"/>
                  <a:pt x="300968" y="285787"/>
                </a:cubicBezTo>
                <a:cubicBezTo>
                  <a:pt x="300988" y="303858"/>
                  <a:pt x="315676" y="318513"/>
                  <a:pt x="333747" y="318492"/>
                </a:cubicBezTo>
                <a:cubicBezTo>
                  <a:pt x="351818" y="318472"/>
                  <a:pt x="366473" y="303784"/>
                  <a:pt x="366452" y="285713"/>
                </a:cubicBezTo>
                <a:cubicBezTo>
                  <a:pt x="366432" y="267642"/>
                  <a:pt x="351744" y="252987"/>
                  <a:pt x="333673" y="253008"/>
                </a:cubicBezTo>
                <a:close/>
                <a:moveTo>
                  <a:pt x="167357" y="-33858"/>
                </a:moveTo>
                <a:lnTo>
                  <a:pt x="186854" y="-28649"/>
                </a:lnTo>
                <a:cubicBezTo>
                  <a:pt x="195858" y="-26194"/>
                  <a:pt x="201960" y="-17711"/>
                  <a:pt x="201364" y="-8409"/>
                </a:cubicBezTo>
                <a:lnTo>
                  <a:pt x="199355" y="22696"/>
                </a:lnTo>
                <a:cubicBezTo>
                  <a:pt x="205532" y="27459"/>
                  <a:pt x="210964" y="32965"/>
                  <a:pt x="215652" y="39067"/>
                </a:cubicBezTo>
                <a:lnTo>
                  <a:pt x="246906" y="37058"/>
                </a:lnTo>
                <a:cubicBezTo>
                  <a:pt x="256208" y="36463"/>
                  <a:pt x="264691" y="42565"/>
                  <a:pt x="267146" y="51569"/>
                </a:cubicBezTo>
                <a:lnTo>
                  <a:pt x="272355" y="71065"/>
                </a:lnTo>
                <a:cubicBezTo>
                  <a:pt x="274737" y="80070"/>
                  <a:pt x="270495" y="89595"/>
                  <a:pt x="262086" y="93762"/>
                </a:cubicBezTo>
                <a:lnTo>
                  <a:pt x="234032" y="107603"/>
                </a:lnTo>
                <a:cubicBezTo>
                  <a:pt x="233511" y="111398"/>
                  <a:pt x="232767" y="115193"/>
                  <a:pt x="231800" y="118914"/>
                </a:cubicBezTo>
                <a:cubicBezTo>
                  <a:pt x="230832" y="122634"/>
                  <a:pt x="229493" y="126355"/>
                  <a:pt x="228079" y="129853"/>
                </a:cubicBezTo>
                <a:lnTo>
                  <a:pt x="245418" y="155897"/>
                </a:lnTo>
                <a:cubicBezTo>
                  <a:pt x="250627" y="163711"/>
                  <a:pt x="249585" y="174054"/>
                  <a:pt x="242962" y="180677"/>
                </a:cubicBezTo>
                <a:lnTo>
                  <a:pt x="228674" y="194965"/>
                </a:lnTo>
                <a:cubicBezTo>
                  <a:pt x="222052" y="201588"/>
                  <a:pt x="211708" y="202629"/>
                  <a:pt x="203895" y="197421"/>
                </a:cubicBezTo>
                <a:lnTo>
                  <a:pt x="177850" y="180082"/>
                </a:lnTo>
                <a:cubicBezTo>
                  <a:pt x="170780" y="182984"/>
                  <a:pt x="163264" y="185068"/>
                  <a:pt x="155600" y="186110"/>
                </a:cubicBezTo>
                <a:lnTo>
                  <a:pt x="141759" y="214089"/>
                </a:lnTo>
                <a:cubicBezTo>
                  <a:pt x="137592" y="222498"/>
                  <a:pt x="128067" y="226740"/>
                  <a:pt x="119063" y="224358"/>
                </a:cubicBezTo>
                <a:lnTo>
                  <a:pt x="99566" y="219149"/>
                </a:lnTo>
                <a:cubicBezTo>
                  <a:pt x="90488" y="216694"/>
                  <a:pt x="84460" y="208211"/>
                  <a:pt x="85055" y="198909"/>
                </a:cubicBezTo>
                <a:lnTo>
                  <a:pt x="87064" y="167729"/>
                </a:lnTo>
                <a:cubicBezTo>
                  <a:pt x="80888" y="162967"/>
                  <a:pt x="75456" y="157460"/>
                  <a:pt x="70768" y="151358"/>
                </a:cubicBezTo>
                <a:lnTo>
                  <a:pt x="39514" y="153367"/>
                </a:lnTo>
                <a:cubicBezTo>
                  <a:pt x="30212" y="153963"/>
                  <a:pt x="21729" y="147861"/>
                  <a:pt x="19273" y="138857"/>
                </a:cubicBezTo>
                <a:lnTo>
                  <a:pt x="14064" y="119360"/>
                </a:lnTo>
                <a:cubicBezTo>
                  <a:pt x="11683" y="110356"/>
                  <a:pt x="15925" y="100831"/>
                  <a:pt x="24333" y="96664"/>
                </a:cubicBezTo>
                <a:lnTo>
                  <a:pt x="52388" y="82823"/>
                </a:lnTo>
                <a:cubicBezTo>
                  <a:pt x="52908" y="79028"/>
                  <a:pt x="53653" y="75307"/>
                  <a:pt x="54620" y="71512"/>
                </a:cubicBezTo>
                <a:cubicBezTo>
                  <a:pt x="55662" y="67717"/>
                  <a:pt x="56852" y="64071"/>
                  <a:pt x="58341" y="60573"/>
                </a:cubicBezTo>
                <a:lnTo>
                  <a:pt x="41002" y="34603"/>
                </a:lnTo>
                <a:cubicBezTo>
                  <a:pt x="35793" y="26789"/>
                  <a:pt x="36835" y="16446"/>
                  <a:pt x="43458" y="9823"/>
                </a:cubicBezTo>
                <a:lnTo>
                  <a:pt x="57745" y="-4465"/>
                </a:lnTo>
                <a:cubicBezTo>
                  <a:pt x="64368" y="-11088"/>
                  <a:pt x="74712" y="-12129"/>
                  <a:pt x="82525" y="-6921"/>
                </a:cubicBezTo>
                <a:lnTo>
                  <a:pt x="108570" y="10418"/>
                </a:lnTo>
                <a:cubicBezTo>
                  <a:pt x="115639" y="7516"/>
                  <a:pt x="123155" y="5432"/>
                  <a:pt x="130820" y="4390"/>
                </a:cubicBezTo>
                <a:lnTo>
                  <a:pt x="144661" y="-23589"/>
                </a:lnTo>
                <a:cubicBezTo>
                  <a:pt x="148828" y="-31998"/>
                  <a:pt x="158279" y="-36240"/>
                  <a:pt x="167357" y="-33858"/>
                </a:cubicBezTo>
                <a:close/>
                <a:moveTo>
                  <a:pt x="143173" y="62508"/>
                </a:moveTo>
                <a:cubicBezTo>
                  <a:pt x="125102" y="62508"/>
                  <a:pt x="110430" y="77179"/>
                  <a:pt x="110430" y="95250"/>
                </a:cubicBezTo>
                <a:cubicBezTo>
                  <a:pt x="110430" y="113321"/>
                  <a:pt x="125102" y="127992"/>
                  <a:pt x="143173" y="127992"/>
                </a:cubicBezTo>
                <a:cubicBezTo>
                  <a:pt x="161244" y="127992"/>
                  <a:pt x="175915" y="113321"/>
                  <a:pt x="175915" y="95250"/>
                </a:cubicBezTo>
                <a:cubicBezTo>
                  <a:pt x="175915" y="77179"/>
                  <a:pt x="161244" y="62508"/>
                  <a:pt x="143173" y="62508"/>
                </a:cubicBezTo>
                <a:close/>
              </a:path>
            </a:pathLst>
          </a:custGeom>
          <a:solidFill>
            <a:srgbClr val="8F5C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g3b04a6e45c8_0_37"/>
          <p:cNvSpPr/>
          <p:nvPr/>
        </p:nvSpPr>
        <p:spPr>
          <a:xfrm>
            <a:off x="7082100" y="2323342"/>
            <a:ext cx="304800" cy="304800"/>
          </a:xfrm>
          <a:custGeom>
            <a:rect b="b" l="l" r="r" t="t"/>
            <a:pathLst>
              <a:path extrusionOk="0" h="304800" w="304800">
                <a:moveTo>
                  <a:pt x="299204" y="165854"/>
                </a:moveTo>
                <a:cubicBezTo>
                  <a:pt x="306645" y="158413"/>
                  <a:pt x="306645" y="146328"/>
                  <a:pt x="299204" y="138886"/>
                </a:cubicBezTo>
                <a:lnTo>
                  <a:pt x="203954" y="43636"/>
                </a:lnTo>
                <a:cubicBezTo>
                  <a:pt x="196513" y="36195"/>
                  <a:pt x="184428" y="36195"/>
                  <a:pt x="176986" y="43636"/>
                </a:cubicBezTo>
                <a:cubicBezTo>
                  <a:pt x="169545" y="51078"/>
                  <a:pt x="169545" y="63163"/>
                  <a:pt x="176986" y="70604"/>
                </a:cubicBezTo>
                <a:lnTo>
                  <a:pt x="239732" y="133350"/>
                </a:lnTo>
                <a:lnTo>
                  <a:pt x="19050" y="133350"/>
                </a:lnTo>
                <a:cubicBezTo>
                  <a:pt x="8513" y="133350"/>
                  <a:pt x="0" y="141863"/>
                  <a:pt x="0" y="152400"/>
                </a:cubicBezTo>
                <a:cubicBezTo>
                  <a:pt x="0" y="162937"/>
                  <a:pt x="8513" y="171450"/>
                  <a:pt x="19050" y="171450"/>
                </a:cubicBezTo>
                <a:lnTo>
                  <a:pt x="239732" y="171450"/>
                </a:lnTo>
                <a:lnTo>
                  <a:pt x="176986" y="234196"/>
                </a:lnTo>
                <a:cubicBezTo>
                  <a:pt x="169545" y="241637"/>
                  <a:pt x="169545" y="253722"/>
                  <a:pt x="176986" y="261164"/>
                </a:cubicBezTo>
                <a:cubicBezTo>
                  <a:pt x="184428" y="268605"/>
                  <a:pt x="196513" y="268605"/>
                  <a:pt x="203954" y="261164"/>
                </a:cubicBezTo>
                <a:lnTo>
                  <a:pt x="299204" y="165914"/>
                </a:lnTo>
                <a:close/>
              </a:path>
            </a:pathLst>
          </a:custGeom>
          <a:solidFill>
            <a:srgbClr val="A95E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g3b04a6e45c8_0_37"/>
          <p:cNvSpPr/>
          <p:nvPr/>
        </p:nvSpPr>
        <p:spPr>
          <a:xfrm>
            <a:off x="8305225" y="1967750"/>
            <a:ext cx="1016000" cy="1016000"/>
          </a:xfrm>
          <a:custGeom>
            <a:rect b="b" l="l" r="r" t="t"/>
            <a:pathLst>
              <a:path extrusionOk="0" h="1016000" w="1016000">
                <a:moveTo>
                  <a:pt x="508000" y="0"/>
                </a:moveTo>
                <a:lnTo>
                  <a:pt x="508000" y="0"/>
                </a:lnTo>
                <a:cubicBezTo>
                  <a:pt x="788373" y="0"/>
                  <a:pt x="1016000" y="227627"/>
                  <a:pt x="1016000" y="508000"/>
                </a:cubicBezTo>
                <a:lnTo>
                  <a:pt x="1016000" y="508000"/>
                </a:lnTo>
                <a:cubicBezTo>
                  <a:pt x="1016000" y="788373"/>
                  <a:pt x="788373" y="1016000"/>
                  <a:pt x="508000" y="1016000"/>
                </a:cubicBezTo>
                <a:lnTo>
                  <a:pt x="508000" y="1016000"/>
                </a:lnTo>
                <a:cubicBezTo>
                  <a:pt x="227627" y="1016000"/>
                  <a:pt x="0" y="788373"/>
                  <a:pt x="0" y="508000"/>
                </a:cubicBezTo>
                <a:lnTo>
                  <a:pt x="0" y="508000"/>
                </a:lnTo>
                <a:cubicBezTo>
                  <a:pt x="0" y="227627"/>
                  <a:pt x="227627" y="0"/>
                  <a:pt x="508000" y="0"/>
                </a:cubicBezTo>
                <a:close/>
              </a:path>
            </a:pathLst>
          </a:custGeom>
          <a:solidFill>
            <a:srgbClr val="D3B9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g3b04a6e45c8_0_37"/>
          <p:cNvSpPr/>
          <p:nvPr/>
        </p:nvSpPr>
        <p:spPr>
          <a:xfrm>
            <a:off x="8622725" y="2285250"/>
            <a:ext cx="381000" cy="381000"/>
          </a:xfrm>
          <a:custGeom>
            <a:rect b="b" l="l" r="r" t="t"/>
            <a:pathLst>
              <a:path extrusionOk="0" h="381000" w="381000">
                <a:moveTo>
                  <a:pt x="190500" y="0"/>
                </a:moveTo>
                <a:cubicBezTo>
                  <a:pt x="193923" y="0"/>
                  <a:pt x="197346" y="744"/>
                  <a:pt x="200471" y="2158"/>
                </a:cubicBezTo>
                <a:lnTo>
                  <a:pt x="340668" y="61615"/>
                </a:lnTo>
                <a:cubicBezTo>
                  <a:pt x="357039" y="68535"/>
                  <a:pt x="369243" y="84683"/>
                  <a:pt x="369168" y="104180"/>
                </a:cubicBezTo>
                <a:cubicBezTo>
                  <a:pt x="368796" y="177998"/>
                  <a:pt x="338435" y="313060"/>
                  <a:pt x="210220" y="374452"/>
                </a:cubicBezTo>
                <a:cubicBezTo>
                  <a:pt x="197793" y="380405"/>
                  <a:pt x="183356" y="380405"/>
                  <a:pt x="170929" y="374452"/>
                </a:cubicBezTo>
                <a:cubicBezTo>
                  <a:pt x="42639" y="313060"/>
                  <a:pt x="12353" y="177998"/>
                  <a:pt x="11981" y="104180"/>
                </a:cubicBezTo>
                <a:cubicBezTo>
                  <a:pt x="11906" y="84683"/>
                  <a:pt x="24110" y="68535"/>
                  <a:pt x="40481" y="61615"/>
                </a:cubicBezTo>
                <a:lnTo>
                  <a:pt x="180603" y="2158"/>
                </a:lnTo>
                <a:cubicBezTo>
                  <a:pt x="183728" y="744"/>
                  <a:pt x="187077" y="0"/>
                  <a:pt x="190500" y="0"/>
                </a:cubicBezTo>
                <a:close/>
                <a:moveTo>
                  <a:pt x="190500" y="49709"/>
                </a:moveTo>
                <a:lnTo>
                  <a:pt x="190500" y="331068"/>
                </a:lnTo>
                <a:cubicBezTo>
                  <a:pt x="293191" y="281360"/>
                  <a:pt x="320799" y="171227"/>
                  <a:pt x="321469" y="105296"/>
                </a:cubicBezTo>
                <a:lnTo>
                  <a:pt x="190500" y="49783"/>
                </a:lnTo>
                <a:lnTo>
                  <a:pt x="190500" y="49783"/>
                </a:lnTo>
                <a:close/>
              </a:path>
            </a:pathLst>
          </a:custGeom>
          <a:solidFill>
            <a:srgbClr val="8F5C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g3b04a6e45c8_0_37"/>
          <p:cNvSpPr/>
          <p:nvPr/>
        </p:nvSpPr>
        <p:spPr>
          <a:xfrm>
            <a:off x="4931058" y="3216938"/>
            <a:ext cx="15495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lang="en-US" sz="1600">
                <a:solidFill>
                  <a:srgbClr val="3C3542"/>
                </a:solidFill>
              </a:rPr>
              <a:t>Robust </a:t>
            </a:r>
            <a:r>
              <a:rPr b="1" i="0" lang="en-US" sz="1600" u="none" cap="none" strike="noStrike">
                <a:solidFill>
                  <a:srgbClr val="3C3542"/>
                </a:solidFill>
                <a:latin typeface="Arial"/>
                <a:ea typeface="Arial"/>
                <a:cs typeface="Arial"/>
                <a:sym typeface="Arial"/>
              </a:rPr>
              <a:t> Model</a:t>
            </a:r>
            <a:endParaRPr b="0" i="0" sz="1600" u="none" cap="none" strike="noStrike"/>
          </a:p>
        </p:txBody>
      </p:sp>
      <p:sp>
        <p:nvSpPr>
          <p:cNvPr id="656" name="Google Shape;656;g3b04a6e45c8_0_37"/>
          <p:cNvSpPr/>
          <p:nvPr/>
        </p:nvSpPr>
        <p:spPr>
          <a:xfrm>
            <a:off x="7799478" y="3149975"/>
            <a:ext cx="2490000" cy="304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US" sz="1600" u="none" cap="none" strike="noStrike">
                <a:solidFill>
                  <a:srgbClr val="3C3542"/>
                </a:solidFill>
                <a:latin typeface="Arial"/>
                <a:ea typeface="Arial"/>
                <a:cs typeface="Arial"/>
                <a:sym typeface="Arial"/>
              </a:rPr>
              <a:t>Proven Generalization</a:t>
            </a:r>
            <a:endParaRPr b="0" i="0" sz="1600" u="none" cap="none" strike="noStrike"/>
          </a:p>
        </p:txBody>
      </p:sp>
      <p:sp>
        <p:nvSpPr>
          <p:cNvPr id="657" name="Google Shape;657;g3b04a6e45c8_0_37"/>
          <p:cNvSpPr/>
          <p:nvPr/>
        </p:nvSpPr>
        <p:spPr>
          <a:xfrm>
            <a:off x="292750" y="4817050"/>
            <a:ext cx="11041380" cy="707644"/>
          </a:xfrm>
          <a:custGeom>
            <a:rect b="b" l="l" r="r" t="t"/>
            <a:pathLst>
              <a:path extrusionOk="0" h="711200" w="11684000">
                <a:moveTo>
                  <a:pt x="101602" y="0"/>
                </a:moveTo>
                <a:lnTo>
                  <a:pt x="11582398" y="0"/>
                </a:lnTo>
                <a:cubicBezTo>
                  <a:pt x="11638511" y="0"/>
                  <a:pt x="11684000" y="45489"/>
                  <a:pt x="11684000" y="101602"/>
                </a:cubicBezTo>
                <a:lnTo>
                  <a:pt x="11684000" y="609598"/>
                </a:lnTo>
                <a:cubicBezTo>
                  <a:pt x="11684000" y="665711"/>
                  <a:pt x="11638511" y="711200"/>
                  <a:pt x="11582398" y="711200"/>
                </a:cubicBezTo>
                <a:lnTo>
                  <a:pt x="101602" y="711200"/>
                </a:lnTo>
                <a:cubicBezTo>
                  <a:pt x="45489" y="711200"/>
                  <a:pt x="0" y="665711"/>
                  <a:pt x="0" y="609598"/>
                </a:cubicBezTo>
                <a:lnTo>
                  <a:pt x="0" y="101602"/>
                </a:lnTo>
                <a:cubicBezTo>
                  <a:pt x="0" y="45526"/>
                  <a:pt x="45526" y="0"/>
                  <a:pt x="101602" y="0"/>
                </a:cubicBezTo>
                <a:close/>
              </a:path>
            </a:pathLst>
          </a:custGeom>
          <a:solidFill>
            <a:srgbClr val="8F5C9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g3b04a6e45c8_0_37"/>
          <p:cNvSpPr/>
          <p:nvPr/>
        </p:nvSpPr>
        <p:spPr>
          <a:xfrm>
            <a:off x="466075" y="5020250"/>
            <a:ext cx="107997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lang="en-US" sz="1600">
                <a:solidFill>
                  <a:srgbClr val="FFFFFF"/>
                </a:solidFill>
              </a:rPr>
              <a:t>We successfully integrated rigorous data curation and efficient modeling to create a scientifically validated  Targeted Virtual Screening engine for Drug Discovery.</a:t>
            </a:r>
            <a:endParaRPr b="0" i="0" sz="1600" u="none" cap="none" strike="noStrike"/>
          </a:p>
        </p:txBody>
      </p:sp>
      <p:sp>
        <p:nvSpPr>
          <p:cNvPr id="659" name="Google Shape;659;g3b04a6e45c8_0_37"/>
          <p:cNvSpPr/>
          <p:nvPr/>
        </p:nvSpPr>
        <p:spPr>
          <a:xfrm>
            <a:off x="4594588" y="3678288"/>
            <a:ext cx="2222400" cy="762000"/>
          </a:xfrm>
          <a:prstGeom prst="rect">
            <a:avLst/>
          </a:prstGeom>
          <a:noFill/>
          <a:ln>
            <a:noFill/>
          </a:ln>
        </p:spPr>
        <p:txBody>
          <a:bodyPr anchorCtr="0" anchor="ctr" bIns="0" lIns="0" spcFirstLastPara="1" rIns="0" wrap="square" tIns="0">
            <a:noAutofit/>
          </a:bodyPr>
          <a:lstStyle/>
          <a:p>
            <a:pPr indent="0" lvl="0" marL="0" rtl="0" algn="ctr">
              <a:lnSpc>
                <a:spcPct val="110000"/>
              </a:lnSpc>
              <a:spcBef>
                <a:spcPts val="0"/>
              </a:spcBef>
              <a:spcAft>
                <a:spcPts val="0"/>
              </a:spcAft>
              <a:buNone/>
            </a:pPr>
            <a:r>
              <a:rPr lang="en-US" sz="1200">
                <a:solidFill>
                  <a:srgbClr val="8F5C9A"/>
                </a:solidFill>
              </a:rPr>
              <a:t>Random Forest </a:t>
            </a:r>
            <a:r>
              <a:rPr lang="en-US" sz="1200"/>
              <a:t>(k=300) predicts AChE inhibition with </a:t>
            </a:r>
            <a:r>
              <a:rPr lang="en-US" sz="1200">
                <a:solidFill>
                  <a:srgbClr val="8F5B9A"/>
                </a:solidFill>
              </a:rPr>
              <a:t>&gt;90% accuracy,</a:t>
            </a:r>
            <a:r>
              <a:rPr lang="en-US" sz="1200"/>
              <a:t> scientifically validated.</a:t>
            </a:r>
            <a:endParaRPr sz="1200"/>
          </a:p>
          <a:p>
            <a:pPr indent="0" lvl="0" marL="0" marR="0" rtl="0" algn="ctr">
              <a:lnSpc>
                <a:spcPct val="110000"/>
              </a:lnSpc>
              <a:spcBef>
                <a:spcPts val="0"/>
              </a:spcBef>
              <a:spcAft>
                <a:spcPts val="0"/>
              </a:spcAft>
              <a:buNone/>
            </a:pPr>
            <a:r>
              <a:t/>
            </a:r>
            <a:endParaRPr sz="1200">
              <a:solidFill>
                <a:srgbClr val="3C3542"/>
              </a:solidFill>
            </a:endParaRPr>
          </a:p>
        </p:txBody>
      </p:sp>
      <p:sp>
        <p:nvSpPr>
          <p:cNvPr id="660" name="Google Shape;660;g3b04a6e45c8_0_37"/>
          <p:cNvSpPr/>
          <p:nvPr/>
        </p:nvSpPr>
        <p:spPr>
          <a:xfrm>
            <a:off x="7855475" y="3678300"/>
            <a:ext cx="2222400" cy="819300"/>
          </a:xfrm>
          <a:prstGeom prst="rect">
            <a:avLst/>
          </a:prstGeom>
          <a:noFill/>
          <a:ln>
            <a:noFill/>
          </a:ln>
        </p:spPr>
        <p:txBody>
          <a:bodyPr anchorCtr="0" anchor="ctr" bIns="0" lIns="0" spcFirstLastPara="1" rIns="0" wrap="square" tIns="0">
            <a:noAutofit/>
          </a:bodyPr>
          <a:lstStyle/>
          <a:p>
            <a:pPr indent="0" lvl="0" marL="0" rtl="0" algn="ctr">
              <a:lnSpc>
                <a:spcPct val="110000"/>
              </a:lnSpc>
              <a:spcBef>
                <a:spcPts val="0"/>
              </a:spcBef>
              <a:spcAft>
                <a:spcPts val="0"/>
              </a:spcAft>
              <a:buNone/>
            </a:pPr>
            <a:r>
              <a:rPr lang="en-US" sz="1200">
                <a:highlight>
                  <a:srgbClr val="D3B9D7"/>
                </a:highlight>
              </a:rPr>
              <a:t>Leakage safeguards</a:t>
            </a:r>
            <a:r>
              <a:rPr lang="en-US" sz="1200"/>
              <a:t> confirmed the identification of </a:t>
            </a:r>
            <a:r>
              <a:rPr lang="en-US" sz="1200">
                <a:solidFill>
                  <a:srgbClr val="8F5B9A"/>
                </a:solidFill>
              </a:rPr>
              <a:t>Demecarium </a:t>
            </a:r>
            <a:r>
              <a:rPr lang="en-US" sz="1200"/>
              <a:t>(new active) &amp; rejection of weak candidates</a:t>
            </a:r>
            <a:endParaRPr sz="1200"/>
          </a:p>
          <a:p>
            <a:pPr indent="0" lvl="0" marL="0" marR="0" rtl="0" algn="ctr">
              <a:lnSpc>
                <a:spcPct val="110000"/>
              </a:lnSpc>
              <a:spcBef>
                <a:spcPts val="0"/>
              </a:spcBef>
              <a:spcAft>
                <a:spcPts val="0"/>
              </a:spcAft>
              <a:buNone/>
            </a:pPr>
            <a:r>
              <a:t/>
            </a:r>
            <a:endParaRPr sz="1200">
              <a:solidFill>
                <a:srgbClr val="3C3542"/>
              </a:solidFill>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5" name="Shape 665"/>
        <p:cNvGrpSpPr/>
        <p:nvPr/>
      </p:nvGrpSpPr>
      <p:grpSpPr>
        <a:xfrm>
          <a:off x="0" y="0"/>
          <a:ext cx="0" cy="0"/>
          <a:chOff x="0" y="0"/>
          <a:chExt cx="0" cy="0"/>
        </a:xfrm>
      </p:grpSpPr>
      <p:sp>
        <p:nvSpPr>
          <p:cNvPr id="666" name="Google Shape;666;p20"/>
          <p:cNvSpPr/>
          <p:nvPr/>
        </p:nvSpPr>
        <p:spPr>
          <a:xfrm rot="5940000">
            <a:off x="367665" y="335915"/>
            <a:ext cx="558800" cy="594995"/>
          </a:xfrm>
          <a:prstGeom prst="donut">
            <a:avLst>
              <a:gd fmla="val 25000" name="adj"/>
            </a:avLst>
          </a:prstGeom>
          <a:gradFill>
            <a:gsLst>
              <a:gs pos="0">
                <a:srgbClr val="402E7F"/>
              </a:gs>
              <a:gs pos="54000">
                <a:srgbClr val="BC7DB7">
                  <a:alpha val="2745"/>
                </a:srgbClr>
              </a:gs>
              <a:gs pos="100000">
                <a:srgbClr val="BC7DB7">
                  <a:alpha val="2745"/>
                </a:srgbClr>
              </a:gs>
            </a:gsLst>
            <a:lin ang="189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0"/>
          <p:cNvSpPr/>
          <p:nvPr/>
        </p:nvSpPr>
        <p:spPr>
          <a:xfrm rot="5940000">
            <a:off x="367665" y="335915"/>
            <a:ext cx="558800" cy="594995"/>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68" name="Google Shape;668;p20"/>
          <p:cNvSpPr/>
          <p:nvPr/>
        </p:nvSpPr>
        <p:spPr>
          <a:xfrm>
            <a:off x="4445" y="0"/>
            <a:ext cx="12187555" cy="6875780"/>
          </a:xfrm>
          <a:prstGeom prst="rect">
            <a:avLst/>
          </a:prstGeom>
          <a:gradFill>
            <a:gsLst>
              <a:gs pos="0">
                <a:srgbClr val="D7B1D4"/>
              </a:gs>
              <a:gs pos="34000">
                <a:srgbClr val="BC7DB7"/>
              </a:gs>
              <a:gs pos="100000">
                <a:srgbClr val="30225F"/>
              </a:gs>
            </a:gsLst>
            <a:lin ang="135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0"/>
          <p:cNvSpPr/>
          <p:nvPr/>
        </p:nvSpPr>
        <p:spPr>
          <a:xfrm>
            <a:off x="4445" y="0"/>
            <a:ext cx="12187555" cy="68757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70" name="Google Shape;670;p20"/>
          <p:cNvSpPr/>
          <p:nvPr/>
        </p:nvSpPr>
        <p:spPr>
          <a:xfrm>
            <a:off x="85280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0"/>
          <p:cNvSpPr/>
          <p:nvPr/>
        </p:nvSpPr>
        <p:spPr>
          <a:xfrm>
            <a:off x="85280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72" name="Google Shape;672;p20"/>
          <p:cNvSpPr/>
          <p:nvPr/>
        </p:nvSpPr>
        <p:spPr>
          <a:xfrm>
            <a:off x="113665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0"/>
          <p:cNvSpPr/>
          <p:nvPr/>
        </p:nvSpPr>
        <p:spPr>
          <a:xfrm>
            <a:off x="113665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74" name="Google Shape;674;p20"/>
          <p:cNvSpPr/>
          <p:nvPr/>
        </p:nvSpPr>
        <p:spPr>
          <a:xfrm>
            <a:off x="142049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0"/>
          <p:cNvSpPr/>
          <p:nvPr/>
        </p:nvSpPr>
        <p:spPr>
          <a:xfrm>
            <a:off x="142049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76" name="Google Shape;676;p20"/>
          <p:cNvSpPr/>
          <p:nvPr/>
        </p:nvSpPr>
        <p:spPr>
          <a:xfrm>
            <a:off x="170434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0"/>
          <p:cNvSpPr/>
          <p:nvPr/>
        </p:nvSpPr>
        <p:spPr>
          <a:xfrm>
            <a:off x="170434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78" name="Google Shape;678;p20"/>
          <p:cNvSpPr/>
          <p:nvPr/>
        </p:nvSpPr>
        <p:spPr>
          <a:xfrm>
            <a:off x="1988185" y="469900"/>
            <a:ext cx="106680" cy="1066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0"/>
          <p:cNvSpPr/>
          <p:nvPr/>
        </p:nvSpPr>
        <p:spPr>
          <a:xfrm>
            <a:off x="1988185"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80" name="Google Shape;680;p20"/>
          <p:cNvSpPr/>
          <p:nvPr/>
        </p:nvSpPr>
        <p:spPr>
          <a:xfrm>
            <a:off x="2272030" y="469900"/>
            <a:ext cx="106680" cy="1066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0"/>
          <p:cNvSpPr/>
          <p:nvPr/>
        </p:nvSpPr>
        <p:spPr>
          <a:xfrm>
            <a:off x="2272030" y="469900"/>
            <a:ext cx="106680" cy="1066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82" name="Google Shape;682;p20"/>
          <p:cNvSpPr/>
          <p:nvPr/>
        </p:nvSpPr>
        <p:spPr>
          <a:xfrm>
            <a:off x="11456035" y="381635"/>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0"/>
          <p:cNvSpPr/>
          <p:nvPr/>
        </p:nvSpPr>
        <p:spPr>
          <a:xfrm>
            <a:off x="11456035" y="381635"/>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84" name="Google Shape;684;p20"/>
          <p:cNvSpPr/>
          <p:nvPr/>
        </p:nvSpPr>
        <p:spPr>
          <a:xfrm>
            <a:off x="11456035" y="501650"/>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0"/>
          <p:cNvSpPr/>
          <p:nvPr/>
        </p:nvSpPr>
        <p:spPr>
          <a:xfrm>
            <a:off x="11456035" y="501650"/>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86" name="Google Shape;686;p20"/>
          <p:cNvSpPr/>
          <p:nvPr/>
        </p:nvSpPr>
        <p:spPr>
          <a:xfrm>
            <a:off x="11456035" y="621665"/>
            <a:ext cx="351155" cy="43815"/>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0"/>
          <p:cNvSpPr/>
          <p:nvPr/>
        </p:nvSpPr>
        <p:spPr>
          <a:xfrm>
            <a:off x="11456035" y="621665"/>
            <a:ext cx="351155" cy="438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cxnSp>
        <p:nvCxnSpPr>
          <p:cNvPr id="688" name="Google Shape;688;p20"/>
          <p:cNvCxnSpPr/>
          <p:nvPr/>
        </p:nvCxnSpPr>
        <p:spPr>
          <a:xfrm>
            <a:off x="1727190" y="6306820"/>
            <a:ext cx="10080000" cy="0"/>
          </a:xfrm>
          <a:prstGeom prst="straightConnector1">
            <a:avLst/>
          </a:prstGeom>
          <a:noFill/>
          <a:ln cap="flat" cmpd="sng" w="19050">
            <a:solidFill>
              <a:srgbClr val="FFFFFF"/>
            </a:solidFill>
            <a:prstDash val="solid"/>
            <a:round/>
            <a:headEnd len="sm" w="sm" type="none"/>
            <a:tailEnd len="sm" w="sm" type="none"/>
          </a:ln>
        </p:spPr>
      </p:cxnSp>
      <p:sp>
        <p:nvSpPr>
          <p:cNvPr id="689" name="Google Shape;689;p20"/>
          <p:cNvSpPr/>
          <p:nvPr/>
        </p:nvSpPr>
        <p:spPr>
          <a:xfrm>
            <a:off x="852805" y="6177280"/>
            <a:ext cx="259080" cy="2590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0"/>
          <p:cNvSpPr/>
          <p:nvPr/>
        </p:nvSpPr>
        <p:spPr>
          <a:xfrm>
            <a:off x="852805" y="6177280"/>
            <a:ext cx="259080" cy="2590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91" name="Google Shape;691;p20"/>
          <p:cNvSpPr/>
          <p:nvPr/>
        </p:nvSpPr>
        <p:spPr>
          <a:xfrm>
            <a:off x="979805" y="6177280"/>
            <a:ext cx="259080" cy="25908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0"/>
          <p:cNvSpPr/>
          <p:nvPr/>
        </p:nvSpPr>
        <p:spPr>
          <a:xfrm>
            <a:off x="979805" y="6177280"/>
            <a:ext cx="259080" cy="2590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None/>
            </a:pPr>
            <a:r>
              <a:t/>
            </a:r>
            <a:endParaRPr b="0" i="0" sz="1600" u="none" cap="none" strike="noStrike"/>
          </a:p>
        </p:txBody>
      </p:sp>
      <p:sp>
        <p:nvSpPr>
          <p:cNvPr id="693" name="Google Shape;693;p20"/>
          <p:cNvSpPr/>
          <p:nvPr/>
        </p:nvSpPr>
        <p:spPr>
          <a:xfrm>
            <a:off x="1420500" y="2523175"/>
            <a:ext cx="9594900" cy="181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11500" u="none" cap="none" strike="noStrike">
                <a:solidFill>
                  <a:srgbClr val="FFFFFF"/>
                </a:solidFill>
                <a:latin typeface="Arial"/>
                <a:ea typeface="Arial"/>
                <a:cs typeface="Arial"/>
                <a:sym typeface="Arial"/>
              </a:rPr>
              <a:t>THANK YOU</a:t>
            </a:r>
            <a:endParaRPr b="0" i="0" sz="1600" u="none" cap="none" strike="noStrike"/>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Custom Theme">
  <a:themeElements>
    <a:clrScheme name="Custom">
      <a:dk1>
        <a:srgbClr val="1E1C0D"/>
      </a:dk1>
      <a:lt1>
        <a:srgbClr val="FFFFFF"/>
      </a:lt1>
      <a:dk2>
        <a:srgbClr val="DC62FA"/>
      </a:dk2>
      <a:lt2>
        <a:srgbClr val="E8DBCE"/>
      </a:lt2>
      <a:accent1>
        <a:srgbClr val="402E7F"/>
      </a:accent1>
      <a:accent2>
        <a:srgbClr val="BC7DB7"/>
      </a:accent2>
      <a:accent3>
        <a:srgbClr val="AF9DCD"/>
      </a:accent3>
      <a:accent4>
        <a:srgbClr val="FFFFFF"/>
      </a:accent4>
      <a:accent5>
        <a:srgbClr val="1E1C0D"/>
      </a:accent5>
      <a:accent6>
        <a:srgbClr val="00B0F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Custom">
      <a:dk1>
        <a:srgbClr val="1E1C0D"/>
      </a:dk1>
      <a:lt1>
        <a:srgbClr val="FFFFFF"/>
      </a:lt1>
      <a:dk2>
        <a:srgbClr val="DC62FA"/>
      </a:dk2>
      <a:lt2>
        <a:srgbClr val="E8DBCE"/>
      </a:lt2>
      <a:accent1>
        <a:srgbClr val="402E7F"/>
      </a:accent1>
      <a:accent2>
        <a:srgbClr val="BC7DB7"/>
      </a:accent2>
      <a:accent3>
        <a:srgbClr val="AF9DCD"/>
      </a:accent3>
      <a:accent4>
        <a:srgbClr val="FFFFFF"/>
      </a:accent4>
      <a:accent5>
        <a:srgbClr val="1E1C0D"/>
      </a:accent5>
      <a:accent6>
        <a:srgbClr val="00B0F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2025-12-11T14:02:37Z</dcterms:created>
  <dc:creator>Kimi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{"Label":"AI-Driven AChE Inhibitor Discovery","ContentProducer":"001191110108MACG2KBH8F10000","ProduceID":"d4slp176o68nf3el0k80","ReservedCode1":"","ContentPropagator":"001191110108MACG2KBH8F20000","PropagateID":"d4slp176o68nf3el0k80","ReservedCode2":""}</vt:lpwstr>
  </property>
</Properties>
</file>